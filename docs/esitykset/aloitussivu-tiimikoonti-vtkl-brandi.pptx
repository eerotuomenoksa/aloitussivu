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i-FI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Tarpeellisuus</c:v>
          </c:tx>
          <c:spPr>
            <a:solidFill>
              <a:srgbClr val="33006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FFFFFF"/>
                    </a:solidFill>
                  </a:defRPr>
                </a:pPr>
                <a:endParaRPr lang="fi-FI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Sää</c:v>
              </c:pt>
              <c:pt idx="1">
                <c:v>Internet-haku</c:v>
              </c:pt>
              <c:pt idx="2">
                <c:v>Huijausvaroit.</c:v>
              </c:pt>
              <c:pt idx="3">
                <c:v>Lähelläsi</c:v>
              </c:pt>
              <c:pt idx="4">
                <c:v>Tekoäly</c:v>
              </c:pt>
              <c:pt idx="5">
                <c:v>Kategoriahaku</c:v>
              </c:pt>
              <c:pt idx="6">
                <c:v>Paikallisuut.</c:v>
              </c:pt>
              <c:pt idx="7">
                <c:v>Nimipäivät</c:v>
              </c:pt>
              <c:pt idx="8">
                <c:v>Suosikit</c:v>
              </c:pt>
            </c:strLit>
          </c:cat>
          <c:val>
            <c:numLit>
              <c:formatCode>General</c:formatCode>
              <c:ptCount val="9"/>
              <c:pt idx="0">
                <c:v>5</c:v>
              </c:pt>
              <c:pt idx="1">
                <c:v>5</c:v>
              </c:pt>
              <c:pt idx="2">
                <c:v>5</c:v>
              </c:pt>
              <c:pt idx="3">
                <c:v>4</c:v>
              </c:pt>
              <c:pt idx="4">
                <c:v>4</c:v>
              </c:pt>
              <c:pt idx="5">
                <c:v>4</c:v>
              </c:pt>
              <c:pt idx="6">
                <c:v>3</c:v>
              </c:pt>
              <c:pt idx="7">
                <c:v>2</c:v>
              </c:pt>
              <c:pt idx="8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01-4F16-BF19-5CECFDA2E84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000000"/>
                </a:solidFill>
              </a:defRPr>
            </a:pPr>
            <a:endParaRPr lang="fi-FI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fi-FI"/>
          </a:p>
        </c:txPr>
        <c:crossAx val="48650112"/>
        <c:crosses val="autoZero"/>
        <c:crossBetween val="between"/>
        <c:majorUnit val="1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Avaa kertomalla, että esitys yhdistää julkaisupäätöksen ja ensimmäiset testisignaalit. Tavoite on sopia rajatusta ensimmäisestä julkaisusta sekä ylläpidon vastuista.</a:t>
            </a:r>
          </a:p>
          <a:p>
            <a:endParaRPr/>
          </a:p>
          <a:p>
            <a:r>
              <a:t>[Sources]</a:t>
            </a:r>
          </a:p>
          <a:p>
            <a:r>
              <a:t>- C:\dev\Aloitussivu\README.md</a:t>
            </a:r>
          </a:p>
          <a:p>
            <a:r>
              <a:t>- Käyttäjän julkausrajaus tässä tehtävässä, 12.8.2026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Korosta, ettei kyse ole uudesta hakukoneesta vaan kuratoidusta aloituspisteestä. Käyttäjä voi edetä selkeiden kategorioiden, paikallisten palvelujen tai internet-haun kautta.</a:t>
            </a:r>
          </a:p>
          <a:p>
            <a:endParaRPr/>
          </a:p>
          <a:p>
            <a:r>
              <a:t>[Sources]</a:t>
            </a:r>
          </a:p>
          <a:p>
            <a:r>
              <a:t>- C:\dev\Aloitussivu\README.md</a:t>
            </a:r>
          </a:p>
          <a:p>
            <a:r>
              <a:t>- C:\dev\Aloitussivu\docs\nykyarkkitehtuuri-asiantuntijakuvaus-2026-06-14.md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Tekoäly ja nimipäivät tulee piilottaa myös asetuksista, perehdytyksestä ja palvelukutsuista. Pelkkä painikkeen piilottaminen ei riitä, jos taustakutsu jää aktiiviseksi.</a:t>
            </a:r>
          </a:p>
          <a:p>
            <a:endParaRPr/>
          </a:p>
          <a:p>
            <a:r>
              <a:t>[Sources]</a:t>
            </a:r>
          </a:p>
          <a:p>
            <a:r>
              <a:t>- Käyttäjän julkausrajaus tässä tehtävässä, 12.8.2026</a:t>
            </a:r>
          </a:p>
          <a:p>
            <a:r>
              <a:t>- C:\dev\Aloitussivu\App.tsx</a:t>
            </a:r>
          </a:p>
          <a:p>
            <a:r>
              <a:t>- C:\dev\Aloitussivu\components\OnboardingTour.tsx</a:t>
            </a:r>
          </a:p>
          <a:p>
            <a:r>
              <a:t>- C:\dev\Aloitussivu\services\nameDayService.ts</a:t>
            </a:r>
          </a:p>
          <a:p>
            <a:r>
              <a:t>- C:\dev\Aloitussivu\services\geminiService.ts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Julkaisuportit kannattaa kirjata tarkistuslistaksi, jossa jokaisella kohdalla on omistaja ja hyväksyjä. SeniorSurf-alipolku poistaa oman DNS-päätöksen, mutta ei poista canonical-, reititys-, suojaus- tai selosteiden päivitystarvetta.</a:t>
            </a:r>
          </a:p>
          <a:p>
            <a:endParaRPr/>
          </a:p>
          <a:p>
            <a:r>
              <a:t>[Sources]</a:t>
            </a:r>
          </a:p>
          <a:p>
            <a:r>
              <a:t>- C:\dev\Aloitussivu\docs\julkaisun-paatoslista-2026-07-08.md</a:t>
            </a:r>
          </a:p>
          <a:p>
            <a:r>
              <a:t>- C:\dev\Aloitussivu\docs\elokuun-julkaisusuunnitelma.md</a:t>
            </a:r>
          </a:p>
          <a:p>
            <a:r>
              <a:t>- C:\dev\Aloitussivu\vite.config.ts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Ehdotettu rytmi: viikoittain tekninen tarkistus, kuukausittain poikkeamien hyväksyntä ja kvartaalittain laajempi saavutettavuus-, turvallisuus- ja varmistustarkistus. Kuukausiarvio ei sisällä suuria sisältöuudistuksia.</a:t>
            </a:r>
          </a:p>
          <a:p>
            <a:endParaRPr/>
          </a:p>
          <a:p>
            <a:r>
              <a:t>[Sources]</a:t>
            </a:r>
          </a:p>
          <a:p>
            <a:r>
              <a:t>- C:\dev\Aloitussivu\README.md</a:t>
            </a:r>
          </a:p>
          <a:p>
            <a:r>
              <a:t>- C:\dev\Aloitussivu\scripts\update-links.mjs</a:t>
            </a:r>
          </a:p>
          <a:p>
            <a:r>
              <a:t>- C:\dev\Aloitussivu\TODO_HUMAN.md</a:t>
            </a:r>
          </a:p>
          <a:p>
            <a:r>
              <a:t>- Arvio perustuu nykyisen linkkiskriptin tuottamiin poikkeamaraportteihin ja rajattuun julkaisuversioon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Nykyinen update-links.mjs tarkistaa jo URL-rakenteen, DNS:n, HTTP:n, uudelleenohjauksen, sisältösignaalin ja riskipisteet sekä tuottaa CSV-raportit ja piilotuslistan. Seuraava askel on ajastus, uusintalogiikka, muutoshistoria ja ilmoituskanava. Sähköpostin salaisuudet säilytetään palvelinpuolella. Suora selaintarkistus ei ole suositeltava CORS-, bottisuojaus- ja aikakatkaisuongelmien vuoksi.</a:t>
            </a:r>
          </a:p>
          <a:p>
            <a:endParaRPr/>
          </a:p>
          <a:p>
            <a:r>
              <a:t>[Sources]</a:t>
            </a:r>
          </a:p>
          <a:p>
            <a:r>
              <a:t>- C:\dev\Aloitussivu\scripts\update-links.mjs</a:t>
            </a:r>
          </a:p>
          <a:p>
            <a:r>
              <a:t>- C:\dev\Aloitussivu\README.md</a:t>
            </a:r>
          </a:p>
          <a:p>
            <a:r>
              <a:t>- C:\dev\Aloitussivu\TODO_HUMAN.md</a:t>
            </a:r>
          </a:p>
          <a:p>
            <a:r>
              <a:t>- C:\dev\Aloitussivu\.github\workflows\deploy.yml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AI-tunti tarkoittaa aktiivista agentti- tai automaatiotyötä; ihmistunti päätöksiä, tunnuksia, sisällön hyväksyntää ja käsin tehtävää testausta. Perusjulkaisun arvio: toimintojen piilotus 4–6 AI h / 1–2 ih h; alipolku ja julkaisutekniikka 6–10 / 3–5; sisältö-, saavutettavuus- ja laitetestit 8–12 / 5–8; ohjeet ja luovutus 6–8 / 3. Linkkiautomaatio lisää 10–16 AI h ja 3–6 ih h. Arvio ei sisällä SeniorSurf-palvelimen odotusaikaa tai laajaa sisällön uudelleenkirjoitusta.</a:t>
            </a:r>
          </a:p>
          <a:p>
            <a:endParaRPr/>
          </a:p>
          <a:p>
            <a:r>
              <a:t>[Sources]</a:t>
            </a:r>
          </a:p>
          <a:p>
            <a:r>
              <a:t>- C:\dev\Aloitussivu\docs\julkaisun-paatoslista-2026-07-08.md</a:t>
            </a:r>
          </a:p>
          <a:p>
            <a:r>
              <a:t>- C:\dev\Aloitussivu\docs\elokuun-julkaisusuunnitelma.md</a:t>
            </a:r>
          </a:p>
          <a:p>
            <a:r>
              <a:t>- C:\dev\Aloitussivu\TODO_HUMAN.md</a:t>
            </a:r>
          </a:p>
          <a:p>
            <a:r>
              <a:t>- Työmääräarvio nykyisen koodipohjan ja käyttäjän 12.8.2026 antaman rajauksen perusteella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Korosta, että vastausaste on 2/6 eli 33 %, joten havainnot ovat suuntaa-antavia.</a:t>
            </a:r>
          </a:p>
          <a:p>
            <a:endParaRPr/>
          </a:p>
          <a:p>
            <a:r>
              <a:t>[Sources]</a:t>
            </a:r>
          </a:p>
          <a:p>
            <a:r>
              <a:t>- User-provided testing status in this task, 2026-08-10.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Keskiarvot: hyödyllisyys (4+5)/2 = 4,5; helppokäyttöisyys (4+5)/2 = 4,5.</a:t>
            </a:r>
          </a:p>
          <a:p>
            <a:endParaRPr/>
          </a:p>
          <a:p>
            <a:r>
              <a:t>[Sources]</a:t>
            </a:r>
          </a:p>
          <a:p>
            <a:r>
              <a:t>- Internal test-feedback export, 2026-08-10 (n=2). Fields: usefulnessRating, easeRating, recommend, purposeClear, foundServices, deviceTypes.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Sitaatit on lyhennetty vain välimerkkien ja rivinvaihtojen osalta; merkitys on säilytetty.</a:t>
            </a:r>
          </a:p>
          <a:p>
            <a:endParaRPr/>
          </a:p>
          <a:p>
            <a:r>
              <a:t>[Sources]</a:t>
            </a:r>
          </a:p>
          <a:p>
            <a:r>
              <a:t>- Internal test-feedback export, 2026-08-10 (n=2). Open fields: firstImpression, mostImportantFix, bestThing, unclearCategory, searchedFor.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Kaavio säilyttää yhden testaajan alkuperäiset arviot. Tekoäly ja nimipäivät näkyvät siksi aineistossa, mutta tiimin julkaisurajaus ohittaa niiden priorisoinnin ensimmäisessä versiossa.</a:t>
            </a:r>
          </a:p>
          <a:p>
            <a:endParaRPr/>
          </a:p>
          <a:p>
            <a:r>
              <a:t>[Sources]</a:t>
            </a:r>
          </a:p>
          <a:p>
            <a:r>
              <a:t>- Internal test-feedback export, 2026-08-10; featureRatings n=1</a:t>
            </a:r>
          </a:p>
          <a:p>
            <a:r>
              <a:t>- Käyttäjän julkausrajaus tässä tehtävässä, 12.8.2026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Ehdotus tiimille: valmistellaan tiivistys, mutta vältetään laaja uudelleenjärjestely ennen lisävastauksia.</a:t>
            </a:r>
          </a:p>
          <a:p>
            <a:endParaRPr/>
          </a:p>
          <a:p>
            <a:r>
              <a:t>[Sources]</a:t>
            </a:r>
          </a:p>
          <a:p>
            <a:r>
              <a:t>- Internal test-feedback export, 2026-08-10 (n=2). Direct fix suggestion: condense excessive detail at the end of the page.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Pyydä tiimiltä kolme päätöstä: rajaus, omistajat ja tavoitepäivä. Palautekooste päivitetään, kun loput vastaajat ovat vastanneet, mutta rajatun julkaisun tekninen valmistelu voi alkaa heti.</a:t>
            </a:r>
          </a:p>
          <a:p>
            <a:endParaRPr/>
          </a:p>
          <a:p>
            <a:r>
              <a:t>[Sources]</a:t>
            </a:r>
          </a:p>
          <a:p>
            <a:r>
              <a:t>- Käyttäjän julkausrajaus tässä tehtävässä, 12.8.2026</a:t>
            </a:r>
          </a:p>
          <a:p>
            <a:r>
              <a:t>- C:\dev\Aloitussivu\docs\julkaisun-paatoslista-2026-07-08.md</a:t>
            </a:r>
          </a:p>
          <a:p>
            <a:r>
              <a:t>- Alkuperäisen esityksen päivitysmalli vastauksille 3–6</a:t>
            </a:r>
          </a:p>
          <a:p>
            <a:r>
              <a:t>[/Sources]</a:t>
            </a:r>
          </a:p>
          <a:p>
            <a:r>
              <a:t>
[Sources]
- Brändiohje_VTKL_2022.pdf, pages 5–13 and 19
- VTKL_ppt_pohja_2026.pptx
- Official VTKL logo asset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ver-eyebrow">
            <a:extLst>
              <a:ext uri="{FF2B5EF4-FFF2-40B4-BE49-F238E27FC236}">
                <a16:creationId xmlns:a16="http://schemas.microsoft.com/office/drawing/2014/main" id="{58E4EF97-B953-4EC3-87A1-07F9FEE8EF51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905500" cy="64912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4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ALOITUSSIVU · TIIMIKOONTI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198DE084-C060-4EFE-8F5E-699D5B8FB3A2}"/>
              </a:ext>
            </a:extLst>
          </p:cNvPr>
          <p:cNvSpPr>
            <a:spLocks noGrp="1"/>
          </p:cNvSpPr>
          <p:nvPr/>
        </p:nvSpPr>
        <p:spPr>
          <a:xfrm>
            <a:off x="393668" y="3035299"/>
            <a:ext cx="10096500" cy="1194943"/>
          </a:xfrm>
          <a:prstGeom prst="rect">
            <a:avLst/>
          </a:prstGeom>
        </p:spPr>
        <p:txBody>
          <a:bodyPr wrap="square" lIns="0" tIns="0" rIns="0" bIns="0" anchor="b">
            <a:normAutofit lnSpcReduction="10000"/>
          </a:bodyPr>
          <a:lstStyle/>
          <a:p>
            <a:r>
              <a:rPr sz="80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Aloitussivu</a:t>
            </a:r>
            <a:endParaRPr sz="80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C87CE297-7131-4A31-A1B8-0C7B830794E7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7620000" cy="108023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Julkaisuvalmius, ylläpitomalli ja ensimmäinen testauspalaute · 12.8.2026</a:t>
            </a:r>
          </a:p>
        </p:txBody>
      </p:sp>
      <p:pic>
        <p:nvPicPr>
          <p:cNvPr id="9" name="Kuva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86750" y="405854"/>
            <a:ext cx="3333750" cy="86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1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3">
            <a:extLst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Aloitussivu kokoaa arjen palvelut yhteen</a:t>
            </a:r>
          </a:p>
        </p:txBody>
      </p:sp>
      <p:sp>
        <p:nvSpPr>
          <p:cNvPr id="3" name="metrics-intro">
            <a:extLst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noGrp="1"/>
          </p:cNvSpPr>
          <p:nvPr/>
        </p:nvSpPr>
        <p:spPr>
          <a:xfrm>
            <a:off x="393668" y="1209675"/>
            <a:ext cx="11049000" cy="125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4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SeniorSurf-toimintaan rakennettu selkeä aloitusnäkymä ikääntyneille ja heidän tukijoilleen.</a:t>
            </a:r>
          </a:p>
          <a:p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Tavoite on vähentää etsimistä ja tarjota luotettava reitti yleisiin sekä oman alueen palveluihin.</a:t>
            </a:r>
          </a:p>
        </p:txBody>
      </p:sp>
      <p:sp>
        <p:nvSpPr>
          <p:cNvPr id="4" name="metric-panel-1">
            <a:extLst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metric-panel-2">
            <a:extLst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metric-panel-3">
            <a:extLst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metric-value-1">
            <a:extLst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8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1 paikka</a:t>
            </a:r>
          </a:p>
        </p:txBody>
      </p:sp>
      <p:sp>
        <p:nvSpPr>
          <p:cNvPr id="8" name="metric-label-1">
            <a:extLst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 fontScale="93494"/>
          </a:bodyPr>
          <a:lstStyle/>
          <a:p>
            <a:r>
              <a:rPr sz="28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Yleiset ja
paikalliset palvelut</a:t>
            </a:r>
          </a:p>
        </p:txBody>
      </p:sp>
      <p:sp>
        <p:nvSpPr>
          <p:cNvPr id="9" name="metric-value-2">
            <a:extLst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8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Selkeä</a:t>
            </a:r>
          </a:p>
        </p:txBody>
      </p:sp>
      <p:sp>
        <p:nvSpPr>
          <p:cNvPr id="10" name="metric-label-2">
            <a:extLst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noGrp="1"/>
          </p:cNvSpPr>
          <p:nvPr/>
        </p:nvSpPr>
        <p:spPr>
          <a:xfrm>
            <a:off x="4612958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 fontScale="95982"/>
          </a:bodyPr>
          <a:lstStyle/>
          <a:p>
            <a:r>
              <a:rPr sz="28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Suuret painikkeet
ja kategoriat</a:t>
            </a:r>
          </a:p>
        </p:txBody>
      </p:sp>
      <p:sp>
        <p:nvSpPr>
          <p:cNvPr id="11" name="metric-value-3">
            <a:extLst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8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Turva</a:t>
            </a:r>
          </a:p>
        </p:txBody>
      </p:sp>
      <p:sp>
        <p:nvSpPr>
          <p:cNvPr id="12" name="metric-label-3">
            <a:extLst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noGrp="1"/>
          </p:cNvSpPr>
          <p:nvPr/>
        </p:nvSpPr>
        <p:spPr>
          <a:xfrm>
            <a:off x="856240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2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Linkit ja
huijausvaroitukset</a:t>
            </a:r>
          </a:p>
        </p:txBody>
      </p:sp>
      <p:pic>
        <p:nvPicPr>
          <p:cNvPr id="27" name="Kuva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1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number-6">
            <a:extLst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 fontScale="77500" lnSpcReduction="20000"/>
          </a:bodyPr>
          <a:lstStyle/>
          <a:p>
            <a:r>
              <a:rPr lang="fi-FI" sz="4200" b="1" dirty="0">
                <a:solidFill>
                  <a:srgbClr val="330066"/>
                </a:solidFill>
                <a:latin typeface="Arial"/>
                <a:ea typeface="Arial"/>
                <a:cs typeface="Arial"/>
              </a:rPr>
              <a:t>Ehdotus:</a:t>
            </a:r>
            <a:r>
              <a:rPr sz="4200" b="1" dirty="0" err="1">
                <a:solidFill>
                  <a:srgbClr val="330066"/>
                </a:solidFill>
                <a:latin typeface="Arial"/>
                <a:ea typeface="Arial"/>
                <a:cs typeface="Arial"/>
              </a:rPr>
              <a:t>Ensimmäinen</a:t>
            </a:r>
            <a:r>
              <a:rPr sz="4200" b="1" dirty="0">
                <a:solidFill>
                  <a:srgbClr val="330066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330066"/>
                </a:solidFill>
                <a:latin typeface="Arial"/>
                <a:ea typeface="Arial"/>
                <a:cs typeface="Arial"/>
              </a:rPr>
              <a:t>julkaisu</a:t>
            </a:r>
            <a:r>
              <a:rPr sz="4200" b="1" dirty="0">
                <a:solidFill>
                  <a:srgbClr val="330066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330066"/>
                </a:solidFill>
                <a:latin typeface="Arial"/>
                <a:ea typeface="Arial"/>
                <a:cs typeface="Arial"/>
              </a:rPr>
              <a:t>rajataan</a:t>
            </a:r>
            <a:r>
              <a:rPr sz="4200" b="1" dirty="0">
                <a:solidFill>
                  <a:srgbClr val="330066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330066"/>
                </a:solidFill>
                <a:latin typeface="Arial"/>
                <a:ea typeface="Arial"/>
                <a:cs typeface="Arial"/>
              </a:rPr>
              <a:t>tarkoituksella</a:t>
            </a:r>
            <a:endParaRPr sz="4200" b="1" dirty="0">
              <a:solidFill>
                <a:srgbClr val="3300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ction-intro">
            <a:extLst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noGrp="1"/>
          </p:cNvSpPr>
          <p:nvPr/>
        </p:nvSpPr>
        <p:spPr>
          <a:xfrm>
            <a:off x="400907" y="1190625"/>
            <a:ext cx="110490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4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Julkaisupaikka on seniorsurf.fi/aloitussivu ilman omaa domainia.</a:t>
            </a:r>
          </a:p>
          <a:p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Rajaus vähentää ulkoisia riippuvuuksia ja nopeuttaa hyväksyttävän perusversion julkaisua.</a:t>
            </a:r>
          </a:p>
        </p:txBody>
      </p:sp>
      <p:sp>
        <p:nvSpPr>
          <p:cNvPr id="4" name="prepare-now-panel">
            <a:extLst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validate-first-panel">
            <a:extLst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prepare-now-title">
            <a:extLst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32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Julkaistaan nyt</a:t>
            </a:r>
          </a:p>
        </p:txBody>
      </p:sp>
      <p:sp>
        <p:nvSpPr>
          <p:cNvPr id="7" name="validate-first-title">
            <a:extLst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900" b="1" dirty="0" err="1">
                <a:solidFill>
                  <a:srgbClr val="F49638"/>
                </a:solidFill>
                <a:latin typeface="Arial"/>
                <a:ea typeface="Arial"/>
                <a:cs typeface="Arial"/>
              </a:rPr>
              <a:t>Siirretään</a:t>
            </a:r>
            <a:r>
              <a:rPr sz="2900" b="1" dirty="0">
                <a:solidFill>
                  <a:srgbClr val="F49638"/>
                </a:solidFill>
                <a:latin typeface="Arial"/>
                <a:ea typeface="Arial"/>
                <a:cs typeface="Arial"/>
              </a:rPr>
              <a:t> </a:t>
            </a:r>
            <a:r>
              <a:rPr sz="2900" b="1" dirty="0" err="1">
                <a:solidFill>
                  <a:srgbClr val="F49638"/>
                </a:solidFill>
                <a:latin typeface="Arial"/>
                <a:ea typeface="Arial"/>
                <a:cs typeface="Arial"/>
              </a:rPr>
              <a:t>myöhemmäksi</a:t>
            </a:r>
            <a:endParaRPr sz="2900" b="1" dirty="0">
              <a:solidFill>
                <a:srgbClr val="F496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repare-now-list">
            <a:extLst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1123950"/>
          </a:xfrm>
          <a:prstGeom prst="rect">
            <a:avLst/>
          </a:prstGeom>
        </p:spPr>
        <p:txBody>
          <a:bodyPr wrap="square" lIns="0" tIns="0" rIns="0" bIns="0" anchor="t">
            <a:normAutofit fontScale="97020"/>
          </a:bodyPr>
          <a:lstStyle/>
          <a:p>
            <a:r>
              <a:rPr sz="2100" b="0">
                <a:solidFill>
                  <a:srgbClr val="2F2F2F"/>
                </a:solidFill>
                <a:latin typeface="Arial"/>
                <a:ea typeface="Arial"/>
                <a:cs typeface="Arial"/>
              </a:rPr>
              <a:t>• linkit, kategoriat ja internet-haku
• paikalliset palvelut, sää ja huijausvaroitukset
• suosikit, kielet ja saavutettavuusasetukset</a:t>
            </a:r>
          </a:p>
        </p:txBody>
      </p:sp>
      <p:sp>
        <p:nvSpPr>
          <p:cNvPr id="9" name="validate-first-list">
            <a:extLst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1123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1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tekoälyavustaja ja uutistiivistykset
• nimipäivätoiminto ja sen rajapinta
• oma domain ja laajempi alustamigraatio</a:t>
            </a:r>
          </a:p>
        </p:txBody>
      </p:sp>
      <p:pic>
        <p:nvPicPr>
          <p:cNvPr id="21" name="Kuva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7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number-7">
            <a:extLst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0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Ennen julkaisua tarvitaan kolme hyväksyntää</a:t>
            </a:r>
          </a:p>
        </p:txBody>
      </p:sp>
      <p:cxnSp>
        <p:nvCxnSpPr>
          <p:cNvPr id="31" name="update-plan-line"/>
          <p:cNvCxnSpPr/>
          <p:nvPr/>
        </p:nvCxnSpPr>
        <p:spPr>
          <a:xfrm>
            <a:off x="337757" y="5341620"/>
            <a:ext cx="11458575" cy="286"/>
          </a:xfrm>
          <a:prstGeom prst="straightConnector1">
            <a:avLst/>
          </a:prstGeom>
          <a:ln w="9525">
            <a:solidFill>
              <a:srgbClr val="C9C9C9"/>
            </a:solidFill>
            <a:prstDash val="solid"/>
          </a:ln>
        </p:spPr>
      </p:cxnSp>
      <p:sp>
        <p:nvSpPr>
          <p:cNvPr id="4" name="update-card-1">
            <a:extLst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update-node-1">
            <a:extLst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noGrp="1"/>
          </p:cNvSpPr>
          <p:nvPr/>
        </p:nvSpPr>
        <p:spPr>
          <a:xfrm>
            <a:off x="337757" y="5270183"/>
            <a:ext cx="142875" cy="142875"/>
          </a:xfrm>
          <a:prstGeom prst="ellipse">
            <a:avLst/>
          </a:prstGeom>
          <a:solidFill>
            <a:srgbClr val="330066"/>
          </a:solidFill>
          <a:ln w="0">
            <a:solidFill>
              <a:srgbClr val="330066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update-card-2">
            <a:extLst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update-node-2">
            <a:extLst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noGrp="1"/>
          </p:cNvSpPr>
          <p:nvPr/>
        </p:nvSpPr>
        <p:spPr>
          <a:xfrm>
            <a:off x="4251770" y="5270183"/>
            <a:ext cx="142875" cy="142875"/>
          </a:xfrm>
          <a:prstGeom prst="ellipse">
            <a:avLst/>
          </a:prstGeom>
          <a:solidFill>
            <a:srgbClr val="4ABDC9"/>
          </a:solidFill>
          <a:ln w="0">
            <a:solidFill>
              <a:srgbClr val="4ABDC9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update-card-3">
            <a:extLst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update-node-3">
            <a:extLst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noGrp="1"/>
          </p:cNvSpPr>
          <p:nvPr/>
        </p:nvSpPr>
        <p:spPr>
          <a:xfrm>
            <a:off x="8176070" y="5270183"/>
            <a:ext cx="142875" cy="142875"/>
          </a:xfrm>
          <a:prstGeom prst="ellipse">
            <a:avLst/>
          </a:prstGeom>
          <a:solidFill>
            <a:srgbClr val="F49638"/>
          </a:solidFill>
          <a:ln w="0">
            <a:solidFill>
              <a:srgbClr val="F4963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update-card-copy-1">
            <a:extLst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noGrp="1"/>
          </p:cNvSpPr>
          <p:nvPr/>
        </p:nvSpPr>
        <p:spPr>
          <a:xfrm>
            <a:off x="703231" y="1806797"/>
            <a:ext cx="2949321" cy="2571750"/>
          </a:xfrm>
          <a:prstGeom prst="rect">
            <a:avLst/>
          </a:prstGeom>
        </p:spPr>
        <p:txBody>
          <a:bodyPr wrap="square" lIns="0" tIns="0" rIns="0" bIns="0" anchor="t">
            <a:normAutofit fontScale="96913"/>
          </a:bodyPr>
          <a:lstStyle/>
          <a:p>
            <a:r>
              <a:rPr sz="30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1. Julkaisusisältö</a:t>
            </a:r>
          </a:p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Piilota tekoäly ja nimipäivät kaikista näkymistä. Siivoa testi- ja ylläpitolinkit. Tarkista kategoriat ja tärkeimmät linkit.</a:t>
            </a:r>
          </a:p>
        </p:txBody>
      </p:sp>
      <p:sp>
        <p:nvSpPr>
          <p:cNvPr id="11" name="update-label-1">
            <a:extLst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noGrp="1"/>
          </p:cNvSpPr>
          <p:nvPr/>
        </p:nvSpPr>
        <p:spPr>
          <a:xfrm>
            <a:off x="393668" y="5602414"/>
            <a:ext cx="2595944" cy="39195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r>
              <a:rPr sz="2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SISÄLTÖ</a:t>
            </a:r>
          </a:p>
        </p:txBody>
      </p:sp>
      <p:sp>
        <p:nvSpPr>
          <p:cNvPr id="12" name="update-card-copy-2">
            <a:extLst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noGrp="1"/>
          </p:cNvSpPr>
          <p:nvPr/>
        </p:nvSpPr>
        <p:spPr>
          <a:xfrm>
            <a:off x="4618006" y="1806797"/>
            <a:ext cx="2949321" cy="2571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30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2. Tekninen julkaisu</a:t>
            </a:r>
          </a:p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Testaa /aloitussivu-polku, assetit, reitit, canonical, sitemap, analytiikka, suojausotsikot, välimuisti ja palautekanavat.</a:t>
            </a:r>
          </a:p>
        </p:txBody>
      </p:sp>
      <p:sp>
        <p:nvSpPr>
          <p:cNvPr id="13" name="update-label-2">
            <a:extLst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noGrp="1"/>
          </p:cNvSpPr>
          <p:nvPr/>
        </p:nvSpPr>
        <p:spPr>
          <a:xfrm>
            <a:off x="4308443" y="5602414"/>
            <a:ext cx="2595944" cy="39195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r>
              <a:rPr sz="22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TEKNIIKKA</a:t>
            </a:r>
          </a:p>
        </p:txBody>
      </p:sp>
      <p:sp>
        <p:nvSpPr>
          <p:cNvPr id="14" name="update-card-copy-3">
            <a:extLst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noGrp="1"/>
          </p:cNvSpPr>
          <p:nvPr/>
        </p:nvSpPr>
        <p:spPr>
          <a:xfrm>
            <a:off x="8547068" y="1806797"/>
            <a:ext cx="2949321" cy="2571750"/>
          </a:xfrm>
          <a:prstGeom prst="rect">
            <a:avLst/>
          </a:prstGeom>
        </p:spPr>
        <p:txBody>
          <a:bodyPr wrap="square" lIns="0" tIns="0" rIns="0" bIns="0" anchor="t">
            <a:normAutofit fontScale="98154"/>
          </a:bodyPr>
          <a:lstStyle/>
          <a:p>
            <a:r>
              <a:rPr sz="30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3. Hyväksyntä</a:t>
            </a:r>
          </a:p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Suorita mobiili-, näppäimistö-, ruudunlukija- ja selaintestit. Päivitä tietosuoja, saavutettavuus, yhteystiedot ja ylläpito-ohje.</a:t>
            </a:r>
          </a:p>
        </p:txBody>
      </p:sp>
      <p:sp>
        <p:nvSpPr>
          <p:cNvPr id="15" name="update-label-3">
            <a:extLst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noGrp="1"/>
          </p:cNvSpPr>
          <p:nvPr/>
        </p:nvSpPr>
        <p:spPr>
          <a:xfrm>
            <a:off x="8237506" y="5602414"/>
            <a:ext cx="2595944" cy="39195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r>
              <a:rPr sz="21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HYVÄKSYNTÄ</a:t>
            </a:r>
          </a:p>
        </p:txBody>
      </p:sp>
      <p:pic>
        <p:nvPicPr>
          <p:cNvPr id="44" name="Kuva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8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3">
            <a:extLst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200" b="1" dirty="0" err="1">
                <a:solidFill>
                  <a:srgbClr val="330066"/>
                </a:solidFill>
                <a:latin typeface="Arial"/>
                <a:ea typeface="Arial"/>
                <a:cs typeface="Arial"/>
              </a:rPr>
              <a:t>Kuukausihuolto</a:t>
            </a:r>
            <a:r>
              <a:rPr sz="4200" b="1" dirty="0">
                <a:solidFill>
                  <a:srgbClr val="330066"/>
                </a:solidFill>
                <a:latin typeface="Arial"/>
                <a:ea typeface="Arial"/>
                <a:cs typeface="Arial"/>
              </a:rPr>
              <a:t> vie 2–4 </a:t>
            </a:r>
            <a:r>
              <a:rPr sz="4200" b="1" dirty="0" err="1">
                <a:solidFill>
                  <a:srgbClr val="330066"/>
                </a:solidFill>
                <a:latin typeface="Arial"/>
                <a:ea typeface="Arial"/>
                <a:cs typeface="Arial"/>
              </a:rPr>
              <a:t>ihmistuntia</a:t>
            </a:r>
            <a:endParaRPr sz="4200" b="1" dirty="0">
              <a:solidFill>
                <a:srgbClr val="3300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etrics-intro">
            <a:extLst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noGrp="1"/>
          </p:cNvSpPr>
          <p:nvPr/>
        </p:nvSpPr>
        <p:spPr>
          <a:xfrm>
            <a:off x="393668" y="1209675"/>
            <a:ext cx="11049000" cy="125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4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Automaatio kerää poikkeamat, mutta ihminen päättää linkkien poistosta ja sisältömuutoksista.</a:t>
            </a:r>
          </a:p>
          <a:p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Selkeä rytmi vähentää ylläpidon kuormaa ja estää yksittäisten virheiden muuttumisen pitkäksi korjausjonoksi.</a:t>
            </a:r>
          </a:p>
        </p:txBody>
      </p:sp>
      <p:sp>
        <p:nvSpPr>
          <p:cNvPr id="4" name="metric-panel-1">
            <a:extLst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metric-panel-2">
            <a:extLst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metric-panel-3">
            <a:extLst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metric-value-1">
            <a:extLst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6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1× / vko</a:t>
            </a:r>
          </a:p>
        </p:txBody>
      </p:sp>
      <p:sp>
        <p:nvSpPr>
          <p:cNvPr id="8" name="metric-label-1">
            <a:extLst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 fontScale="95982"/>
          </a:bodyPr>
          <a:lstStyle/>
          <a:p>
            <a:r>
              <a:rPr sz="28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Viikoittainen
automaattiajo</a:t>
            </a:r>
          </a:p>
        </p:txBody>
      </p:sp>
      <p:sp>
        <p:nvSpPr>
          <p:cNvPr id="9" name="metric-value-2">
            <a:extLst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6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2–4 h</a:t>
            </a:r>
          </a:p>
        </p:txBody>
      </p:sp>
      <p:sp>
        <p:nvSpPr>
          <p:cNvPr id="10" name="metric-label-2">
            <a:extLst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noGrp="1"/>
          </p:cNvSpPr>
          <p:nvPr/>
        </p:nvSpPr>
        <p:spPr>
          <a:xfrm>
            <a:off x="4612958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8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Poikkeamat / kk</a:t>
            </a:r>
          </a:p>
        </p:txBody>
      </p:sp>
      <p:sp>
        <p:nvSpPr>
          <p:cNvPr id="11" name="metric-value-3">
            <a:extLst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6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3 kk</a:t>
            </a:r>
          </a:p>
        </p:txBody>
      </p:sp>
      <p:sp>
        <p:nvSpPr>
          <p:cNvPr id="12" name="metric-label-3">
            <a:extLst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noGrp="1"/>
          </p:cNvSpPr>
          <p:nvPr/>
        </p:nvSpPr>
        <p:spPr>
          <a:xfrm>
            <a:off x="856240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 fontScale="95982"/>
          </a:bodyPr>
          <a:lstStyle/>
          <a:p>
            <a:r>
              <a:rPr sz="28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Laajempi
laatutarkistus</a:t>
            </a:r>
          </a:p>
        </p:txBody>
      </p:sp>
      <p:pic>
        <p:nvPicPr>
          <p:cNvPr id="27" name="Kuva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1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number-2">
            <a:extLst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Linkkien tarkistus voidaan automatisoida</a:t>
            </a:r>
          </a:p>
        </p:txBody>
      </p:sp>
      <p:sp>
        <p:nvSpPr>
          <p:cNvPr id="3" name="status-subtitle">
            <a:extLst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noGrp="1"/>
          </p:cNvSpPr>
          <p:nvPr/>
        </p:nvSpPr>
        <p:spPr>
          <a:xfrm>
            <a:off x="393668" y="1190625"/>
            <a:ext cx="85725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Suositus: palvelin tarkistaa, selain hyväksyy poikkeamat.</a:t>
            </a:r>
          </a:p>
        </p:txBody>
      </p:sp>
      <p:cxnSp>
        <p:nvCxnSpPr>
          <p:cNvPr id="34" name="status-line"/>
          <p:cNvCxnSpPr/>
          <p:nvPr/>
        </p:nvCxnSpPr>
        <p:spPr>
          <a:xfrm>
            <a:off x="337757" y="3373755"/>
            <a:ext cx="11458575" cy="286"/>
          </a:xfrm>
          <a:prstGeom prst="straightConnector1">
            <a:avLst/>
          </a:prstGeom>
          <a:ln w="9525">
            <a:solidFill>
              <a:srgbClr val="C9C9C9"/>
            </a:solidFill>
            <a:prstDash val="solid"/>
          </a:ln>
        </p:spPr>
      </p:cxnSp>
      <p:sp>
        <p:nvSpPr>
          <p:cNvPr id="5" name="status-node-1">
            <a:extLst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noGrp="1"/>
          </p:cNvSpPr>
          <p:nvPr/>
        </p:nvSpPr>
        <p:spPr>
          <a:xfrm>
            <a:off x="337757" y="3303270"/>
            <a:ext cx="142875" cy="142875"/>
          </a:xfrm>
          <a:prstGeom prst="ellipse">
            <a:avLst/>
          </a:prstGeom>
          <a:solidFill>
            <a:srgbClr val="330066"/>
          </a:solidFill>
          <a:ln w="0">
            <a:solidFill>
              <a:srgbClr val="330066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status-node-2">
            <a:extLst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noGrp="1"/>
          </p:cNvSpPr>
          <p:nvPr/>
        </p:nvSpPr>
        <p:spPr>
          <a:xfrm>
            <a:off x="4251770" y="3303270"/>
            <a:ext cx="142875" cy="142875"/>
          </a:xfrm>
          <a:prstGeom prst="ellipse">
            <a:avLst/>
          </a:prstGeom>
          <a:solidFill>
            <a:srgbClr val="4ABDC9"/>
          </a:solidFill>
          <a:ln w="0">
            <a:solidFill>
              <a:srgbClr val="4ABDC9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status-node-3">
            <a:extLst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noGrp="1"/>
          </p:cNvSpPr>
          <p:nvPr/>
        </p:nvSpPr>
        <p:spPr>
          <a:xfrm>
            <a:off x="8176070" y="3303270"/>
            <a:ext cx="142875" cy="142875"/>
          </a:xfrm>
          <a:prstGeom prst="ellipse">
            <a:avLst/>
          </a:prstGeom>
          <a:solidFill>
            <a:srgbClr val="F49638"/>
          </a:solidFill>
          <a:ln w="0">
            <a:solidFill>
              <a:srgbClr val="F4963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status-label-1">
            <a:extLst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noGrp="1"/>
          </p:cNvSpPr>
          <p:nvPr/>
        </p:nvSpPr>
        <p:spPr>
          <a:xfrm>
            <a:off x="399859" y="2843308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AUTOMAATTIAJO</a:t>
            </a:r>
          </a:p>
        </p:txBody>
      </p:sp>
      <p:sp>
        <p:nvSpPr>
          <p:cNvPr id="9" name="status-copy-1">
            <a:extLst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619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GitHub Actions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Viikoittain muutokset, kuukausittain kaikki linkit. Epäonnistuminen uusitaan 2–3 kertaa.</a:t>
            </a:r>
          </a:p>
        </p:txBody>
      </p:sp>
      <p:sp>
        <p:nvSpPr>
          <p:cNvPr id="10" name="status-label-2">
            <a:extLst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noGrp="1"/>
          </p:cNvSpPr>
          <p:nvPr/>
        </p:nvSpPr>
        <p:spPr>
          <a:xfrm>
            <a:off x="4317111" y="2843308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KOONTIRAPORTTI</a:t>
            </a:r>
          </a:p>
        </p:txBody>
      </p:sp>
      <p:sp>
        <p:nvSpPr>
          <p:cNvPr id="11" name="status-copy-2">
            <a:extLst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619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Sähköposti + issue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CSV/HTML: vihreä, tarkista tai piilota. Koonti sähköpostiin ja GitHub-issueen.</a:t>
            </a:r>
          </a:p>
        </p:txBody>
      </p:sp>
      <p:sp>
        <p:nvSpPr>
          <p:cNvPr id="12" name="status-label-3">
            <a:extLst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noGrp="1"/>
          </p:cNvSpPr>
          <p:nvPr/>
        </p:nvSpPr>
        <p:spPr>
          <a:xfrm>
            <a:off x="8177879" y="2843308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IHMISEN PÄÄTÖS</a:t>
            </a:r>
          </a:p>
        </p:txBody>
      </p:sp>
      <p:sp>
        <p:nvSpPr>
          <p:cNvPr id="13" name="status-copy-3">
            <a:extLst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619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Selainhyväksyntä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Selain näyttää vain poikkeamat. Ylläpitäjä hyväksyy domain- ja sisältömuutokset.</a:t>
            </a:r>
          </a:p>
        </p:txBody>
      </p:sp>
      <p:pic>
        <p:nvPicPr>
          <p:cNvPr id="44" name="Kuva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2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3">
            <a:extLst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Julkaisu on realistinen 1–2 viikossa</a:t>
            </a:r>
          </a:p>
        </p:txBody>
      </p:sp>
      <p:sp>
        <p:nvSpPr>
          <p:cNvPr id="3" name="metrics-intro">
            <a:extLst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noGrp="1"/>
          </p:cNvSpPr>
          <p:nvPr/>
        </p:nvSpPr>
        <p:spPr>
          <a:xfrm>
            <a:off x="393668" y="1209675"/>
            <a:ext cx="11049000" cy="125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4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Perusjulkaisu: 24–36 tekoälytuntia ja 12–18 ihmistuntia.</a:t>
            </a:r>
          </a:p>
          <a:p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Linkkiautomaatio mukaan lukien: 34–52 AI-tuntia ja 15–24 ihmistuntia. Arvio edellyttää valmiita käyttöoikeuksia ja päätöksiä.</a:t>
            </a:r>
          </a:p>
        </p:txBody>
      </p:sp>
      <p:sp>
        <p:nvSpPr>
          <p:cNvPr id="4" name="metric-panel-1">
            <a:extLst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metric-panel-2">
            <a:extLst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metric-panel-3">
            <a:extLst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metric-value-1">
            <a:extLst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1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24–36 h</a:t>
            </a:r>
          </a:p>
        </p:txBody>
      </p:sp>
      <p:sp>
        <p:nvSpPr>
          <p:cNvPr id="8" name="metric-label-1">
            <a:extLst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AI:
perusjulkaisu</a:t>
            </a:r>
          </a:p>
        </p:txBody>
      </p:sp>
      <p:sp>
        <p:nvSpPr>
          <p:cNvPr id="9" name="metric-value-2">
            <a:extLst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1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12–18 h</a:t>
            </a:r>
          </a:p>
        </p:txBody>
      </p:sp>
      <p:sp>
        <p:nvSpPr>
          <p:cNvPr id="10" name="metric-label-2">
            <a:extLst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noGrp="1"/>
          </p:cNvSpPr>
          <p:nvPr/>
        </p:nvSpPr>
        <p:spPr>
          <a:xfrm>
            <a:off x="4612958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 fontScale="85739"/>
          </a:bodyPr>
          <a:lstStyle/>
          <a:p>
            <a:r>
              <a:rPr sz="24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Ihminen:
päätökset + hyväksyntä</a:t>
            </a:r>
          </a:p>
        </p:txBody>
      </p:sp>
      <p:sp>
        <p:nvSpPr>
          <p:cNvPr id="11" name="metric-value-3">
            <a:extLst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1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+10–16 h</a:t>
            </a:r>
          </a:p>
        </p:txBody>
      </p:sp>
      <p:sp>
        <p:nvSpPr>
          <p:cNvPr id="12" name="metric-label-3">
            <a:extLst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noGrp="1"/>
          </p:cNvSpPr>
          <p:nvPr/>
        </p:nvSpPr>
        <p:spPr>
          <a:xfrm>
            <a:off x="856240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Automaatio:
AI-lisätyö</a:t>
            </a:r>
          </a:p>
        </p:txBody>
      </p:sp>
      <p:pic>
        <p:nvPicPr>
          <p:cNvPr id="27" name="Kuva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1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number-2">
            <a:extLst>
              <a:ext uri="{FF2B5EF4-FFF2-40B4-BE49-F238E27FC236}">
                <a16:creationId xmlns:a16="http://schemas.microsoft.com/office/drawing/2014/main" id="{E8DD2094-D2A2-4588-B093-CE052EFBB6C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B7E68B6-DEEB-4762-BCED-390EF0711B6B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Kaksi vastausta näyttää suunnan</a:t>
            </a:r>
          </a:p>
        </p:txBody>
      </p:sp>
      <p:sp>
        <p:nvSpPr>
          <p:cNvPr id="3" name="status-subtitle">
            <a:extLst>
              <a:ext uri="{FF2B5EF4-FFF2-40B4-BE49-F238E27FC236}">
                <a16:creationId xmlns:a16="http://schemas.microsoft.com/office/drawing/2014/main" id="{D97F6392-8B69-4000-89BD-740E57B25764}"/>
              </a:ext>
            </a:extLst>
          </p:cNvPr>
          <p:cNvSpPr>
            <a:spLocks noGrp="1"/>
          </p:cNvSpPr>
          <p:nvPr/>
        </p:nvSpPr>
        <p:spPr>
          <a:xfrm>
            <a:off x="393668" y="1190625"/>
            <a:ext cx="8572500" cy="4000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Aineisto on vasta kolmasosa tavoitellusta kokonaisuudesta.</a:t>
            </a:r>
          </a:p>
        </p:txBody>
      </p:sp>
      <p:cxnSp>
        <p:nvCxnSpPr>
          <p:cNvPr id="34" name="status-line"/>
          <p:cNvCxnSpPr/>
          <p:nvPr/>
        </p:nvCxnSpPr>
        <p:spPr>
          <a:xfrm>
            <a:off x="337757" y="3373755"/>
            <a:ext cx="11458575" cy="286"/>
          </a:xfrm>
          <a:prstGeom prst="straightConnector1">
            <a:avLst/>
          </a:prstGeom>
          <a:ln w="9525">
            <a:solidFill>
              <a:srgbClr val="C9C9C9"/>
            </a:solidFill>
            <a:prstDash val="solid"/>
          </a:ln>
        </p:spPr>
      </p:cxnSp>
      <p:sp>
        <p:nvSpPr>
          <p:cNvPr id="5" name="status-node-1">
            <a:extLst>
              <a:ext uri="{FF2B5EF4-FFF2-40B4-BE49-F238E27FC236}">
                <a16:creationId xmlns:a16="http://schemas.microsoft.com/office/drawing/2014/main" id="{C072C16B-F657-4C91-A9D8-49ACC49B59A5}"/>
              </a:ext>
            </a:extLst>
          </p:cNvPr>
          <p:cNvSpPr>
            <a:spLocks noGrp="1"/>
          </p:cNvSpPr>
          <p:nvPr/>
        </p:nvSpPr>
        <p:spPr>
          <a:xfrm>
            <a:off x="337757" y="3303270"/>
            <a:ext cx="142875" cy="142875"/>
          </a:xfrm>
          <a:prstGeom prst="ellipse">
            <a:avLst/>
          </a:prstGeom>
          <a:solidFill>
            <a:srgbClr val="330066"/>
          </a:solidFill>
          <a:ln w="0">
            <a:solidFill>
              <a:srgbClr val="330066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status-node-2">
            <a:extLst>
              <a:ext uri="{FF2B5EF4-FFF2-40B4-BE49-F238E27FC236}">
                <a16:creationId xmlns:a16="http://schemas.microsoft.com/office/drawing/2014/main" id="{00B39FB1-913A-4DE8-BDF7-20007B37C1DB}"/>
              </a:ext>
            </a:extLst>
          </p:cNvPr>
          <p:cNvSpPr>
            <a:spLocks noGrp="1"/>
          </p:cNvSpPr>
          <p:nvPr/>
        </p:nvSpPr>
        <p:spPr>
          <a:xfrm>
            <a:off x="4251770" y="3303270"/>
            <a:ext cx="142875" cy="142875"/>
          </a:xfrm>
          <a:prstGeom prst="ellipse">
            <a:avLst/>
          </a:prstGeom>
          <a:solidFill>
            <a:srgbClr val="4ABDC9"/>
          </a:solidFill>
          <a:ln w="0">
            <a:solidFill>
              <a:srgbClr val="4ABDC9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status-node-3">
            <a:extLst>
              <a:ext uri="{FF2B5EF4-FFF2-40B4-BE49-F238E27FC236}">
                <a16:creationId xmlns:a16="http://schemas.microsoft.com/office/drawing/2014/main" id="{A4F3229A-037C-4B09-88DD-84E900C84C7A}"/>
              </a:ext>
            </a:extLst>
          </p:cNvPr>
          <p:cNvSpPr>
            <a:spLocks noGrp="1"/>
          </p:cNvSpPr>
          <p:nvPr/>
        </p:nvSpPr>
        <p:spPr>
          <a:xfrm>
            <a:off x="8176070" y="3303270"/>
            <a:ext cx="142875" cy="142875"/>
          </a:xfrm>
          <a:prstGeom prst="ellipse">
            <a:avLst/>
          </a:prstGeom>
          <a:solidFill>
            <a:srgbClr val="F49638"/>
          </a:solidFill>
          <a:ln w="0">
            <a:solidFill>
              <a:srgbClr val="F4963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status-label-1">
            <a:extLst>
              <a:ext uri="{FF2B5EF4-FFF2-40B4-BE49-F238E27FC236}">
                <a16:creationId xmlns:a16="http://schemas.microsoft.com/office/drawing/2014/main" id="{993F9080-22AC-4682-8F74-491309285C38}"/>
              </a:ext>
            </a:extLst>
          </p:cNvPr>
          <p:cNvSpPr>
            <a:spLocks noGrp="1"/>
          </p:cNvSpPr>
          <p:nvPr/>
        </p:nvSpPr>
        <p:spPr>
          <a:xfrm>
            <a:off x="399859" y="2843308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SAATU</a:t>
            </a:r>
          </a:p>
        </p:txBody>
      </p:sp>
      <p:sp>
        <p:nvSpPr>
          <p:cNvPr id="9" name="status-copy-1">
            <a:extLst>
              <a:ext uri="{FF2B5EF4-FFF2-40B4-BE49-F238E27FC236}">
                <a16:creationId xmlns:a16="http://schemas.microsoft.com/office/drawing/2014/main" id="{B04C4346-FE8A-4139-BC47-3A7E7449314C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619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6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2 vastausta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33 % kutsutuista. Koonti perustuu nyt kahteen puhelimella testanneeseen.</a:t>
            </a:r>
          </a:p>
        </p:txBody>
      </p:sp>
      <p:sp>
        <p:nvSpPr>
          <p:cNvPr id="10" name="status-label-2">
            <a:extLst>
              <a:ext uri="{FF2B5EF4-FFF2-40B4-BE49-F238E27FC236}">
                <a16:creationId xmlns:a16="http://schemas.microsoft.com/office/drawing/2014/main" id="{DBD6C5E3-24E1-47D8-B3B3-EC24F748E2C9}"/>
              </a:ext>
            </a:extLst>
          </p:cNvPr>
          <p:cNvSpPr>
            <a:spLocks noGrp="1"/>
          </p:cNvSpPr>
          <p:nvPr/>
        </p:nvSpPr>
        <p:spPr>
          <a:xfrm>
            <a:off x="4317111" y="2843308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LUVATTU TÄNÄÄN</a:t>
            </a:r>
          </a:p>
        </p:txBody>
      </p:sp>
      <p:sp>
        <p:nvSpPr>
          <p:cNvPr id="11" name="status-copy-2">
            <a:extLst>
              <a:ext uri="{FF2B5EF4-FFF2-40B4-BE49-F238E27FC236}">
                <a16:creationId xmlns:a16="http://schemas.microsoft.com/office/drawing/2014/main" id="{5D632647-9E73-423D-90A9-7880F60AC491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619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6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2 vastausta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Aineisto voi kaksinkertaistua päivän aikana. Päivitä luvut heti niiden saavuttua.</a:t>
            </a:r>
          </a:p>
        </p:txBody>
      </p:sp>
      <p:sp>
        <p:nvSpPr>
          <p:cNvPr id="12" name="status-label-3">
            <a:extLst>
              <a:ext uri="{FF2B5EF4-FFF2-40B4-BE49-F238E27FC236}">
                <a16:creationId xmlns:a16="http://schemas.microsoft.com/office/drawing/2014/main" id="{E59D173F-74EA-49AF-82AD-7BA8DFCA01D5}"/>
              </a:ext>
            </a:extLst>
          </p:cNvPr>
          <p:cNvSpPr>
            <a:spLocks noGrp="1"/>
          </p:cNvSpPr>
          <p:nvPr/>
        </p:nvSpPr>
        <p:spPr>
          <a:xfrm>
            <a:off x="8177879" y="2843308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8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VIELÄ AVOINNA</a:t>
            </a:r>
          </a:p>
        </p:txBody>
      </p:sp>
      <p:sp>
        <p:nvSpPr>
          <p:cNvPr id="13" name="status-copy-3">
            <a:extLst>
              <a:ext uri="{FF2B5EF4-FFF2-40B4-BE49-F238E27FC236}">
                <a16:creationId xmlns:a16="http://schemas.microsoft.com/office/drawing/2014/main" id="{72014431-E371-44C4-B100-43C1067F9302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619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6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2 vastausta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Lopulliset johtopäätökset tehdään vasta, kun kaikki kuusi ovat vastanneet.</a:t>
            </a:r>
          </a:p>
        </p:txBody>
      </p:sp>
      <p:pic>
        <p:nvPicPr>
          <p:cNvPr id="44" name="Kuva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22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3">
            <a:extLst>
              <a:ext uri="{FF2B5EF4-FFF2-40B4-BE49-F238E27FC236}">
                <a16:creationId xmlns:a16="http://schemas.microsoft.com/office/drawing/2014/main" id="{8478F87A-A325-4E52-9814-55C44A3696E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077ACD1-77A1-4BCA-84FA-109846F94FE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34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Ensimmäinen kokonaiskuva on vahvasti myönteinen</a:t>
            </a:r>
          </a:p>
        </p:txBody>
      </p:sp>
      <p:sp>
        <p:nvSpPr>
          <p:cNvPr id="3" name="metrics-intro">
            <a:extLst>
              <a:ext uri="{FF2B5EF4-FFF2-40B4-BE49-F238E27FC236}">
                <a16:creationId xmlns:a16="http://schemas.microsoft.com/office/drawing/2014/main" id="{C76966FB-0799-435E-B4F5-EDDD218079DC}"/>
              </a:ext>
            </a:extLst>
          </p:cNvPr>
          <p:cNvSpPr>
            <a:spLocks noGrp="1"/>
          </p:cNvSpPr>
          <p:nvPr/>
        </p:nvSpPr>
        <p:spPr>
          <a:xfrm>
            <a:off x="393668" y="1209675"/>
            <a:ext cx="11049000" cy="1257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3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Molemmat ymmärsivät sivun tarkoituksen, löysivät etsimänsä ja suosittelisivat sivua.</a:t>
            </a:r>
          </a:p>
          <a:p>
            <a:r>
              <a:rPr sz="21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Tulokset ovat alustavia (n=2) ja kuvaavat vain puhelimella testaamista.</a:t>
            </a:r>
          </a:p>
        </p:txBody>
      </p:sp>
      <p:sp>
        <p:nvSpPr>
          <p:cNvPr id="4" name="metric-panel-1">
            <a:extLst>
              <a:ext uri="{FF2B5EF4-FFF2-40B4-BE49-F238E27FC236}">
                <a16:creationId xmlns:a16="http://schemas.microsoft.com/office/drawing/2014/main" id="{E77067BF-6F90-4008-8913-B537330B0F42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metric-panel-2">
            <a:extLst>
              <a:ext uri="{FF2B5EF4-FFF2-40B4-BE49-F238E27FC236}">
                <a16:creationId xmlns:a16="http://schemas.microsoft.com/office/drawing/2014/main" id="{FC58567E-8DB0-4302-81CB-190037C0F7B9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metric-panel-3">
            <a:extLst>
              <a:ext uri="{FF2B5EF4-FFF2-40B4-BE49-F238E27FC236}">
                <a16:creationId xmlns:a16="http://schemas.microsoft.com/office/drawing/2014/main" id="{9A75304E-5F50-4252-A3C9-29A4A350829B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metric-value-1">
            <a:extLst>
              <a:ext uri="{FF2B5EF4-FFF2-40B4-BE49-F238E27FC236}">
                <a16:creationId xmlns:a16="http://schemas.microsoft.com/office/drawing/2014/main" id="{2AE61DD2-162A-481E-BA74-F24625E261C4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8" name="metric-label-1">
            <a:extLst>
              <a:ext uri="{FF2B5EF4-FFF2-40B4-BE49-F238E27FC236}">
                <a16:creationId xmlns:a16="http://schemas.microsoft.com/office/drawing/2014/main" id="{9FACCA40-052F-44C2-B459-56EBBA8940EE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8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Hyödyllisyys</a:t>
            </a:r>
          </a:p>
        </p:txBody>
      </p:sp>
      <p:sp>
        <p:nvSpPr>
          <p:cNvPr id="9" name="metric-value-2">
            <a:extLst>
              <a:ext uri="{FF2B5EF4-FFF2-40B4-BE49-F238E27FC236}">
                <a16:creationId xmlns:a16="http://schemas.microsoft.com/office/drawing/2014/main" id="{F3F007B0-CE7D-4202-B45B-6A3051D69CDF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2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4,5 / 5</a:t>
            </a:r>
          </a:p>
        </p:txBody>
      </p:sp>
      <p:sp>
        <p:nvSpPr>
          <p:cNvPr id="10" name="metric-label-2">
            <a:extLst>
              <a:ext uri="{FF2B5EF4-FFF2-40B4-BE49-F238E27FC236}">
                <a16:creationId xmlns:a16="http://schemas.microsoft.com/office/drawing/2014/main" id="{90964AF9-15C6-4624-87C7-8964055D667A}"/>
              </a:ext>
            </a:extLst>
          </p:cNvPr>
          <p:cNvSpPr>
            <a:spLocks noGrp="1"/>
          </p:cNvSpPr>
          <p:nvPr/>
        </p:nvSpPr>
        <p:spPr>
          <a:xfrm>
            <a:off x="4612958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3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Helppokäyttöisyys</a:t>
            </a:r>
          </a:p>
        </p:txBody>
      </p:sp>
      <p:sp>
        <p:nvSpPr>
          <p:cNvPr id="11" name="metric-value-3">
            <a:extLst>
              <a:ext uri="{FF2B5EF4-FFF2-40B4-BE49-F238E27FC236}">
                <a16:creationId xmlns:a16="http://schemas.microsoft.com/office/drawing/2014/main" id="{4651337A-06E1-448B-8E8D-5BBAC1EF4B29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3225" cy="1362075"/>
          </a:xfrm>
          <a:prstGeom prst="rect">
            <a:avLst/>
          </a:prstGeom>
        </p:spPr>
        <p:txBody>
          <a:bodyPr wrap="square" lIns="0" tIns="0" rIns="0" bIns="0" anchor="b">
            <a:normAutofit/>
          </a:bodyPr>
          <a:lstStyle/>
          <a:p>
            <a:r>
              <a:rPr sz="52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12" name="metric-label-3">
            <a:extLst>
              <a:ext uri="{FF2B5EF4-FFF2-40B4-BE49-F238E27FC236}">
                <a16:creationId xmlns:a16="http://schemas.microsoft.com/office/drawing/2014/main" id="{F1936D30-902E-478D-BD0E-FABB967DB779}"/>
              </a:ext>
            </a:extLst>
          </p:cNvPr>
          <p:cNvSpPr>
            <a:spLocks noGrp="1"/>
          </p:cNvSpPr>
          <p:nvPr/>
        </p:nvSpPr>
        <p:spPr>
          <a:xfrm>
            <a:off x="8562404" y="4900613"/>
            <a:ext cx="2952750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Suosittelisi sivua</a:t>
            </a:r>
          </a:p>
        </p:txBody>
      </p:sp>
      <p:pic>
        <p:nvPicPr>
          <p:cNvPr id="27" name="Kuva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1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number-4">
            <a:extLst>
              <a:ext uri="{FF2B5EF4-FFF2-40B4-BE49-F238E27FC236}">
                <a16:creationId xmlns:a16="http://schemas.microsoft.com/office/drawing/2014/main" id="{1AFFE87E-5C4D-4C70-9F77-FB9A09E680A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37ED7B2-3C3E-4089-9F1E-7BBEC237DAB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39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Palaute kiteytyy kahteen yhtä tärkeään viestiin</a:t>
            </a:r>
          </a:p>
        </p:txBody>
      </p:sp>
      <p:sp>
        <p:nvSpPr>
          <p:cNvPr id="3" name="voices-intro">
            <a:extLst>
              <a:ext uri="{FF2B5EF4-FFF2-40B4-BE49-F238E27FC236}">
                <a16:creationId xmlns:a16="http://schemas.microsoft.com/office/drawing/2014/main" id="{D6847629-95FA-4D84-8666-27D9E35442CD}"/>
              </a:ext>
            </a:extLst>
          </p:cNvPr>
          <p:cNvSpPr>
            <a:spLocks noGrp="1"/>
          </p:cNvSpPr>
          <p:nvPr/>
        </p:nvSpPr>
        <p:spPr>
          <a:xfrm>
            <a:off x="400907" y="1190625"/>
            <a:ext cx="110490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3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Alku toimii ja palvelut löytyvät.</a:t>
            </a:r>
          </a:p>
          <a:p>
            <a:r>
              <a:rPr sz="21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Samaan aikaan sivun loppu tarvitsee yhden vastaajan mukaan selkeämpää tiivistämistä.</a:t>
            </a:r>
          </a:p>
        </p:txBody>
      </p:sp>
      <p:sp>
        <p:nvSpPr>
          <p:cNvPr id="4" name="positive-voice-panel">
            <a:extLst>
              <a:ext uri="{FF2B5EF4-FFF2-40B4-BE49-F238E27FC236}">
                <a16:creationId xmlns:a16="http://schemas.microsoft.com/office/drawing/2014/main" id="{029933CE-BFE9-442A-AF56-C5F2FC4230B5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critical-voice-panel">
            <a:extLst>
              <a:ext uri="{FF2B5EF4-FFF2-40B4-BE49-F238E27FC236}">
                <a16:creationId xmlns:a16="http://schemas.microsoft.com/office/drawing/2014/main" id="{63E89CA3-045F-4611-824D-22C2CA3D1F34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positive-quote">
            <a:extLst>
              <a:ext uri="{FF2B5EF4-FFF2-40B4-BE49-F238E27FC236}">
                <a16:creationId xmlns:a16="http://schemas.microsoft.com/office/drawing/2014/main" id="{53F7192A-F6E8-4B84-A3D2-D871D76A3431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30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“Kaunis ja selkeä!”</a:t>
            </a:r>
          </a:p>
        </p:txBody>
      </p:sp>
      <p:sp>
        <p:nvSpPr>
          <p:cNvPr id="7" name="critical-quote">
            <a:extLst>
              <a:ext uri="{FF2B5EF4-FFF2-40B4-BE49-F238E27FC236}">
                <a16:creationId xmlns:a16="http://schemas.microsoft.com/office/drawing/2014/main" id="{F6B3D5EF-249B-40B5-BFBD-CCE6E44F3AF3}"/>
              </a:ext>
            </a:extLst>
          </p:cNvPr>
          <p:cNvSpPr>
            <a:spLocks noGrp="1"/>
          </p:cNvSpPr>
          <p:nvPr/>
        </p:nvSpPr>
        <p:spPr>
          <a:xfrm>
            <a:off x="6558058" y="3524250"/>
            <a:ext cx="4986909" cy="1009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5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“Alkuosa selkeä —
lopun voisi tiivistää.”</a:t>
            </a:r>
          </a:p>
        </p:txBody>
      </p:sp>
      <p:sp>
        <p:nvSpPr>
          <p:cNvPr id="8" name="positive-detail">
            <a:extLst>
              <a:ext uri="{FF2B5EF4-FFF2-40B4-BE49-F238E27FC236}">
                <a16:creationId xmlns:a16="http://schemas.microsoft.com/office/drawing/2014/main" id="{7EEFCB9A-3D4C-4108-8E82-A28FBA196A19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1066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Selkeys, rauhallisuus, hyödyllisyys ja ulkoasu saivat kiitosta. Myös vaihtoehtoiset reitit eri pääluokkien kautta koettiin hyväksi.</a:t>
            </a:r>
          </a:p>
        </p:txBody>
      </p:sp>
      <p:sp>
        <p:nvSpPr>
          <p:cNvPr id="9" name="critical-detail">
            <a:extLst>
              <a:ext uri="{FF2B5EF4-FFF2-40B4-BE49-F238E27FC236}">
                <a16:creationId xmlns:a16="http://schemas.microsoft.com/office/drawing/2014/main" id="{01F07760-3EE3-4234-A088-EBB33FB969F9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1066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Loppu koettiin liian yksityiskohtaiseksi. Kategoriat olivat tälle vastaajalle vain osittain selkeitä, vaikka haettu HSL löytyi.</a:t>
            </a:r>
          </a:p>
        </p:txBody>
      </p:sp>
      <p:pic>
        <p:nvPicPr>
          <p:cNvPr id="21" name="Kuva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41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number-5">
            <a:extLst>
              <a:ext uri="{FF2B5EF4-FFF2-40B4-BE49-F238E27FC236}">
                <a16:creationId xmlns:a16="http://schemas.microsoft.com/office/drawing/2014/main" id="{BF7692B2-97C0-4581-ABCD-A6350A21184F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3D5CF48-C8C8-48A2-94A0-7F58EE2F7C6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542925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38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Toimintojen arviot · n=1</a:t>
            </a:r>
          </a:p>
        </p:txBody>
      </p:sp>
      <p:sp>
        <p:nvSpPr>
          <p:cNvPr id="3" name="feature-card-1">
            <a:extLst>
              <a:ext uri="{FF2B5EF4-FFF2-40B4-BE49-F238E27FC236}">
                <a16:creationId xmlns:a16="http://schemas.microsoft.com/office/drawing/2014/main" id="{DC845994-7B87-4700-8EC5-48633F32FB8A}"/>
              </a:ext>
            </a:extLst>
          </p:cNvPr>
          <p:cNvSpPr>
            <a:spLocks noGrp="1"/>
          </p:cNvSpPr>
          <p:nvPr/>
        </p:nvSpPr>
        <p:spPr>
          <a:xfrm>
            <a:off x="6264402" y="393668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feature-card-copy-1">
            <a:extLst>
              <a:ext uri="{FF2B5EF4-FFF2-40B4-BE49-F238E27FC236}">
                <a16:creationId xmlns:a16="http://schemas.microsoft.com/office/drawing/2014/main" id="{140CAC18-B48C-4C8A-80EC-681D4CD31954}"/>
              </a:ext>
            </a:extLst>
          </p:cNvPr>
          <p:cNvSpPr>
            <a:spLocks noGrp="1"/>
          </p:cNvSpPr>
          <p:nvPr/>
        </p:nvSpPr>
        <p:spPr>
          <a:xfrm>
            <a:off x="6561677" y="688943"/>
            <a:ext cx="4986909" cy="104841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5/5 · Kolme toimintoa kärjessä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Sää, internet-haku ja huijausvaroitukset.</a:t>
            </a:r>
          </a:p>
        </p:txBody>
      </p:sp>
      <p:sp>
        <p:nvSpPr>
          <p:cNvPr id="5" name="feature-card-2">
            <a:extLst>
              <a:ext uri="{FF2B5EF4-FFF2-40B4-BE49-F238E27FC236}">
                <a16:creationId xmlns:a16="http://schemas.microsoft.com/office/drawing/2014/main" id="{0BD55868-94EC-43DC-BE5D-C6DE92A48665}"/>
              </a:ext>
            </a:extLst>
          </p:cNvPr>
          <p:cNvSpPr>
            <a:spLocks noGrp="1"/>
          </p:cNvSpPr>
          <p:nvPr/>
        </p:nvSpPr>
        <p:spPr>
          <a:xfrm>
            <a:off x="6264402" y="236982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feature-card-copy-2">
            <a:extLst>
              <a:ext uri="{FF2B5EF4-FFF2-40B4-BE49-F238E27FC236}">
                <a16:creationId xmlns:a16="http://schemas.microsoft.com/office/drawing/2014/main" id="{B4B5EA42-60CF-4DCF-B467-8638EFFFC1A2}"/>
              </a:ext>
            </a:extLst>
          </p:cNvPr>
          <p:cNvSpPr>
            <a:spLocks noGrp="1"/>
          </p:cNvSpPr>
          <p:nvPr/>
        </p:nvSpPr>
        <p:spPr>
          <a:xfrm>
            <a:off x="6561677" y="2665095"/>
            <a:ext cx="4986909" cy="104841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4/5 · Kaksi ydintoimintoa</a:t>
            </a:r>
          </a:p>
          <a:p>
            <a:r>
              <a:rPr sz="19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Lähelläsi ja kategoriahaku.</a:t>
            </a:r>
          </a:p>
        </p:txBody>
      </p:sp>
      <p:sp>
        <p:nvSpPr>
          <p:cNvPr id="7" name="feature-card-3">
            <a:extLst>
              <a:ext uri="{FF2B5EF4-FFF2-40B4-BE49-F238E27FC236}">
                <a16:creationId xmlns:a16="http://schemas.microsoft.com/office/drawing/2014/main" id="{62185A87-6E57-4912-A407-C44E5C14DBDB}"/>
              </a:ext>
            </a:extLst>
          </p:cNvPr>
          <p:cNvSpPr>
            <a:spLocks noGrp="1"/>
          </p:cNvSpPr>
          <p:nvPr/>
        </p:nvSpPr>
        <p:spPr>
          <a:xfrm>
            <a:off x="6264402" y="4381500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feature-card-copy-3">
            <a:extLst>
              <a:ext uri="{FF2B5EF4-FFF2-40B4-BE49-F238E27FC236}">
                <a16:creationId xmlns:a16="http://schemas.microsoft.com/office/drawing/2014/main" id="{B6A3DB9C-FEBF-469A-B1CB-8FF35C7B8A96}"/>
              </a:ext>
            </a:extLst>
          </p:cNvPr>
          <p:cNvSpPr>
            <a:spLocks noGrp="1"/>
          </p:cNvSpPr>
          <p:nvPr/>
        </p:nvSpPr>
        <p:spPr>
          <a:xfrm>
            <a:off x="6561677" y="4676775"/>
            <a:ext cx="4986909" cy="1048417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7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Rajattu pois julkaisusta</a:t>
            </a:r>
          </a:p>
          <a:p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Tekoäly ja nimipäivät siirtyvät jatkokehitykseen; arvioita ei käytetä julkaisuehtoina.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408718" y="1238250"/>
          <a:ext cx="5334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feature-chart-scale">
            <a:extLst>
              <a:ext uri="{FF2B5EF4-FFF2-40B4-BE49-F238E27FC236}">
                <a16:creationId xmlns:a16="http://schemas.microsoft.com/office/drawing/2014/main" id="{D526FB49-153C-42B0-839E-D8429369F49F}"/>
              </a:ext>
            </a:extLst>
          </p:cNvPr>
          <p:cNvSpPr>
            <a:spLocks noGrp="1"/>
          </p:cNvSpPr>
          <p:nvPr/>
        </p:nvSpPr>
        <p:spPr>
          <a:xfrm>
            <a:off x="408718" y="6076950"/>
            <a:ext cx="5334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16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Asteikko 1–5</a:t>
            </a:r>
          </a:p>
        </p:txBody>
      </p:sp>
      <p:pic>
        <p:nvPicPr>
          <p:cNvPr id="24" name="Kuva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5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number-6">
            <a:extLst>
              <a:ext uri="{FF2B5EF4-FFF2-40B4-BE49-F238E27FC236}">
                <a16:creationId xmlns:a16="http://schemas.microsoft.com/office/drawing/2014/main" id="{A00B9D3B-58AD-46E0-A6E5-8F692BB43B8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6D95C1D-1D9F-41AE-B764-58541CD3BC5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0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Yksi muutos kannattaa valmistella jo nyt</a:t>
            </a:r>
          </a:p>
        </p:txBody>
      </p:sp>
      <p:sp>
        <p:nvSpPr>
          <p:cNvPr id="3" name="action-intro">
            <a:extLst>
              <a:ext uri="{FF2B5EF4-FFF2-40B4-BE49-F238E27FC236}">
                <a16:creationId xmlns:a16="http://schemas.microsoft.com/office/drawing/2014/main" id="{66190B7B-7A4A-4243-A4EC-2DF54A5DD806}"/>
              </a:ext>
            </a:extLst>
          </p:cNvPr>
          <p:cNvSpPr>
            <a:spLocks noGrp="1"/>
          </p:cNvSpPr>
          <p:nvPr/>
        </p:nvSpPr>
        <p:spPr>
          <a:xfrm>
            <a:off x="400907" y="1190625"/>
            <a:ext cx="11049000" cy="1428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2300" b="1">
                <a:solidFill>
                  <a:srgbClr val="2F2F2F"/>
                </a:solidFill>
                <a:latin typeface="Arial"/>
                <a:ea typeface="Arial"/>
                <a:cs typeface="Arial"/>
              </a:rPr>
              <a:t>Loppuosan tiivistäminen on ainoa suora kehitysehdotus tässä aineistossa.</a:t>
            </a:r>
          </a:p>
          <a:p>
            <a:r>
              <a:rPr sz="21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Muut havainnot pidetään hypoteeseina, kunnes vastausmäärä kasvaa.</a:t>
            </a:r>
          </a:p>
        </p:txBody>
      </p:sp>
      <p:sp>
        <p:nvSpPr>
          <p:cNvPr id="4" name="prepare-now-panel">
            <a:extLst>
              <a:ext uri="{FF2B5EF4-FFF2-40B4-BE49-F238E27FC236}">
                <a16:creationId xmlns:a16="http://schemas.microsoft.com/office/drawing/2014/main" id="{CF85C291-75BA-4A3A-BC75-F6D2CF44BA50}"/>
              </a:ext>
            </a:extLst>
          </p:cNvPr>
          <p:cNvSpPr>
            <a:spLocks noGrp="1"/>
          </p:cNvSpPr>
          <p:nvPr/>
        </p:nvSpPr>
        <p:spPr>
          <a:xfrm>
            <a:off x="397002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validate-first-panel">
            <a:extLst>
              <a:ext uri="{FF2B5EF4-FFF2-40B4-BE49-F238E27FC236}">
                <a16:creationId xmlns:a16="http://schemas.microsoft.com/office/drawing/2014/main" id="{018BA431-0891-4F64-967F-35E9153DC52F}"/>
              </a:ext>
            </a:extLst>
          </p:cNvPr>
          <p:cNvSpPr>
            <a:spLocks noGrp="1"/>
          </p:cNvSpPr>
          <p:nvPr/>
        </p:nvSpPr>
        <p:spPr>
          <a:xfrm>
            <a:off x="6260783" y="3339084"/>
            <a:ext cx="5533930" cy="1320832"/>
          </a:xfrm>
          <a:prstGeom prst="roundRect">
            <a:avLst>
              <a:gd name="adj" fmla="val 5769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prepare-now-title">
            <a:extLst>
              <a:ext uri="{FF2B5EF4-FFF2-40B4-BE49-F238E27FC236}">
                <a16:creationId xmlns:a16="http://schemas.microsoft.com/office/drawing/2014/main" id="{5E19A4C6-6AE6-411C-ACF3-5CCCB426F2F4}"/>
              </a:ext>
            </a:extLst>
          </p:cNvPr>
          <p:cNvSpPr>
            <a:spLocks noGrp="1"/>
          </p:cNvSpPr>
          <p:nvPr/>
        </p:nvSpPr>
        <p:spPr>
          <a:xfrm>
            <a:off x="694277" y="3587972"/>
            <a:ext cx="4986909" cy="87782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31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Valmistele nyt</a:t>
            </a:r>
          </a:p>
        </p:txBody>
      </p:sp>
      <p:sp>
        <p:nvSpPr>
          <p:cNvPr id="7" name="validate-first-title">
            <a:extLst>
              <a:ext uri="{FF2B5EF4-FFF2-40B4-BE49-F238E27FC236}">
                <a16:creationId xmlns:a16="http://schemas.microsoft.com/office/drawing/2014/main" id="{99C2AC1F-16FF-4F5A-8169-292FE598FB19}"/>
              </a:ext>
            </a:extLst>
          </p:cNvPr>
          <p:cNvSpPr>
            <a:spLocks noGrp="1"/>
          </p:cNvSpPr>
          <p:nvPr/>
        </p:nvSpPr>
        <p:spPr>
          <a:xfrm>
            <a:off x="6558058" y="3587972"/>
            <a:ext cx="4986909" cy="87782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r>
              <a:rPr sz="31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Vahvista ensin</a:t>
            </a:r>
          </a:p>
        </p:txBody>
      </p:sp>
      <p:sp>
        <p:nvSpPr>
          <p:cNvPr id="8" name="prepare-now-list">
            <a:extLst>
              <a:ext uri="{FF2B5EF4-FFF2-40B4-BE49-F238E27FC236}">
                <a16:creationId xmlns:a16="http://schemas.microsoft.com/office/drawing/2014/main" id="{257E4F10-2C55-40F7-8B51-7EBEA1AA4DD0}"/>
              </a:ext>
            </a:extLst>
          </p:cNvPr>
          <p:cNvSpPr>
            <a:spLocks noGrp="1"/>
          </p:cNvSpPr>
          <p:nvPr/>
        </p:nvSpPr>
        <p:spPr>
          <a:xfrm>
            <a:off x="694277" y="4828604"/>
            <a:ext cx="5236655" cy="1123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000" b="0">
                <a:solidFill>
                  <a:srgbClr val="2F2F2F"/>
                </a:solidFill>
                <a:latin typeface="Arial"/>
                <a:ea typeface="Arial"/>
                <a:cs typeface="Arial"/>
              </a:rPr>
              <a:t>• tiivistä loppuosan yksityiskohtia
• tarkista kategorioiden nimet
• säilytä selkeä alku ja puhelinluettavuus</a:t>
            </a:r>
          </a:p>
        </p:txBody>
      </p:sp>
      <p:sp>
        <p:nvSpPr>
          <p:cNvPr id="9" name="validate-first-list">
            <a:extLst>
              <a:ext uri="{FF2B5EF4-FFF2-40B4-BE49-F238E27FC236}">
                <a16:creationId xmlns:a16="http://schemas.microsoft.com/office/drawing/2014/main" id="{3E5776EE-54BF-4346-9080-7A957A8142A4}"/>
              </a:ext>
            </a:extLst>
          </p:cNvPr>
          <p:cNvSpPr>
            <a:spLocks noGrp="1"/>
          </p:cNvSpPr>
          <p:nvPr/>
        </p:nvSpPr>
        <p:spPr>
          <a:xfrm>
            <a:off x="6558058" y="4828604"/>
            <a:ext cx="5236655" cy="1123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• ominaisuuksien prioriteetit
• paikallisuutisten hyöty
• suosikkien merkitys</a:t>
            </a:r>
          </a:p>
        </p:txBody>
      </p:sp>
      <p:pic>
        <p:nvPicPr>
          <p:cNvPr id="21" name="Kuva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7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number-7">
            <a:extLst>
              <a:ext uri="{FF2B5EF4-FFF2-40B4-BE49-F238E27FC236}">
                <a16:creationId xmlns:a16="http://schemas.microsoft.com/office/drawing/2014/main" id="{593EDC9C-D269-443F-82AE-9FCB6138F90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r>
              <a:rPr sz="16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1DDBFA-5BB7-46CC-9193-F151829C39A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819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r>
              <a:rPr sz="41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Tiimin päätös: rajattu julkaisu ensin</a:t>
            </a:r>
          </a:p>
        </p:txBody>
      </p:sp>
      <p:cxnSp>
        <p:nvCxnSpPr>
          <p:cNvPr id="31" name="update-plan-line"/>
          <p:cNvCxnSpPr/>
          <p:nvPr/>
        </p:nvCxnSpPr>
        <p:spPr>
          <a:xfrm>
            <a:off x="337757" y="5341620"/>
            <a:ext cx="11458575" cy="286"/>
          </a:xfrm>
          <a:prstGeom prst="straightConnector1">
            <a:avLst/>
          </a:prstGeom>
          <a:ln w="9525">
            <a:solidFill>
              <a:srgbClr val="C9C9C9"/>
            </a:solidFill>
            <a:prstDash val="solid"/>
          </a:ln>
        </p:spPr>
      </p:cxnSp>
      <p:sp>
        <p:nvSpPr>
          <p:cNvPr id="4" name="update-card-1">
            <a:extLst>
              <a:ext uri="{FF2B5EF4-FFF2-40B4-BE49-F238E27FC236}">
                <a16:creationId xmlns:a16="http://schemas.microsoft.com/office/drawing/2014/main" id="{7C3BC6CC-5318-4A70-896B-F5F1403B53E9}"/>
              </a:ext>
            </a:extLst>
          </p:cNvPr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0EAF7"/>
          </a:solidFill>
          <a:ln w="0">
            <a:solidFill>
              <a:srgbClr val="F0EAF7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update-node-1">
            <a:extLst>
              <a:ext uri="{FF2B5EF4-FFF2-40B4-BE49-F238E27FC236}">
                <a16:creationId xmlns:a16="http://schemas.microsoft.com/office/drawing/2014/main" id="{5EFDB1CB-02B8-48C7-9A01-30318D42E160}"/>
              </a:ext>
            </a:extLst>
          </p:cNvPr>
          <p:cNvSpPr>
            <a:spLocks noGrp="1"/>
          </p:cNvSpPr>
          <p:nvPr/>
        </p:nvSpPr>
        <p:spPr>
          <a:xfrm>
            <a:off x="337757" y="5270183"/>
            <a:ext cx="142875" cy="142875"/>
          </a:xfrm>
          <a:prstGeom prst="ellipse">
            <a:avLst/>
          </a:prstGeom>
          <a:solidFill>
            <a:srgbClr val="330066"/>
          </a:solidFill>
          <a:ln w="0">
            <a:solidFill>
              <a:srgbClr val="330066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update-card-2">
            <a:extLst>
              <a:ext uri="{FF2B5EF4-FFF2-40B4-BE49-F238E27FC236}">
                <a16:creationId xmlns:a16="http://schemas.microsoft.com/office/drawing/2014/main" id="{6716AAC9-1691-498D-9E89-CC208002929A}"/>
              </a:ext>
            </a:extLst>
          </p:cNvPr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E6F6F8"/>
          </a:solidFill>
          <a:ln w="0">
            <a:solidFill>
              <a:srgbClr val="E6F6F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update-node-2">
            <a:extLst>
              <a:ext uri="{FF2B5EF4-FFF2-40B4-BE49-F238E27FC236}">
                <a16:creationId xmlns:a16="http://schemas.microsoft.com/office/drawing/2014/main" id="{3AAFFC3D-9051-489A-83A5-DC991D5CD259}"/>
              </a:ext>
            </a:extLst>
          </p:cNvPr>
          <p:cNvSpPr>
            <a:spLocks noGrp="1"/>
          </p:cNvSpPr>
          <p:nvPr/>
        </p:nvSpPr>
        <p:spPr>
          <a:xfrm>
            <a:off x="4251770" y="5270183"/>
            <a:ext cx="142875" cy="142875"/>
          </a:xfrm>
          <a:prstGeom prst="ellipse">
            <a:avLst/>
          </a:prstGeom>
          <a:solidFill>
            <a:srgbClr val="4ABDC9"/>
          </a:solidFill>
          <a:ln w="0">
            <a:solidFill>
              <a:srgbClr val="4ABDC9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update-card-3">
            <a:extLst>
              <a:ext uri="{FF2B5EF4-FFF2-40B4-BE49-F238E27FC236}">
                <a16:creationId xmlns:a16="http://schemas.microsoft.com/office/drawing/2014/main" id="{470E6D43-BB4E-4A34-9B70-52F72C50DEC0}"/>
              </a:ext>
            </a:extLst>
          </p:cNvPr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FF0E3"/>
          </a:solidFill>
          <a:ln w="0">
            <a:solidFill>
              <a:srgbClr val="FFF0E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update-node-3">
            <a:extLst>
              <a:ext uri="{FF2B5EF4-FFF2-40B4-BE49-F238E27FC236}">
                <a16:creationId xmlns:a16="http://schemas.microsoft.com/office/drawing/2014/main" id="{8B1A9CBB-F072-4B82-B3A7-B7D2ACDFB3E2}"/>
              </a:ext>
            </a:extLst>
          </p:cNvPr>
          <p:cNvSpPr>
            <a:spLocks noGrp="1"/>
          </p:cNvSpPr>
          <p:nvPr/>
        </p:nvSpPr>
        <p:spPr>
          <a:xfrm>
            <a:off x="8176070" y="5270183"/>
            <a:ext cx="142875" cy="142875"/>
          </a:xfrm>
          <a:prstGeom prst="ellipse">
            <a:avLst/>
          </a:prstGeom>
          <a:solidFill>
            <a:srgbClr val="F49638"/>
          </a:solidFill>
          <a:ln w="0">
            <a:solidFill>
              <a:srgbClr val="F4963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update-card-copy-1">
            <a:extLst>
              <a:ext uri="{FF2B5EF4-FFF2-40B4-BE49-F238E27FC236}">
                <a16:creationId xmlns:a16="http://schemas.microsoft.com/office/drawing/2014/main" id="{66BC8357-90CC-4580-8780-0613661DDB62}"/>
              </a:ext>
            </a:extLst>
          </p:cNvPr>
          <p:cNvSpPr>
            <a:spLocks noGrp="1"/>
          </p:cNvSpPr>
          <p:nvPr/>
        </p:nvSpPr>
        <p:spPr>
          <a:xfrm>
            <a:off x="703231" y="1806797"/>
            <a:ext cx="2949321" cy="2571750"/>
          </a:xfrm>
          <a:prstGeom prst="rect">
            <a:avLst/>
          </a:prstGeom>
        </p:spPr>
        <p:txBody>
          <a:bodyPr wrap="square" lIns="0" tIns="0" rIns="0" bIns="0" anchor="t">
            <a:normAutofit fontScale="95365"/>
          </a:bodyPr>
          <a:lstStyle/>
          <a:p>
            <a:r>
              <a:rPr sz="29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1. Lukitkaa rajaus</a:t>
            </a:r>
          </a:p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Hyväksykää seniorsurf.fi/aloitussivu, ensimmäisen version sisältö sekä tekoälyn ja nimipäivien siirto jatkokehitykseen.</a:t>
            </a:r>
          </a:p>
        </p:txBody>
      </p:sp>
      <p:sp>
        <p:nvSpPr>
          <p:cNvPr id="11" name="update-label-1">
            <a:extLst>
              <a:ext uri="{FF2B5EF4-FFF2-40B4-BE49-F238E27FC236}">
                <a16:creationId xmlns:a16="http://schemas.microsoft.com/office/drawing/2014/main" id="{EF5676AD-AAE4-42F6-860A-ACFF41B7314B}"/>
              </a:ext>
            </a:extLst>
          </p:cNvPr>
          <p:cNvSpPr>
            <a:spLocks noGrp="1"/>
          </p:cNvSpPr>
          <p:nvPr/>
        </p:nvSpPr>
        <p:spPr>
          <a:xfrm>
            <a:off x="393668" y="5602414"/>
            <a:ext cx="2595944" cy="39195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r>
              <a:rPr sz="2200" b="1">
                <a:solidFill>
                  <a:srgbClr val="330066"/>
                </a:solidFill>
                <a:latin typeface="Arial"/>
                <a:ea typeface="Arial"/>
                <a:cs typeface="Arial"/>
              </a:rPr>
              <a:t>PÄÄTÖS</a:t>
            </a:r>
          </a:p>
        </p:txBody>
      </p:sp>
      <p:sp>
        <p:nvSpPr>
          <p:cNvPr id="12" name="update-card-copy-2">
            <a:extLst>
              <a:ext uri="{FF2B5EF4-FFF2-40B4-BE49-F238E27FC236}">
                <a16:creationId xmlns:a16="http://schemas.microsoft.com/office/drawing/2014/main" id="{A533398D-BB9B-4AB4-AD4E-58EA4999AF95}"/>
              </a:ext>
            </a:extLst>
          </p:cNvPr>
          <p:cNvSpPr>
            <a:spLocks noGrp="1"/>
          </p:cNvSpPr>
          <p:nvPr/>
        </p:nvSpPr>
        <p:spPr>
          <a:xfrm>
            <a:off x="4618006" y="1806797"/>
            <a:ext cx="2949321" cy="2571750"/>
          </a:xfrm>
          <a:prstGeom prst="rect">
            <a:avLst/>
          </a:prstGeom>
        </p:spPr>
        <p:txBody>
          <a:bodyPr wrap="square" lIns="0" tIns="0" rIns="0" bIns="0" anchor="t">
            <a:normAutofit fontScale="94803"/>
          </a:bodyPr>
          <a:lstStyle/>
          <a:p>
            <a:r>
              <a:rPr sz="29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2. Nimetkää omistajat</a:t>
            </a:r>
          </a:p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Sopikaa teknisen julkaisun, sisällön, saavutettavuuden, palautteen ja kuukausihuollon vastuuhenkilöt sekä hyväksyjät.</a:t>
            </a:r>
          </a:p>
        </p:txBody>
      </p:sp>
      <p:sp>
        <p:nvSpPr>
          <p:cNvPr id="13" name="update-label-2">
            <a:extLst>
              <a:ext uri="{FF2B5EF4-FFF2-40B4-BE49-F238E27FC236}">
                <a16:creationId xmlns:a16="http://schemas.microsoft.com/office/drawing/2014/main" id="{B5ECEFBB-BDED-4714-9E49-A1040F23E170}"/>
              </a:ext>
            </a:extLst>
          </p:cNvPr>
          <p:cNvSpPr>
            <a:spLocks noGrp="1"/>
          </p:cNvSpPr>
          <p:nvPr/>
        </p:nvSpPr>
        <p:spPr>
          <a:xfrm>
            <a:off x="4308443" y="5602414"/>
            <a:ext cx="2595944" cy="39195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r>
              <a:rPr sz="2200" b="1">
                <a:solidFill>
                  <a:srgbClr val="4ABDC9"/>
                </a:solidFill>
                <a:latin typeface="Arial"/>
                <a:ea typeface="Arial"/>
                <a:cs typeface="Arial"/>
              </a:rPr>
              <a:t>OMISTAJAT</a:t>
            </a:r>
          </a:p>
        </p:txBody>
      </p:sp>
      <p:sp>
        <p:nvSpPr>
          <p:cNvPr id="14" name="update-card-copy-3">
            <a:extLst>
              <a:ext uri="{FF2B5EF4-FFF2-40B4-BE49-F238E27FC236}">
                <a16:creationId xmlns:a16="http://schemas.microsoft.com/office/drawing/2014/main" id="{918FF766-6808-4F81-9304-CB68FC01719A}"/>
              </a:ext>
            </a:extLst>
          </p:cNvPr>
          <p:cNvSpPr>
            <a:spLocks noGrp="1"/>
          </p:cNvSpPr>
          <p:nvPr/>
        </p:nvSpPr>
        <p:spPr>
          <a:xfrm>
            <a:off x="8547068" y="1806797"/>
            <a:ext cx="2949321" cy="2571750"/>
          </a:xfrm>
          <a:prstGeom prst="rect">
            <a:avLst/>
          </a:prstGeom>
        </p:spPr>
        <p:txBody>
          <a:bodyPr wrap="square" lIns="0" tIns="0" rIns="0" bIns="0" anchor="t">
            <a:normAutofit fontScale="95631"/>
          </a:bodyPr>
          <a:lstStyle/>
          <a:p>
            <a:r>
              <a:rPr sz="29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3. Julkaiskaa hallitusti</a:t>
            </a:r>
          </a:p>
          <a:p>
            <a:r>
              <a:rPr sz="2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Ajakaa julkaisuportit, siirtäkää palvelu, seuratkaa ensimmäinen viikko ja täydentäkää palautediat vastauksilla 3–6.</a:t>
            </a:r>
          </a:p>
        </p:txBody>
      </p:sp>
      <p:sp>
        <p:nvSpPr>
          <p:cNvPr id="15" name="update-label-3">
            <a:extLst>
              <a:ext uri="{FF2B5EF4-FFF2-40B4-BE49-F238E27FC236}">
                <a16:creationId xmlns:a16="http://schemas.microsoft.com/office/drawing/2014/main" id="{7FFAD06C-5C0B-44D0-988C-44FC76CDC42D}"/>
              </a:ext>
            </a:extLst>
          </p:cNvPr>
          <p:cNvSpPr>
            <a:spLocks noGrp="1"/>
          </p:cNvSpPr>
          <p:nvPr/>
        </p:nvSpPr>
        <p:spPr>
          <a:xfrm>
            <a:off x="8237506" y="5602414"/>
            <a:ext cx="2595944" cy="391954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/>
          <a:p>
            <a:r>
              <a:rPr sz="2200" b="1">
                <a:solidFill>
                  <a:srgbClr val="F49638"/>
                </a:solidFill>
                <a:latin typeface="Arial"/>
                <a:ea typeface="Arial"/>
                <a:cs typeface="Arial"/>
              </a:rPr>
              <a:t>JULKAISU</a:t>
            </a:r>
          </a:p>
        </p:txBody>
      </p:sp>
      <p:pic>
        <p:nvPicPr>
          <p:cNvPr id="44" name="Kuva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6173316"/>
            <a:ext cx="2047875" cy="53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888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Vanhustyön keskusliitto">
      <a:dk1>
        <a:srgbClr val="000000"/>
      </a:dk1>
      <a:lt1>
        <a:srgbClr val="FFFFFF"/>
      </a:lt1>
      <a:dk2>
        <a:srgbClr val="2F2F2F"/>
      </a:dk2>
      <a:lt2>
        <a:srgbClr val="F2F2F2"/>
      </a:lt2>
      <a:accent1>
        <a:srgbClr val="330066"/>
      </a:accent1>
      <a:accent2>
        <a:srgbClr val="F49638"/>
      </a:accent2>
      <a:accent3>
        <a:srgbClr val="4ABDC9"/>
      </a:accent3>
      <a:accent4>
        <a:srgbClr val="C9C9C9"/>
      </a:accent4>
      <a:accent5>
        <a:srgbClr val="6D4A8E"/>
      </a:accent5>
      <a:accent6>
        <a:srgbClr val="7BCBD3"/>
      </a:accent6>
      <a:hlink>
        <a:srgbClr val="330066"/>
      </a:hlink>
      <a:folHlink>
        <a:srgbClr val="6D4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anhustyön keskusliitt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2061</Words>
  <Application>Microsoft Office PowerPoint</Application>
  <DocSecurity>0</DocSecurity>
  <PresentationFormat>Laajakuva</PresentationFormat>
  <Paragraphs>220</Paragraphs>
  <Slides>13</Slides>
  <Notes>13</Notes>
  <HiddenSlides>3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Eero Tuomenoksa</cp:lastModifiedBy>
  <cp:revision>1</cp:revision>
  <dcterms:created xsi:type="dcterms:W3CDTF">2026-08-12T05:42:40Z</dcterms:created>
  <dcterms:modified xsi:type="dcterms:W3CDTF">2026-08-12T06:08:21Z</dcterms:modified>
</cp:coreProperties>
</file>