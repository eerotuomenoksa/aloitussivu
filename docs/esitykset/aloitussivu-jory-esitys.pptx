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40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616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Aloitussivu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3946585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Jory-esittely: käyttötarkoitus, nykyiset ominaisuudet, julkaisun päätökset ja vuosittainen kustannus/SROI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514599"/>
            <a:ext cx="3118449" cy="1410419"/>
          </a:xfrm>
          <a:prstGeom prst="roundRect">
            <a:avLst>
              <a:gd name="adj" fmla="val 12308"/>
            </a:avLst>
          </a:prstGeom>
          <a:solidFill>
            <a:srgbClr val="F1F8F7"/>
          </a:solidFill>
          <a:ln w="1397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/>
          <p:nvPr/>
        </p:nvSpPr>
        <p:spPr>
          <a:xfrm>
            <a:off x="832104" y="2624328"/>
            <a:ext cx="2014613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Työnimi ja kehityssivusto - ei vielä julkaistu tuotantopalvelu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72200" y="60076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</a:rPr>
              <a:t>Kuvakaappaus nykyisestä kehityssivusta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Aloitussivu - kehityssivusto | 9.6.2026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pic>
        <p:nvPicPr>
          <p:cNvPr id="13" name="Kuva 12">
            <a:extLst>
              <a:ext uri="{FF2B5EF4-FFF2-40B4-BE49-F238E27FC236}">
                <a16:creationId xmlns:a16="http://schemas.microsoft.com/office/drawing/2014/main" id="{59BB3154-4D4D-0093-8D0C-61F1DA6CA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162" y="1115568"/>
            <a:ext cx="721975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KÄYTTÖTARKOITUS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6583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Yksi rauhallinen aloituspaikka arjen digiin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949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Sivu kokoaa tärkeät palvelut, paikalliset tiedot ja avun samaan näkymään.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/>
          <p:nvPr/>
        </p:nvSpPr>
        <p:spPr>
          <a:xfrm>
            <a:off x="850392" y="1920240"/>
            <a:ext cx="49377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Ikääntyneille ja digiopastukseen suunniteltu selainkotisivu.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52374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/>
          <p:nvPr/>
        </p:nvSpPr>
        <p:spPr>
          <a:xfrm>
            <a:off x="850392" y="2450592"/>
            <a:ext cx="49377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Vähentää tarvetta muistaa osoitteita tai etsiä oikeita palveluita Googlesta alusta asti.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05409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850392" y="2980944"/>
            <a:ext cx="49377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Korostaa paikallisuutta: kunta ohjaa palveluita, uutisia, varoituksia ja Kela-taksin numeroita.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58444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10"/>
          <p:cNvSpPr/>
          <p:nvPr/>
        </p:nvSpPr>
        <p:spPr>
          <a:xfrm>
            <a:off x="850392" y="3511296"/>
            <a:ext cx="49377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Tukee itsenäistä käyttöä isolla tekstillä, asetuksilla, puhehaulla ja lyhyellä esittelyllä.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960120"/>
            <a:ext cx="48920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blurRad="25400" dist="50800" dir="2700000" algn="bl" rotWithShape="0">
              <a:srgbClr val="AAB3C1">
                <a:alpha val="18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pic>
        <p:nvPicPr>
          <p:cNvPr id="14" name="Image 0" descr="C:\dev\Aloitussivu\outputs\manual-20260609-093245\presentations\jory-aloitussivu\assets\01-ohje-esittel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64808" y="1024128"/>
            <a:ext cx="4764024" cy="412394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0" y="5440680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F1F8F7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3"/>
          <p:cNvSpPr/>
          <p:nvPr/>
        </p:nvSpPr>
        <p:spPr>
          <a:xfrm>
            <a:off x="6547104" y="5550408"/>
            <a:ext cx="4599432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Käyttäjän näkökulma: avaan selaimen, näen oikean aloituspaikan ja saan apua ilman pitkää perehdytystä.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Aloitussivu - kehityssivusto | 9.6.2026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6583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Sivu opastaa itse oman käytön alkuun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949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Ohjeen kautta käynnistyvä esittely näyttää tärkeimmät kohdat yksi kerrallaan.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blurRad="25400" dist="50800" dir="2700000" algn="bl" rotWithShape="0">
              <a:srgbClr val="AAB3C1">
                <a:alpha val="18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7" name="Shape 4"/>
          <p:cNvSpPr/>
          <p:nvPr/>
        </p:nvSpPr>
        <p:spPr>
          <a:xfrm>
            <a:off x="6236208" y="1353312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blurRad="25400" dist="50800" dir="2700000" algn="bl" rotWithShape="0">
              <a:srgbClr val="AAB3C1">
                <a:alpha val="18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1" name="Text 7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Aloitussivu - kehityssivusto | 9.6.2026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pic>
        <p:nvPicPr>
          <p:cNvPr id="14" name="Kuva 13">
            <a:extLst>
              <a:ext uri="{FF2B5EF4-FFF2-40B4-BE49-F238E27FC236}">
                <a16:creationId xmlns:a16="http://schemas.microsoft.com/office/drawing/2014/main" id="{45A401B3-BA97-17DB-9A58-FB74B1F9D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83" y="1700784"/>
            <a:ext cx="5443878" cy="3182112"/>
          </a:xfrm>
          <a:prstGeom prst="rect">
            <a:avLst/>
          </a:prstGeom>
        </p:spPr>
      </p:pic>
      <p:pic>
        <p:nvPicPr>
          <p:cNvPr id="16" name="Kuva 15">
            <a:extLst>
              <a:ext uri="{FF2B5EF4-FFF2-40B4-BE49-F238E27FC236}">
                <a16:creationId xmlns:a16="http://schemas.microsoft.com/office/drawing/2014/main" id="{1038DFF2-C3C1-E146-0438-925408D62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275786"/>
            <a:ext cx="5838327" cy="42289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YLÄOSA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6583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Sivuston</a:t>
            </a: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toiminnallisuudet</a:t>
            </a: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pähkinäkuoressa</a:t>
            </a:r>
            <a:endParaRPr lang="en-US" sz="2500" dirty="0"/>
          </a:p>
        </p:txBody>
      </p:sp>
      <p:sp>
        <p:nvSpPr>
          <p:cNvPr id="17" name="Text 12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Aloitussivu - kehityssivusto | 9.6.2026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kstiruutu 19">
            <a:extLst>
              <a:ext uri="{FF2B5EF4-FFF2-40B4-BE49-F238E27FC236}">
                <a16:creationId xmlns:a16="http://schemas.microsoft.com/office/drawing/2014/main" id="{5984FF09-1E59-2950-5120-888BBDA4AC11}"/>
              </a:ext>
            </a:extLst>
          </p:cNvPr>
          <p:cNvSpPr txBox="1"/>
          <p:nvPr/>
        </p:nvSpPr>
        <p:spPr>
          <a:xfrm>
            <a:off x="733245" y="1716657"/>
            <a:ext cx="793486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3160 Linkkiä, joista yleisiin palveluihin on 809 ja alueellisiin 2351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88 puhelinnumeroa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Linkkien lisääminen suosikkeihin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Linkkien ehdotus ja väärien poistaminen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Päivän sää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Kahden aika vyöhykkeen kello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Ai-avustaja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Google-haku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Ääni ohjaus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Huijausvaroitukset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Paikalliset uutiset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Käyttöliittymä 8 eri kielellä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Ominaisuuksien personointi (näkyvissä, ei näkyvissä). Värimaailman valinta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PAIKALLISUUS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6583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Kunta nostaa esiin oikeat arjen palvelut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7150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blurRad="25400" dist="50800" dir="2700000" algn="bl" rotWithShape="0">
              <a:srgbClr val="AAB3C1">
                <a:alpha val="18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7" name="Shape 4"/>
          <p:cNvSpPr/>
          <p:nvPr/>
        </p:nvSpPr>
        <p:spPr>
          <a:xfrm>
            <a:off x="6903720" y="158191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5"/>
          <p:cNvSpPr/>
          <p:nvPr/>
        </p:nvSpPr>
        <p:spPr>
          <a:xfrm>
            <a:off x="7068312" y="1508760"/>
            <a:ext cx="42976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Paikalliset ja alueelliset palvelut samassa paikassa.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903720" y="211226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7"/>
          <p:cNvSpPr/>
          <p:nvPr/>
        </p:nvSpPr>
        <p:spPr>
          <a:xfrm>
            <a:off x="7068312" y="2039112"/>
            <a:ext cx="42976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Kela-taksien tilausnumerot näkyvät kunnan mukaan.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903720" y="264261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9"/>
          <p:cNvSpPr/>
          <p:nvPr/>
        </p:nvSpPr>
        <p:spPr>
          <a:xfrm>
            <a:off x="7068312" y="2569464"/>
            <a:ext cx="42976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Puhelinnumerot ovat haettavissa myös palveluhaun kautta.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6903720" y="317296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4" name="Text 11"/>
          <p:cNvSpPr/>
          <p:nvPr/>
        </p:nvSpPr>
        <p:spPr>
          <a:xfrm>
            <a:off x="7068312" y="3099816"/>
            <a:ext cx="42976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Huijausvaroitukset ja paikalliset uutiset tukevat ajankohtaista arjen turvallisuutta.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903720" y="466344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F1F8F7"/>
          </a:solidFill>
          <a:ln w="1397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3"/>
          <p:cNvSpPr/>
          <p:nvPr/>
        </p:nvSpPr>
        <p:spPr>
          <a:xfrm>
            <a:off x="7050024" y="4773168"/>
            <a:ext cx="400507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Hyöty käyttäjälle: ei tarvitse avata Kelan PDF-listaa ja etsiä oikeaa aluetta itse.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Aloitussivu - kehityssivusto | 9.6.2026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pic>
        <p:nvPicPr>
          <p:cNvPr id="20" name="Kuva 19">
            <a:extLst>
              <a:ext uri="{FF2B5EF4-FFF2-40B4-BE49-F238E27FC236}">
                <a16:creationId xmlns:a16="http://schemas.microsoft.com/office/drawing/2014/main" id="{C4AA9D72-D77B-DAEC-DC22-34E0780A7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1703"/>
            <a:ext cx="5706481" cy="4783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PALVELUT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410246" y="426404"/>
            <a:ext cx="6583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Kategoriat tekevät linkkilistasta ohjattavan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4568" y="1840187"/>
            <a:ext cx="60350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blurRad="25400" dist="50800" dir="2700000" algn="bl" rotWithShape="0">
              <a:srgbClr val="AAB3C1">
                <a:alpha val="18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7" name="Shape 4"/>
          <p:cNvSpPr/>
          <p:nvPr/>
        </p:nvSpPr>
        <p:spPr>
          <a:xfrm>
            <a:off x="7086600" y="149047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5"/>
          <p:cNvSpPr/>
          <p:nvPr/>
        </p:nvSpPr>
        <p:spPr>
          <a:xfrm>
            <a:off x="7251192" y="1417320"/>
            <a:ext cx="420624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Aihealueet avaavat palvelut selkeiksi valinnoiksi.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086600" y="2020824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7"/>
          <p:cNvSpPr/>
          <p:nvPr/>
        </p:nvSpPr>
        <p:spPr>
          <a:xfrm>
            <a:off x="7251192" y="1947672"/>
            <a:ext cx="420624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Palveluhaku löytää kategorioita, linkkejä ja puhelinnumeroita.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7086600" y="2551176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9"/>
          <p:cNvSpPr/>
          <p:nvPr/>
        </p:nvSpPr>
        <p:spPr>
          <a:xfrm>
            <a:off x="7251192" y="2478024"/>
            <a:ext cx="420624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Suosikit voi tallentaa omaan nopeaan käyttöön.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7086600" y="3081528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4" name="Text 11"/>
          <p:cNvSpPr/>
          <p:nvPr/>
        </p:nvSpPr>
        <p:spPr>
          <a:xfrm>
            <a:off x="7251192" y="3008376"/>
            <a:ext cx="420624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Asetuksista käyttäjä voi säätää tekstikokoa, teemaa ja näkyviä osioita.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Aloitussivu - kehityssivusto | 9.6.2026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pic>
        <p:nvPicPr>
          <p:cNvPr id="18" name="Kuva 17">
            <a:extLst>
              <a:ext uri="{FF2B5EF4-FFF2-40B4-BE49-F238E27FC236}">
                <a16:creationId xmlns:a16="http://schemas.microsoft.com/office/drawing/2014/main" id="{B7A93BA6-935C-C124-B1B0-AE502F71D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0716"/>
            <a:ext cx="6415465" cy="57108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ENNEN JULKAISUA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6583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Tämä on vielä kehityssivusto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49834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/>
          <p:nvPr/>
        </p:nvSpPr>
        <p:spPr>
          <a:xfrm>
            <a:off x="886968" y="149961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</a:rPr>
              <a:t>Virallinen nimi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1792224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2"/>
                </a:solidFill>
              </a:rPr>
              <a:t>Vahvistetaan jääkö nimeksi Aloitussivu vai päätetäänkö erillinen julkaisunimi.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6309360" y="1353312"/>
            <a:ext cx="49834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Text 7"/>
          <p:cNvSpPr/>
          <p:nvPr/>
        </p:nvSpPr>
        <p:spPr>
          <a:xfrm>
            <a:off x="6510528" y="149961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</a:rPr>
              <a:t>Palvelun osoite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10528" y="1792224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2"/>
                </a:solidFill>
              </a:rPr>
              <a:t>Päätetään domain, SeniorSurf-polku tai muu tuotanto-osoite ja päivitetään asetukset.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85800" y="2679192"/>
            <a:ext cx="49834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10"/>
          <p:cNvSpPr/>
          <p:nvPr/>
        </p:nvSpPr>
        <p:spPr>
          <a:xfrm>
            <a:off x="886968" y="282549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</a:rPr>
              <a:t>Tietosuoja ja saavutettavuus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3118104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2"/>
                </a:solidFill>
              </a:rPr>
              <a:t>Viimeistellään selosteet lopullisilla yhteystiedoilla ja vastuunjaolla.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309360" y="2679192"/>
            <a:ext cx="49834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6510528" y="282549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</a:rPr>
              <a:t>Ylläpito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3118104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2"/>
                </a:solidFill>
              </a:rPr>
              <a:t>Päätetään ilmoitussähköposti, ylläpitoreitit, pääsynsuojaus ja linkkitarkistusprosessi.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85800" y="4005072"/>
            <a:ext cx="49834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8" name="Text 16"/>
          <p:cNvSpPr/>
          <p:nvPr/>
        </p:nvSpPr>
        <p:spPr>
          <a:xfrm>
            <a:off x="886968" y="415137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</a:rPr>
              <a:t>Poistettavat linkit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4443984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2"/>
                </a:solidFill>
              </a:rPr>
              <a:t>Piilotetaan testilinkit, tekniset näkymät ja julkiseen sivuun kuulumattomat ylläpitopolut.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309360" y="4005072"/>
            <a:ext cx="49834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1" name="Text 19"/>
          <p:cNvSpPr/>
          <p:nvPr/>
        </p:nvSpPr>
        <p:spPr>
          <a:xfrm>
            <a:off x="6510528" y="415137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</a:rPr>
              <a:t>Nimipäivät ja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0528" y="4443984"/>
            <a:ext cx="4498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2"/>
                </a:solidFill>
              </a:rPr>
              <a:t>Päätetään tuotantomalli ja kustannusrajat ennen laajempaa käyttöönottoa.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Aloitussivu - kehityssivusto | 9.6.2026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TUKIJAMALLI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6583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Tukija voi näkyä avoimesti, mutta ei ohjata käyttäjää harhaan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46520" y="123444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1F8F7"/>
          </a:solidFill>
          <a:ln w="1397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5"/>
          <p:cNvSpPr/>
          <p:nvPr/>
        </p:nvSpPr>
        <p:spPr>
          <a:xfrm>
            <a:off x="662940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</a:rPr>
              <a:t>Mahdollinen tukijan näkyvyys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17190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</a:rPr>
              <a:t>Logo ja lyhyt kuvaus Sivua tukemassa -sivulla.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46520" y="263347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8"/>
          <p:cNvSpPr/>
          <p:nvPr/>
        </p:nvSpPr>
        <p:spPr>
          <a:xfrm>
            <a:off x="6611112" y="2560320"/>
            <a:ext cx="4343400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Tukija merkitään tukijaksi, ei viranomaiseksi eikä palvelusuositukseksi.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6446520" y="313639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3" name="Text 10"/>
          <p:cNvSpPr/>
          <p:nvPr/>
        </p:nvSpPr>
        <p:spPr>
          <a:xfrm>
            <a:off x="6611112" y="3063240"/>
            <a:ext cx="4343400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 voi näkyä tukijasivulla ja mahdollisesti linkin yhteydessä selvästi merkittynä.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6446520" y="363931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2"/>
          <p:cNvSpPr/>
          <p:nvPr/>
        </p:nvSpPr>
        <p:spPr>
          <a:xfrm>
            <a:off x="6611112" y="3566160"/>
            <a:ext cx="4343400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Tuki ei nosta linkkiä muiden edelle eikä vaikuta hakutuloksiin.</a:t>
            </a:r>
            <a:endParaRPr lang="en-US" sz="1230" dirty="0"/>
          </a:p>
        </p:txBody>
      </p:sp>
      <p:sp>
        <p:nvSpPr>
          <p:cNvPr id="16" name="Shape 13"/>
          <p:cNvSpPr/>
          <p:nvPr/>
        </p:nvSpPr>
        <p:spPr>
          <a:xfrm>
            <a:off x="6446520" y="4142232"/>
            <a:ext cx="82296" cy="822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7" name="Text 14"/>
          <p:cNvSpPr/>
          <p:nvPr/>
        </p:nvSpPr>
        <p:spPr>
          <a:xfrm>
            <a:off x="6611112" y="4069080"/>
            <a:ext cx="4343400" cy="466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Periaatteet kannattaa hyväksyä ennen ensimmäisiä ulkopuolisia tukijoita.</a:t>
            </a:r>
            <a:endParaRPr lang="en-US" sz="123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Aloitussivu - kehityssivusto | 9.6.2026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pic>
        <p:nvPicPr>
          <p:cNvPr id="21" name="Kuva 20">
            <a:extLst>
              <a:ext uri="{FF2B5EF4-FFF2-40B4-BE49-F238E27FC236}">
                <a16:creationId xmlns:a16="http://schemas.microsoft.com/office/drawing/2014/main" id="{93E89701-C15E-527D-5539-DB33174AC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50100"/>
            <a:ext cx="5210902" cy="42868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VUOSIKULUT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6583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Tekninen vuosikulu on pieni, mutta AI-käytölle tarvitaan katto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949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Alla oleva laskelma on päätöspohja: tarkat sopimushinnat vahvistetaan ennen julkaisua.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417320"/>
            <a:ext cx="9326880" cy="475488"/>
          </a:xfrm>
          <a:prstGeom prst="rect">
            <a:avLst/>
          </a:prstGeom>
          <a:solidFill>
            <a:srgbClr val="E8F2F1"/>
          </a:solidFill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/>
          <p:nvPr/>
        </p:nvSpPr>
        <p:spPr>
          <a:xfrm>
            <a:off x="859536" y="153619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F2933"/>
                </a:solidFill>
              </a:rPr>
              <a:t>Kuluerä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602736" y="1536192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472"/>
                </a:solidFill>
              </a:rPr>
              <a:t>Oletus / rajaus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8979408" y="1536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F2933"/>
                </a:solidFill>
              </a:rPr>
              <a:t>€/v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49808" y="1984248"/>
            <a:ext cx="93268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859536" y="210312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</a:rPr>
              <a:t>Domain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602736" y="2103120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472"/>
                </a:solidFill>
              </a:rPr>
              <a:t>.fi- tai vastaava oma domain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8979408" y="2103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F2933"/>
                </a:solidFill>
              </a:rPr>
              <a:t>20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49808" y="2551176"/>
            <a:ext cx="93268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4" name="Text 12"/>
          <p:cNvSpPr/>
          <p:nvPr/>
        </p:nvSpPr>
        <p:spPr>
          <a:xfrm>
            <a:off x="859536" y="267004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</a:rPr>
              <a:t>Cloudcity webhotelli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602736" y="2670048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472"/>
                </a:solidFill>
              </a:rPr>
              <a:t>Sivuston osuus olemassa olevasta ympäristöstä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8979408" y="26700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F2933"/>
                </a:solidFill>
              </a:rPr>
              <a:t>120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49808" y="3118104"/>
            <a:ext cx="93268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8" name="Text 16"/>
          <p:cNvSpPr/>
          <p:nvPr/>
        </p:nvSpPr>
        <p:spPr>
          <a:xfrm>
            <a:off x="859536" y="3236976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</a:rPr>
              <a:t>Nimipäivät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602736" y="3236976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472"/>
                </a:solidFill>
              </a:rPr>
              <a:t>Ostettu staattinen nimipäivädata / vuosipäivitys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8979408" y="32369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F2933"/>
                </a:solidFill>
              </a:rPr>
              <a:t>100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49808" y="3685032"/>
            <a:ext cx="93268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2" name="Text 20"/>
          <p:cNvSpPr/>
          <p:nvPr/>
        </p:nvSpPr>
        <p:spPr>
          <a:xfrm>
            <a:off x="859536" y="380390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F2933"/>
                </a:solidFill>
              </a:rPr>
              <a:t>AI-avustaja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602736" y="3803904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472"/>
                </a:solidFill>
              </a:rPr>
              <a:t>Maltillinen käyttö + kustannuskatto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8979408" y="380390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F2933"/>
                </a:solidFill>
              </a:rPr>
              <a:t>120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49808" y="4251960"/>
            <a:ext cx="9326880" cy="475488"/>
          </a:xfrm>
          <a:prstGeom prst="rect">
            <a:avLst/>
          </a:prstGeom>
          <a:solidFill>
            <a:srgbClr val="FEF3C7"/>
          </a:solidFill>
          <a:ln w="889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6" name="Text 24"/>
          <p:cNvSpPr/>
          <p:nvPr/>
        </p:nvSpPr>
        <p:spPr>
          <a:xfrm>
            <a:off x="859536" y="437083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F2933"/>
                </a:solidFill>
              </a:rPr>
              <a:t>Yhteensä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602736" y="4370832"/>
            <a:ext cx="5321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B6472"/>
                </a:solidFill>
              </a:rPr>
              <a:t>Perusbudjetti vuodessa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8979408" y="43708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F2933"/>
                </a:solidFill>
              </a:rPr>
              <a:t>360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49808" y="4892040"/>
            <a:ext cx="9326880" cy="749808"/>
          </a:xfrm>
          <a:prstGeom prst="roundRect">
            <a:avLst>
              <a:gd name="adj" fmla="val 9756"/>
            </a:avLst>
          </a:prstGeom>
          <a:solidFill>
            <a:srgbClr val="F1F8F7"/>
          </a:solidFill>
          <a:ln w="1397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0" name="Text 28"/>
          <p:cNvSpPr/>
          <p:nvPr/>
        </p:nvSpPr>
        <p:spPr>
          <a:xfrm>
            <a:off x="896112" y="5001768"/>
            <a:ext cx="903427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Suositus: AI-avustajalle asetetaan kuukausikatto ja seuranta. Jos käyttö kasvaa, budjetti tarkistetaan ennen laajaa markkinointia.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" y="579729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</a:rPr>
              <a:t>Huom. hinnat ovat suunnitteluoletuksia ilman sopimusvahvistusta.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Aloitussivu - kehityssivusto | 9.6.2026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4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99744"/>
          </a:xfrm>
          <a:prstGeom prst="rect">
            <a:avLst/>
          </a:prstGeom>
          <a:solidFill>
            <a:srgbClr val="2A0A52"/>
          </a:solidFill>
          <a:ln w="12700">
            <a:solidFill>
              <a:srgbClr val="2A0A52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3" name="Text 1"/>
          <p:cNvSpPr/>
          <p:nvPr/>
        </p:nvSpPr>
        <p:spPr>
          <a:xfrm>
            <a:off x="341376" y="0"/>
            <a:ext cx="79248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ALOITUSSIVU — SROI-LASKELMA</a:t>
            </a:r>
            <a:endParaRPr lang="en-US" sz="2133" dirty="0"/>
          </a:p>
        </p:txBody>
      </p:sp>
      <p:sp>
        <p:nvSpPr>
          <p:cNvPr id="4" name="Text 2"/>
          <p:cNvSpPr/>
          <p:nvPr/>
        </p:nvSpPr>
        <p:spPr>
          <a:xfrm>
            <a:off x="6339840" y="0"/>
            <a:ext cx="56083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CCB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Vanhustyön keskusliitto ry / SeniorSurf  |  Vuosi 1, 500 käyttäjää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99744"/>
            <a:ext cx="4328160" cy="5858256"/>
          </a:xfrm>
          <a:prstGeom prst="rect">
            <a:avLst/>
          </a:prstGeom>
          <a:solidFill>
            <a:srgbClr val="1D0740"/>
          </a:solidFill>
          <a:ln w="12700">
            <a:solidFill>
              <a:srgbClr val="1D0740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6" name="Text 4"/>
          <p:cNvSpPr/>
          <p:nvPr/>
        </p:nvSpPr>
        <p:spPr>
          <a:xfrm>
            <a:off x="182880" y="1280160"/>
            <a:ext cx="3962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kern="0" spc="400" dirty="0">
                <a:solidFill>
                  <a:srgbClr val="CCB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SROI-KERROIN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" y="1560576"/>
            <a:ext cx="4084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733" b="1" dirty="0">
                <a:solidFill>
                  <a:srgbClr val="F496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41x</a:t>
            </a:r>
            <a:endParaRPr lang="en-US" sz="11733" dirty="0"/>
          </a:p>
        </p:txBody>
      </p:sp>
      <p:sp>
        <p:nvSpPr>
          <p:cNvPr id="8" name="Text 6"/>
          <p:cNvSpPr/>
          <p:nvPr/>
        </p:nvSpPr>
        <p:spPr>
          <a:xfrm>
            <a:off x="182880" y="3291840"/>
            <a:ext cx="39624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Jokainen sijoitettu 1 € tuottaa
</a:t>
            </a:r>
            <a:r>
              <a:rPr lang="en-US" sz="1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41 € sosiaalista arvoa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548640" y="4120896"/>
            <a:ext cx="3230880" cy="0"/>
          </a:xfrm>
          <a:prstGeom prst="line">
            <a:avLst/>
          </a:prstGeom>
          <a:noFill/>
          <a:ln w="9525">
            <a:solidFill>
              <a:srgbClr val="4422AA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10" name="Text 8"/>
          <p:cNvSpPr/>
          <p:nvPr/>
        </p:nvSpPr>
        <p:spPr>
          <a:xfrm>
            <a:off x="182880" y="4267200"/>
            <a:ext cx="3962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kern="0" spc="133" dirty="0">
                <a:solidFill>
                  <a:srgbClr val="997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MARKKINAHINTAINEN VERTAILU</a:t>
            </a:r>
            <a:endParaRPr lang="en-US" sz="933" dirty="0"/>
          </a:p>
        </p:txBody>
      </p:sp>
      <p:sp>
        <p:nvSpPr>
          <p:cNvPr id="11" name="Text 9"/>
          <p:cNvSpPr/>
          <p:nvPr/>
        </p:nvSpPr>
        <p:spPr>
          <a:xfrm>
            <a:off x="182880" y="4486656"/>
            <a:ext cx="39624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F49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2,2x</a:t>
            </a:r>
            <a:endParaRPr lang="en-US" sz="4267" dirty="0"/>
          </a:p>
        </p:txBody>
      </p:sp>
      <p:sp>
        <p:nvSpPr>
          <p:cNvPr id="12" name="Text 10"/>
          <p:cNvSpPr/>
          <p:nvPr/>
        </p:nvSpPr>
        <p:spPr>
          <a:xfrm>
            <a:off x="182880" y="5145024"/>
            <a:ext cx="396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CCB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 sisäinen työ arvostetaan
markkinahinnalla (~11 500 €/v)
</a:t>
            </a:r>
            <a:r>
              <a:rPr lang="en-US" sz="1133" i="1" dirty="0">
                <a:solidFill>
                  <a:srgbClr val="CCB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edelleen hyvä tulos</a:t>
            </a:r>
            <a:endParaRPr lang="en-US" sz="1133" dirty="0"/>
          </a:p>
        </p:txBody>
      </p:sp>
      <p:sp>
        <p:nvSpPr>
          <p:cNvPr id="13" name="Shape 11"/>
          <p:cNvSpPr/>
          <p:nvPr/>
        </p:nvSpPr>
        <p:spPr>
          <a:xfrm>
            <a:off x="304800" y="6217920"/>
            <a:ext cx="3718560" cy="426720"/>
          </a:xfrm>
          <a:prstGeom prst="rect">
            <a:avLst/>
          </a:prstGeom>
          <a:solidFill>
            <a:srgbClr val="33115E"/>
          </a:solidFill>
          <a:ln w="12700">
            <a:solidFill>
              <a:srgbClr val="33115E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14" name="Text 12"/>
          <p:cNvSpPr/>
          <p:nvPr/>
        </p:nvSpPr>
        <p:spPr>
          <a:xfrm>
            <a:off x="304800" y="6217920"/>
            <a:ext cx="3718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CCB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Todelliset rahakustannukset: 950 €/v</a:t>
            </a:r>
            <a:endParaRPr lang="en-US" sz="1133" dirty="0"/>
          </a:p>
        </p:txBody>
      </p:sp>
      <p:sp>
        <p:nvSpPr>
          <p:cNvPr id="15" name="Text 13"/>
          <p:cNvSpPr/>
          <p:nvPr/>
        </p:nvSpPr>
        <p:spPr>
          <a:xfrm>
            <a:off x="4572000" y="1072896"/>
            <a:ext cx="7193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kern="0" spc="133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HYÖDYT SIDOSRYHMITTÄIN (bruttohyöty, vuosi 1)</a:t>
            </a:r>
            <a:endParaRPr lang="en-US" sz="1067" dirty="0"/>
          </a:p>
        </p:txBody>
      </p:sp>
      <p:sp>
        <p:nvSpPr>
          <p:cNvPr id="16" name="Shape 14"/>
          <p:cNvSpPr/>
          <p:nvPr/>
        </p:nvSpPr>
        <p:spPr>
          <a:xfrm>
            <a:off x="4547616" y="1487424"/>
            <a:ext cx="3535680" cy="1853184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17" name="Shape 15"/>
          <p:cNvSpPr/>
          <p:nvPr/>
        </p:nvSpPr>
        <p:spPr>
          <a:xfrm>
            <a:off x="4547616" y="1487424"/>
            <a:ext cx="85344" cy="1853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18" name="Text 16"/>
          <p:cNvSpPr/>
          <p:nvPr/>
        </p:nvSpPr>
        <p:spPr>
          <a:xfrm>
            <a:off x="4730496" y="1609344"/>
            <a:ext cx="3316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— Ikääntyneet käyttäjät</a:t>
            </a:r>
            <a:endParaRPr lang="en-US" sz="1267" dirty="0"/>
          </a:p>
        </p:txBody>
      </p:sp>
      <p:sp>
        <p:nvSpPr>
          <p:cNvPr id="19" name="Text 17"/>
          <p:cNvSpPr/>
          <p:nvPr/>
        </p:nvSpPr>
        <p:spPr>
          <a:xfrm>
            <a:off x="4730496" y="1950720"/>
            <a:ext cx="2194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Aikasäästö: palvelujen löytäminen nopeutuu ~5 min / istunto × 8 istuntoa / kk</a:t>
            </a:r>
            <a:endParaRPr lang="en-US" sz="1133" dirty="0"/>
          </a:p>
        </p:txBody>
      </p:sp>
      <p:sp>
        <p:nvSpPr>
          <p:cNvPr id="20" name="Text 18"/>
          <p:cNvSpPr/>
          <p:nvPr/>
        </p:nvSpPr>
        <p:spPr>
          <a:xfrm>
            <a:off x="6912864" y="1828800"/>
            <a:ext cx="1072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133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40 000 €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6912864" y="2767584"/>
            <a:ext cx="1072896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bruttohyöty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39328" y="1487424"/>
            <a:ext cx="3535680" cy="1853184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23" name="Shape 21"/>
          <p:cNvSpPr/>
          <p:nvPr/>
        </p:nvSpPr>
        <p:spPr>
          <a:xfrm>
            <a:off x="8339328" y="1487424"/>
            <a:ext cx="85344" cy="1853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24" name="Text 22"/>
          <p:cNvSpPr/>
          <p:nvPr/>
        </p:nvSpPr>
        <p:spPr>
          <a:xfrm>
            <a:off x="8522208" y="1609344"/>
            <a:ext cx="3316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— Digiopastajat</a:t>
            </a:r>
            <a:endParaRPr lang="en-US" sz="1267" dirty="0"/>
          </a:p>
        </p:txBody>
      </p:sp>
      <p:sp>
        <p:nvSpPr>
          <p:cNvPr id="25" name="Text 23"/>
          <p:cNvSpPr/>
          <p:nvPr/>
        </p:nvSpPr>
        <p:spPr>
          <a:xfrm>
            <a:off x="8522208" y="1950720"/>
            <a:ext cx="2194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Yhteinen lähtöruutu opastukseen — valmistelu ja opastusaika lyhenevät</a:t>
            </a:r>
            <a:endParaRPr lang="en-US" sz="1133" dirty="0"/>
          </a:p>
        </p:txBody>
      </p:sp>
      <p:sp>
        <p:nvSpPr>
          <p:cNvPr id="26" name="Text 24"/>
          <p:cNvSpPr/>
          <p:nvPr/>
        </p:nvSpPr>
        <p:spPr>
          <a:xfrm>
            <a:off x="10704576" y="1828800"/>
            <a:ext cx="1072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133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5 250 €</a:t>
            </a:r>
            <a:endParaRPr lang="en-US" sz="2133" dirty="0"/>
          </a:p>
        </p:txBody>
      </p:sp>
      <p:sp>
        <p:nvSpPr>
          <p:cNvPr id="27" name="Text 25"/>
          <p:cNvSpPr/>
          <p:nvPr/>
        </p:nvSpPr>
        <p:spPr>
          <a:xfrm>
            <a:off x="10704576" y="2767584"/>
            <a:ext cx="1072896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bruttohyöty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47616" y="3511296"/>
            <a:ext cx="3535680" cy="1853184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29" name="Shape 27"/>
          <p:cNvSpPr/>
          <p:nvPr/>
        </p:nvSpPr>
        <p:spPr>
          <a:xfrm>
            <a:off x="4547616" y="3511296"/>
            <a:ext cx="85344" cy="185318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30" name="Text 28"/>
          <p:cNvSpPr/>
          <p:nvPr/>
        </p:nvSpPr>
        <p:spPr>
          <a:xfrm>
            <a:off x="4730496" y="3633216"/>
            <a:ext cx="3316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— Läheiset / omaiset</a:t>
            </a:r>
            <a:endParaRPr lang="en-US" sz="1267" dirty="0"/>
          </a:p>
        </p:txBody>
      </p:sp>
      <p:sp>
        <p:nvSpPr>
          <p:cNvPr id="31" name="Text 29"/>
          <p:cNvSpPr/>
          <p:nvPr/>
        </p:nvSpPr>
        <p:spPr>
          <a:xfrm>
            <a:off x="4730496" y="3974592"/>
            <a:ext cx="2194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Vähentynut tarve auttaa ikääntynyttä verkkohakuihin ja linkkien tunnistamiseen</a:t>
            </a:r>
            <a:endParaRPr lang="en-US" sz="1133" dirty="0"/>
          </a:p>
        </p:txBody>
      </p:sp>
      <p:sp>
        <p:nvSpPr>
          <p:cNvPr id="32" name="Text 30"/>
          <p:cNvSpPr/>
          <p:nvPr/>
        </p:nvSpPr>
        <p:spPr>
          <a:xfrm>
            <a:off x="6912864" y="3852672"/>
            <a:ext cx="1072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133" b="1" dirty="0">
                <a:solidFill>
                  <a:srgbClr val="B8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9 000 €</a:t>
            </a:r>
            <a:endParaRPr lang="en-US" sz="2133" dirty="0"/>
          </a:p>
        </p:txBody>
      </p:sp>
      <p:sp>
        <p:nvSpPr>
          <p:cNvPr id="33" name="Text 31"/>
          <p:cNvSpPr/>
          <p:nvPr/>
        </p:nvSpPr>
        <p:spPr>
          <a:xfrm>
            <a:off x="6912864" y="4791456"/>
            <a:ext cx="1072896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bruttohyöty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39328" y="3511296"/>
            <a:ext cx="3535680" cy="1853184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35" name="Shape 33"/>
          <p:cNvSpPr/>
          <p:nvPr/>
        </p:nvSpPr>
        <p:spPr>
          <a:xfrm>
            <a:off x="8339328" y="3511296"/>
            <a:ext cx="85344" cy="185318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36" name="Text 34"/>
          <p:cNvSpPr/>
          <p:nvPr/>
        </p:nvSpPr>
        <p:spPr>
          <a:xfrm>
            <a:off x="8522208" y="3633216"/>
            <a:ext cx="3316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— Huijaussuoja</a:t>
            </a:r>
            <a:endParaRPr lang="en-US" sz="1267" dirty="0"/>
          </a:p>
        </p:txBody>
      </p:sp>
      <p:sp>
        <p:nvSpPr>
          <p:cNvPr id="37" name="Text 35"/>
          <p:cNvSpPr/>
          <p:nvPr/>
        </p:nvSpPr>
        <p:spPr>
          <a:xfrm>
            <a:off x="8522208" y="3974592"/>
            <a:ext cx="2194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Huijausvaroitukset: taloudellinen suoja ~10 seniorille/v (arv. 1 000 € / huijaus)</a:t>
            </a:r>
            <a:endParaRPr lang="en-US" sz="1133" dirty="0"/>
          </a:p>
        </p:txBody>
      </p:sp>
      <p:sp>
        <p:nvSpPr>
          <p:cNvPr id="38" name="Text 36"/>
          <p:cNvSpPr/>
          <p:nvPr/>
        </p:nvSpPr>
        <p:spPr>
          <a:xfrm>
            <a:off x="10704576" y="3852672"/>
            <a:ext cx="1072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133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10 000 €</a:t>
            </a:r>
            <a:endParaRPr lang="en-US" sz="2133" dirty="0"/>
          </a:p>
        </p:txBody>
      </p:sp>
      <p:sp>
        <p:nvSpPr>
          <p:cNvPr id="39" name="Text 37"/>
          <p:cNvSpPr/>
          <p:nvPr/>
        </p:nvSpPr>
        <p:spPr>
          <a:xfrm>
            <a:off x="10704576" y="4791456"/>
            <a:ext cx="1072896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bruttohyöty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47616" y="5559552"/>
            <a:ext cx="7412736" cy="853440"/>
          </a:xfrm>
          <a:prstGeom prst="rect">
            <a:avLst/>
          </a:prstGeom>
          <a:solidFill>
            <a:srgbClr val="2A0A52"/>
          </a:solidFill>
          <a:ln w="12700">
            <a:solidFill>
              <a:srgbClr val="2A0A52"/>
            </a:solidFill>
            <a:prstDash val="solid"/>
          </a:ln>
        </p:spPr>
        <p:txBody>
          <a:bodyPr/>
          <a:lstStyle/>
          <a:p>
            <a:endParaRPr lang="fi-FI" sz="2400"/>
          </a:p>
        </p:txBody>
      </p:sp>
      <p:sp>
        <p:nvSpPr>
          <p:cNvPr id="41" name="Text 39"/>
          <p:cNvSpPr/>
          <p:nvPr/>
        </p:nvSpPr>
        <p:spPr>
          <a:xfrm>
            <a:off x="4608576" y="5596128"/>
            <a:ext cx="17312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CB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Bruttohyöty yhteensä</a:t>
            </a:r>
            <a:endParaRPr lang="en-US" sz="933" dirty="0"/>
          </a:p>
        </p:txBody>
      </p:sp>
      <p:sp>
        <p:nvSpPr>
          <p:cNvPr id="42" name="Text 40"/>
          <p:cNvSpPr/>
          <p:nvPr/>
        </p:nvSpPr>
        <p:spPr>
          <a:xfrm>
            <a:off x="4608576" y="5839968"/>
            <a:ext cx="173126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64 250 €</a:t>
            </a:r>
            <a:endParaRPr lang="en-US" sz="1867" dirty="0"/>
          </a:p>
        </p:txBody>
      </p:sp>
      <p:sp>
        <p:nvSpPr>
          <p:cNvPr id="43" name="Text 41"/>
          <p:cNvSpPr/>
          <p:nvPr/>
        </p:nvSpPr>
        <p:spPr>
          <a:xfrm>
            <a:off x="6437376" y="5596128"/>
            <a:ext cx="17312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CB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Oikaisukerroin (×0,61)</a:t>
            </a:r>
            <a:endParaRPr lang="en-US" sz="933" dirty="0"/>
          </a:p>
        </p:txBody>
      </p:sp>
      <p:sp>
        <p:nvSpPr>
          <p:cNvPr id="44" name="Text 42"/>
          <p:cNvSpPr/>
          <p:nvPr/>
        </p:nvSpPr>
        <p:spPr>
          <a:xfrm>
            <a:off x="6437376" y="5839968"/>
            <a:ext cx="173126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933" dirty="0"/>
          </a:p>
        </p:txBody>
      </p:sp>
      <p:sp>
        <p:nvSpPr>
          <p:cNvPr id="45" name="Text 43"/>
          <p:cNvSpPr/>
          <p:nvPr/>
        </p:nvSpPr>
        <p:spPr>
          <a:xfrm>
            <a:off x="8266176" y="5596128"/>
            <a:ext cx="17312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CB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Nettohyöty</a:t>
            </a:r>
            <a:endParaRPr lang="en-US" sz="933" dirty="0"/>
          </a:p>
        </p:txBody>
      </p:sp>
      <p:sp>
        <p:nvSpPr>
          <p:cNvPr id="46" name="Text 44"/>
          <p:cNvSpPr/>
          <p:nvPr/>
        </p:nvSpPr>
        <p:spPr>
          <a:xfrm>
            <a:off x="8266176" y="5839968"/>
            <a:ext cx="173126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38 900 €</a:t>
            </a:r>
            <a:endParaRPr lang="en-US" sz="1867" dirty="0"/>
          </a:p>
        </p:txBody>
      </p:sp>
      <p:sp>
        <p:nvSpPr>
          <p:cNvPr id="47" name="Text 45"/>
          <p:cNvSpPr/>
          <p:nvPr/>
        </p:nvSpPr>
        <p:spPr>
          <a:xfrm>
            <a:off x="10094976" y="5596128"/>
            <a:ext cx="17312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CCBB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Panostus</a:t>
            </a:r>
            <a:endParaRPr lang="en-US" sz="933" dirty="0"/>
          </a:p>
        </p:txBody>
      </p:sp>
      <p:sp>
        <p:nvSpPr>
          <p:cNvPr id="48" name="Text 46"/>
          <p:cNvSpPr/>
          <p:nvPr/>
        </p:nvSpPr>
        <p:spPr>
          <a:xfrm>
            <a:off x="10094976" y="5839968"/>
            <a:ext cx="173126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950 €</a:t>
            </a:r>
            <a:endParaRPr lang="en-US" sz="1867" dirty="0"/>
          </a:p>
        </p:txBody>
      </p:sp>
      <p:sp>
        <p:nvSpPr>
          <p:cNvPr id="49" name="Text 47"/>
          <p:cNvSpPr/>
          <p:nvPr/>
        </p:nvSpPr>
        <p:spPr>
          <a:xfrm>
            <a:off x="4547616" y="6498336"/>
            <a:ext cx="74127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Laskentastandardi: Social Value UK / SROI Network Guide  |  Oikaisut: deadweight 15 %, attribuutio 25 %, displacement 5 %</a:t>
            </a:r>
            <a:endParaRPr lang="en-US" sz="8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728</Words>
  <Application>Microsoft Office PowerPoint</Application>
  <PresentationFormat>Laajakuva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Office Theme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Company>Vanhustyon keskusliitto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Aloitussivu - jory-esittely</dc:title>
  <dc:subject>Aloitussivu kehityssivuston jory-esittely</dc:subject>
  <dc:creator>Vanhustyon keskusliitto / SeniorSurf</dc:creator>
  <cp:lastModifiedBy>Eero Tuomenoksa</cp:lastModifiedBy>
  <cp:revision>3</cp:revision>
  <dcterms:created xsi:type="dcterms:W3CDTF">2026-06-09T06:38:15Z</dcterms:created>
  <dcterms:modified xsi:type="dcterms:W3CDTF">2026-06-09T09:50:44Z</dcterms:modified>
</cp:coreProperties>
</file>