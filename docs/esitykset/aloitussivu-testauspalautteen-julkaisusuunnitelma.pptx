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20228990584f34" /><Relationship Type="http://schemas.openxmlformats.org/officeDocument/2006/relationships/extended-properties" Target="/docProps/app.xml" Id="R58925e4ac6404b05" /><Relationship Type="http://schemas.openxmlformats.org/officeDocument/2006/relationships/officeDocument" Target="/ppt/presentation.xml" Id="Rab1dba8e9d04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1be856ca84578"/>
  </p:sldMasterIdLst>
  <p:notesMasterIdLst>
    <p:notesMasterId xmlns:r="http://schemas.openxmlformats.org/officeDocument/2006/relationships" r:id="R21f1cc0a8b8d4f8a"/>
  </p:notesMasterIdLst>
  <p:sldIdLst>
    <p:sldId xmlns:r="http://schemas.openxmlformats.org/officeDocument/2006/relationships" id="256" r:id="R0d009dc6a2574c8e"/>
    <p:sldId xmlns:r="http://schemas.openxmlformats.org/officeDocument/2006/relationships" id="257" r:id="Rf9ae1db037ef460e"/>
    <p:sldId xmlns:r="http://schemas.openxmlformats.org/officeDocument/2006/relationships" id="258" r:id="Rc75c5a6e13b44000"/>
    <p:sldId xmlns:r="http://schemas.openxmlformats.org/officeDocument/2006/relationships" id="259" r:id="R232a213fd73544e8"/>
    <p:sldId xmlns:r="http://schemas.openxmlformats.org/officeDocument/2006/relationships" id="260" r:id="Rfb17e981336a4bc3"/>
    <p:sldId xmlns:r="http://schemas.openxmlformats.org/officeDocument/2006/relationships" id="261" r:id="Ref44b987fc404b04"/>
    <p:sldId xmlns:r="http://schemas.openxmlformats.org/officeDocument/2006/relationships" id="262" r:id="R8ea2e85c8b3144ee"/>
    <p:sldId xmlns:r="http://schemas.openxmlformats.org/officeDocument/2006/relationships" id="263" r:id="R0388ab118cc74d8c"/>
    <p:sldId xmlns:r="http://schemas.openxmlformats.org/officeDocument/2006/relationships" id="264" r:id="R509446d8d31e4d8b"/>
    <p:sldId xmlns:r="http://schemas.openxmlformats.org/officeDocument/2006/relationships" id="265" r:id="Rb31e2f67cf4049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e47ce57a44b04" /><Relationship Type="http://schemas.openxmlformats.org/officeDocument/2006/relationships/slideMaster" Target="/ppt/slideMasters/slideMaster1.xml" Id="Rc291be856ca84578" /><Relationship Type="http://schemas.openxmlformats.org/officeDocument/2006/relationships/notesMaster" Target="/ppt/notesMasters/notesMaster1.xml" Id="R21f1cc0a8b8d4f8a" /><Relationship Type="http://schemas.openxmlformats.org/officeDocument/2006/relationships/presProps" Target="/ppt/presProps.xml" Id="R1761fb1cc1b948bb" /><Relationship Type="http://schemas.openxmlformats.org/officeDocument/2006/relationships/tableStyles" Target="/ppt/tableStyles.xml" Id="R089e6e69ab4249e9" /><Relationship Type="http://schemas.openxmlformats.org/officeDocument/2006/relationships/slide" Target="/ppt/slides/slide1.xml" Id="R0d009dc6a2574c8e" /><Relationship Type="http://schemas.openxmlformats.org/officeDocument/2006/relationships/slide" Target="/ppt/slides/slide2.xml" Id="Rf9ae1db037ef460e" /><Relationship Type="http://schemas.openxmlformats.org/officeDocument/2006/relationships/slide" Target="/ppt/slides/slide3.xml" Id="Rc75c5a6e13b44000" /><Relationship Type="http://schemas.openxmlformats.org/officeDocument/2006/relationships/slide" Target="/ppt/slides/slide4.xml" Id="R232a213fd73544e8" /><Relationship Type="http://schemas.openxmlformats.org/officeDocument/2006/relationships/slide" Target="/ppt/slides/slide5.xml" Id="Rfb17e981336a4bc3" /><Relationship Type="http://schemas.openxmlformats.org/officeDocument/2006/relationships/slide" Target="/ppt/slides/slide6.xml" Id="Ref44b987fc404b04" /><Relationship Type="http://schemas.openxmlformats.org/officeDocument/2006/relationships/slide" Target="/ppt/slides/slide7.xml" Id="R8ea2e85c8b3144ee" /><Relationship Type="http://schemas.openxmlformats.org/officeDocument/2006/relationships/slide" Target="/ppt/slides/slide8.xml" Id="R0388ab118cc74d8c" /><Relationship Type="http://schemas.openxmlformats.org/officeDocument/2006/relationships/slide" Target="/ppt/slides/slide9.xml" Id="R509446d8d31e4d8b" /><Relationship Type="http://schemas.openxmlformats.org/officeDocument/2006/relationships/slide" Target="/ppt/slides/slide10.xml" Id="Rb31e2f67cf40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914c9049c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051281121a4956" /><Relationship Type="http://schemas.openxmlformats.org/officeDocument/2006/relationships/notesMaster" Target="/ppt/notesMasters/notesMaster1.xml" Id="R5a6160fc8f00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eabcc48944f86" /><Relationship Type="http://schemas.openxmlformats.org/officeDocument/2006/relationships/notesMaster" Target="/ppt/notesMasters/notesMaster1.xml" Id="R9dbc1cc3ad74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77ec5011c94304" /><Relationship Type="http://schemas.openxmlformats.org/officeDocument/2006/relationships/notesMaster" Target="/ppt/notesMasters/notesMaster1.xml" Id="R36cdcb8d310b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efb63be8c4e9e" /><Relationship Type="http://schemas.openxmlformats.org/officeDocument/2006/relationships/notesMaster" Target="/ppt/notesMasters/notesMaster1.xml" Id="R848e463337444f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bb146e734447d" /><Relationship Type="http://schemas.openxmlformats.org/officeDocument/2006/relationships/notesMaster" Target="/ppt/notesMasters/notesMaster1.xml" Id="R10b2d8c2e1ba46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4176e8ef849c5" /><Relationship Type="http://schemas.openxmlformats.org/officeDocument/2006/relationships/notesMaster" Target="/ppt/notesMasters/notesMaster1.xml" Id="Re49b4320e8784f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dccdeb7b3b444d" /><Relationship Type="http://schemas.openxmlformats.org/officeDocument/2006/relationships/notesMaster" Target="/ppt/notesMasters/notesMaster1.xml" Id="R501f84c608a947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1eb754232c458b" /><Relationship Type="http://schemas.openxmlformats.org/officeDocument/2006/relationships/notesMaster" Target="/ppt/notesMasters/notesMaster1.xml" Id="R3a80c1cc56c7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c4af29b6a148d0" /><Relationship Type="http://schemas.openxmlformats.org/officeDocument/2006/relationships/notesMaster" Target="/ppt/notesMasters/notesMaster1.xml" Id="R4910576d4119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1defe9ae624919" /><Relationship Type="http://schemas.openxmlformats.org/officeDocument/2006/relationships/notesMaster" Target="/ppt/notesMasters/notesMaster1.xml" Id="R78ff3217bd0c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Päivitetty päätösversio erottaa palautteen, julkaisurajauksen ja personointipilotin.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Vastaajia on 4/6; yksi testasi sekä puhelimella että tietokoneella.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Hyödyllisyys 4,5/5, helppokäyttöisyys 4,0/5 ja suosittelu 4/4.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usefulnessRating, easeRating, recommend.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Kaksi vastaajaa valitsi tunteeksi liian täysi; kolme valitsi hyödyllinen.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pageFeelings, firstImpression, bestThing.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Nimipäivät sai matalimman arvion 2,33/5. Tekoälyavustaja sai 4,33/5, joten sen pois jättäminen on tietoinen tuoterajaus, ei suora arvosanapäätelmä. Avoimessa palautteessa tekoäly-sana kuitenkin heikensi haun löydettävyyttä.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- Kentät: featureRatings.assistant, featureRatings.namedays, firstImpression, mostImportantFix.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Ensijulkaisun suositus: nimipäivät pois ja tekoälyavustaja pois oletuslaajuudesta. Tekoäly voidaan palauttaa myöhemmin, jos sille löytyy selkeä käyttäjätarve, turvallinen käyttötapa ja riittävä ylläpitomalli.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Avoimien vastausten tarkistuslista: hakukentän peittyminen; paluu etusivun alkuun; Koti- ja Tekniikka-nimet; App Store; sähköpostivaihtoehdot; kaksi Kelataksi- ja Liikunta-polkua; Mäntsälän paikallisuutiset ja seniorisivut; eläkeläisyhdistysten suorat linkit; Kela/Omakanta; kotihoito; Mukanetin opastuspaikat.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mostImportantFix, missingFeature, missingService, missingLocalLink, unclearCategory, searchedFor.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Linkkikarsinta tehdään linkkikohtaisena päätöstaulukkona. Ehdotetut sarakkeet: linkki, käyttäjätarve, kohderyhmä, paikallisuus, päällekkäisyys, ajantasaisuus, päätös, omistaja.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Tekninen arvio: kiinnostusvalinta sopii nykyiseen rakenteeseen. Asetukset tallentuvat jo selaimeen, nykyinen esittely on vaiheistettu ja sisältö on ryhmitelty yhdeksään pääteemaan. Suositus on vapaaehtoinen korttivalinta ilman käyttäjätiliä tai suosittelualgoritmia.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C:/dev/Aloitussivu/App.tsx: uiVisibility-asetukset ja localStorage-tallennus.</a:t>
            </a:r>
          </a:p>
          <a:p xmlns:a="http://schemas.openxmlformats.org/drawingml/2006/main">
            <a:r>
              <a:t>- C:/dev/Aloitussivu/components/OnboardingTour.tsx: vaiheistettu esittelykierros.</a:t>
            </a:r>
          </a:p>
          <a:p xmlns:a="http://schemas.openxmlformats.org/drawingml/2006/main">
            <a:r>
              <a:t>- C:/dev/Aloitussivu/components/shortcutGroups.ts: yhdeksän pääteemaa.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Ehdotettu eteneminen: 1) rajaa ja korjaa ensijulkaisu, 2) tee kiinnostusvalinnan kevyt prototyyppi, 3) testaa 3–5 käyttäjällä, 4) tee päätös puuttuvien palautteiden ja pilotin jälkeen.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Käyttäjän tuoterajaus 11.8.2026: nimipäivät pois; tekoäly harkintaan; linkit ja avoimet asiat läpikäyntiin; kiinnostusvalinta arvioitavaksi.</a:t>
            </a:r>
          </a:p>
          <a:p xmlns:a="http://schemas.openxmlformats.org/drawingml/2006/main">
            <a:r>
              <a:t>- C:/dev/Aloitussivu/App.tsx: uiVisibility-asetukset ja localStorage-tallennus.</a:t>
            </a:r>
          </a:p>
          <a:p xmlns:a="http://schemas.openxmlformats.org/drawingml/2006/main">
            <a:r>
              <a:t>- C:/dev/Aloitussivu/components/OnboardingTour.tsx: vaiheistettu esittelykierros.</a:t>
            </a:r>
          </a:p>
          <a:p xmlns:a="http://schemas.openxmlformats.org/drawingml/2006/main">
            <a:r>
              <a:t>- C:/dev/Aloitussivu/components/shortcutGroups.ts: yhdeksän pääteemaa.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05e5ca6bd49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20e5e4ce14923" /><Relationship Type="http://schemas.openxmlformats.org/officeDocument/2006/relationships/slideLayout" Target="/ppt/slideLayouts/slideLayout1.xml" Id="Rf2250737d5e54a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50737d5e54a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30c2a3964e3b" /><Relationship Type="http://schemas.openxmlformats.org/officeDocument/2006/relationships/notesSlide" Target="/ppt/notesSlides/notesSlide1.xml" Id="Rab1fb58e8c45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7d2b5148d4915" /><Relationship Type="http://schemas.openxmlformats.org/officeDocument/2006/relationships/notesSlide" Target="/ppt/notesSlides/notesSlide2.xml" Id="R22fd71a338154e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5dbc173d34dd2" /><Relationship Type="http://schemas.openxmlformats.org/officeDocument/2006/relationships/notesSlide" Target="/ppt/notesSlides/notesSlide3.xml" Id="R7a1289127b2d4e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0dac9058e468b" /><Relationship Type="http://schemas.openxmlformats.org/officeDocument/2006/relationships/notesSlide" Target="/ppt/notesSlides/notesSlide4.xml" Id="R9bab27b4bbfa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d884932c4ba6" /><Relationship Type="http://schemas.openxmlformats.org/officeDocument/2006/relationships/chart" Target="/ppt/slides/charts/chart1.xml" Id="R36be376e1b1f4708" /><Relationship Type="http://schemas.openxmlformats.org/officeDocument/2006/relationships/notesSlide" Target="/ppt/notesSlides/notesSlide5.xml" Id="R69f8c285382c4d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c13fa9f3c4a7e" /><Relationship Type="http://schemas.openxmlformats.org/officeDocument/2006/relationships/notesSlide" Target="/ppt/notesSlides/notesSlide6.xml" Id="Rdddc7b4bb94c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a12083a64466" /><Relationship Type="http://schemas.openxmlformats.org/officeDocument/2006/relationships/notesSlide" Target="/ppt/notesSlides/notesSlide7.xml" Id="Rfcb2dca6a7ac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12fe43be8443e" /><Relationship Type="http://schemas.openxmlformats.org/officeDocument/2006/relationships/notesSlide" Target="/ppt/notesSlides/notesSlide8.xml" Id="R892c7744aca8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4d5ae4f9452e" /><Relationship Type="http://schemas.openxmlformats.org/officeDocument/2006/relationships/notesSlide" Target="/ppt/notesSlides/notesSlide9.xml" Id="Re2d2dd14d0f3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95ceda494af3" /><Relationship Type="http://schemas.openxmlformats.org/officeDocument/2006/relationships/notesSlide" Target="/ppt/notesSlides/notesSlide10.xml" Id="R1c29dd051e2b4a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Tarpeellisuus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Nimipäivät</c:v>
              </c:pt>
              <c:pt idx="1">
                <c:v>Suosikit</c:v>
              </c:pt>
              <c:pt idx="2">
                <c:v>Paikallisuut.</c:v>
              </c:pt>
              <c:pt idx="3">
                <c:v>Kategoriahaku</c:v>
              </c:pt>
              <c:pt idx="4">
                <c:v>Sää</c:v>
              </c:pt>
              <c:pt idx="5">
                <c:v>Lähelläsi</c:v>
              </c:pt>
              <c:pt idx="6">
                <c:v>Tekoälyavust.</c:v>
              </c:pt>
              <c:pt idx="7">
                <c:v>Huijausvaroit.</c:v>
              </c:pt>
              <c:pt idx="8">
                <c:v>Internet-haku</c:v>
              </c:pt>
            </c:strLit>
          </c:cat>
          <c:val>
            <c:numLit>
              <c:formatCode>General</c:formatCode>
              <c:ptCount val="9"/>
              <c:pt idx="0">
                <c:v>2.3</c:v>
              </c:pt>
              <c:pt idx="1">
                <c:v>3</c:v>
              </c:pt>
              <c:pt idx="2">
                <c:v>4</c:v>
              </c:pt>
              <c:pt idx="3">
                <c:v>4</c:v>
              </c:pt>
              <c:pt idx="4">
                <c:v>4.3</c:v>
              </c:pt>
              <c:pt idx="5">
                <c:v>4.3</c:v>
              </c:pt>
              <c:pt idx="6">
                <c:v>4.3</c:v>
              </c:pt>
              <c:pt idx="7">
                <c:v>4.7</c:v>
              </c:pt>
              <c:pt idx="8">
                <c:v>4.7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8E4EF97-B953-4EC3-87A1-07F9FEE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ALOITUSSIVU · TIIMIKOONTI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8DE084-C060-4EFE-8F5E-699D5B8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Testauspalaute</a:t>
            </a:r>
            <a:br/>
            <a: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 julkaisurajaus tarkentuu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CE297-7131-4A31-A1B8-0C7B830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620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Tilanne 11.8.2026 · 4/6 vastausta · julkaisurajaus</a:t>
            </a:r>
          </a:p>
        </p:txBody>
      </p:sp>
    </p:spTree>
    <p:extLst>
      <p:ext uri="{BB962C8B-B14F-4D97-AF65-F5344CB8AC3E}">
        <p14:creationId xmlns:p14="http://schemas.microsoft.com/office/powerpoint/2010/main" val="31640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Neljä vastausta vahvistaa suunnan</a:t>
            </a:r>
          </a:p>
        </p:txBody>
      </p:sp>
      <p:sp>
        <p:nvSpPr>
          <p:cNvPr id="3" name="status-subtitle">
            <a:extLst xmlns:a="http://schemas.openxmlformats.org/drawingml/2006/main"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Kaksi vastausta puuttuu vielä tavoitellusta kokonaisuudesta.</a:t>
            </a:r>
          </a:p>
        </p:txBody>
      </p:sp>
      <p:cxnSp>
        <p:nvCxnSpPr>
          <p:cNvPr id="33" name="status-line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tatus-node-1">
            <a:extLst xmlns:a="http://schemas.openxmlformats.org/drawingml/2006/main"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tus-node-2">
            <a:extLst xmlns:a="http://schemas.openxmlformats.org/drawingml/2006/main"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tatus-node-3">
            <a:extLst xmlns:a="http://schemas.openxmlformats.org/drawingml/2006/main"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SAATU</a:t>
            </a:r>
          </a:p>
        </p:txBody>
      </p:sp>
      <p:sp>
        <p:nvSpPr>
          <p:cNvPr id="9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67 % tavoitemäärästä.</a:t>
            </a:r>
            <a:br/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Kolme testasi puhelimella ja kaksi tietokoneella.</a:t>
            </a:r>
          </a:p>
        </p:txBody>
      </p:sp>
      <p:sp>
        <p:nvSpPr>
          <p:cNvPr id="1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AJALTA 3.–10.8.</a:t>
            </a:r>
          </a:p>
        </p:txBody>
      </p:sp>
      <p:sp>
        <p:nvSpPr>
          <p:cNvPr id="11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päivää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Vastaukset täydentävät puhelinnäkymää tietokonekokemuksilla.</a:t>
            </a:r>
          </a:p>
        </p:txBody>
      </p:sp>
      <p:sp>
        <p:nvSpPr>
          <p:cNvPr id="12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VIELÄ AVOINNA</a:t>
            </a:r>
          </a:p>
        </p:txBody>
      </p:sp>
      <p:sp>
        <p:nvSpPr>
          <p:cNvPr id="13" name="status-copy-3">
            <a:extLst xmlns:a="http://schemas.openxmlformats.org/drawingml/2006/main"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Priorisointi vahvistetaan, kun kaikki kuusi ovat vastanneet.</a:t>
            </a:r>
          </a:p>
        </p:txBody>
      </p:sp>
    </p:spTree>
    <p:extLst>
      <p:ext uri="{BB962C8B-B14F-4D97-AF65-F5344CB8AC3E}">
        <p14:creationId xmlns:p14="http://schemas.microsoft.com/office/powerpoint/2010/main" val="1517722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Kokonaiskuva pysyy vahvasti myönteisenä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Kaikki neljä suosittelisivat sivua, ja palvelut löytyivät vähintään osittain.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Tulokset ovat yhä suuntaa-antavia (n=4); kaikki käyttävät verkkoa usein.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Hyödyllisyys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4,0 / 5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Helppokäyttöisyys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Suosittelisi sivua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AFFE87E-5C4D-4C70-9F77-FB9A09E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ED7B2-3C3E-4089-9F1E-7BBEC23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Arvolupaus toimii — sisältö kaipaa karsimista</a:t>
            </a:r>
          </a:p>
        </p:txBody>
      </p:sp>
      <p:sp>
        <p:nvSpPr>
          <p:cNvPr id="3" name="voices-intro">
            <a:extLst xmlns:a="http://schemas.openxmlformats.org/drawingml/2006/main">
              <a:ext uri="{FF2B5EF4-FFF2-40B4-BE49-F238E27FC236}">
                <a16:creationId xmlns:a16="http://schemas.microsoft.com/office/drawing/2014/main" id="{D6847629-95FA-4D84-8666-27D9E3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Yhteen koottu tieto, selkeys ja muokattavuus saavat kiitosta.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Samalla kaksi neljästä kokee sivun liian täydeksi, etenkin tietokoneella.</a:t>
            </a:r>
          </a:p>
        </p:txBody>
      </p:sp>
      <p:sp>
        <p:nvSpPr>
          <p:cNvPr id="4" name="positive-voice-panel">
            <a:extLst xmlns:a="http://schemas.openxmlformats.org/drawingml/2006/main">
              <a:ext uri="{FF2B5EF4-FFF2-40B4-BE49-F238E27FC236}">
                <a16:creationId xmlns:a16="http://schemas.microsoft.com/office/drawing/2014/main" id="{029933CE-BFE9-442A-AF56-C5F2FC4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critical-voice-panel">
            <a:extLst xmlns:a="http://schemas.openxmlformats.org/drawingml/2006/main">
              <a:ext uri="{FF2B5EF4-FFF2-40B4-BE49-F238E27FC236}">
                <a16:creationId xmlns:a16="http://schemas.microsoft.com/office/drawing/2014/main" id="{63E89CA3-045F-4611-824D-22C2CA3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ositive-quote">
            <a:extLst xmlns:a="http://schemas.openxmlformats.org/drawingml/2006/main">
              <a:ext uri="{FF2B5EF4-FFF2-40B4-BE49-F238E27FC236}">
                <a16:creationId xmlns:a16="http://schemas.microsoft.com/office/drawing/2014/main" id="{53F7192A-F6E8-4B84-A3D2-D871D76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“Paljon tietoa yhdessä paikassa löydettävissä.”</a:t>
            </a:r>
          </a:p>
        </p:txBody>
      </p:sp>
      <p:sp>
        <p:nvSpPr>
          <p:cNvPr id="7" name="critical-quote">
            <a:extLst xmlns:a="http://schemas.openxmlformats.org/drawingml/2006/main">
              <a:ext uri="{FF2B5EF4-FFF2-40B4-BE49-F238E27FC236}">
                <a16:creationId xmlns:a16="http://schemas.microsoft.com/office/drawing/2014/main" id="{F6B3D5EF-249B-40B5-BFBD-CCE6E44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24250"/>
            <a:ext cx="4986909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“Onko jo liikaakin?”</a:t>
            </a:r>
          </a:p>
        </p:txBody>
      </p:sp>
      <p:sp>
        <p:nvSpPr>
          <p:cNvPr id="8" name="positive-detail">
            <a:extLst xmlns:a="http://schemas.openxmlformats.org/drawingml/2006/main">
              <a:ext uri="{FF2B5EF4-FFF2-40B4-BE49-F238E27FC236}">
                <a16:creationId xmlns:a16="http://schemas.microsoft.com/office/drawing/2014/main" id="{7EEFCB9A-3D4C-4108-8E82-A28FBA1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Kaikki suosittelisivat sivua. Tekstikoon säätö, muokattavat valikot, vaihtoehtoiset reitit ja mobiilikäyttö saivat kiitosta.</a:t>
            </a:r>
          </a:p>
        </p:txBody>
      </p:sp>
      <p:sp>
        <p:nvSpPr>
          <p:cNvPr id="9" name="critical-detail">
            <a:extLst xmlns:a="http://schemas.openxmlformats.org/drawingml/2006/main">
              <a:ext uri="{FF2B5EF4-FFF2-40B4-BE49-F238E27FC236}">
                <a16:creationId xmlns:a16="http://schemas.microsoft.com/office/drawing/2014/main" id="{01F07760-3EE3-4234-A088-EBB33FB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Kaksi valitsi tunteen ”liian täysi”. Kategoriat ja haku vaativat selkeyttä; tietokoneella hahmottaminen oli hitaampaa.</a:t>
            </a:r>
          </a:p>
        </p:txBody>
      </p:sp>
    </p:spTree>
    <p:extLst>
      <p:ext uri="{BB962C8B-B14F-4D97-AF65-F5344CB8AC3E}">
        <p14:creationId xmlns:p14="http://schemas.microsoft.com/office/powerpoint/2010/main" val="1904941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F7692B2-97C0-4581-ABCD-A6350A2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D5CF48-C8C8-48A2-94A0-7F58EE2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Toimintojen arviot · n=3</a:t>
            </a:r>
          </a:p>
        </p:txBody>
      </p:sp>
      <p:sp>
        <p:nvSpPr>
          <p:cNvPr id="3" name="feature-card-1">
            <a:extLst xmlns:a="http://schemas.openxmlformats.org/drawingml/2006/main">
              <a:ext uri="{FF2B5EF4-FFF2-40B4-BE49-F238E27FC236}">
                <a16:creationId xmlns:a16="http://schemas.microsoft.com/office/drawing/2014/main" id="{DC845994-7B87-4700-8EC5-48633F3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4" name="feature-card-copy-1">
            <a:extLst xmlns:a="http://schemas.openxmlformats.org/drawingml/2006/main">
              <a:ext uri="{FF2B5EF4-FFF2-40B4-BE49-F238E27FC236}">
                <a16:creationId xmlns:a16="http://schemas.microsoft.com/office/drawing/2014/main" id="{140CAC18-B48C-4C8A-80EC-681D4CD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943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4,7/5 · Kaksi toimintoa kärjessä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Internet-haku ja huijausvaroitukset.</a:t>
            </a:r>
          </a:p>
        </p:txBody>
      </p:sp>
      <p:sp>
        <p:nvSpPr>
          <p:cNvPr id="5" name="feature-card-2">
            <a:extLst xmlns:a="http://schemas.openxmlformats.org/drawingml/2006/main">
              <a:ext uri="{FF2B5EF4-FFF2-40B4-BE49-F238E27FC236}">
                <a16:creationId xmlns:a16="http://schemas.microsoft.com/office/drawing/2014/main" id="{0BD55868-94EC-43DC-BE5D-C6DE92A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6" name="feature-card-copy-2">
            <a:extLst xmlns:a="http://schemas.openxmlformats.org/drawingml/2006/main">
              <a:ext uri="{FF2B5EF4-FFF2-40B4-BE49-F238E27FC236}">
                <a16:creationId xmlns:a16="http://schemas.microsoft.com/office/drawing/2014/main" id="{B4B5EA42-60CF-4DCF-B467-8638EFF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509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4,3/5 · Tekoäly sai kiitosta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Ensijulkaisuun ottaminen on silti erillinen laajuuspäätös.</a:t>
            </a:r>
          </a:p>
        </p:txBody>
      </p:sp>
      <p:sp>
        <p:nvSpPr>
          <p:cNvPr id="7" name="feature-card-3">
            <a:extLst xmlns:a="http://schemas.openxmlformats.org/drawingml/2006/main">
              <a:ext uri="{FF2B5EF4-FFF2-40B4-BE49-F238E27FC236}">
                <a16:creationId xmlns:a16="http://schemas.microsoft.com/office/drawing/2014/main" id="{62185A87-6E57-4912-A407-C44E5C1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feature-card-copy-3">
            <a:extLst xmlns:a="http://schemas.openxmlformats.org/drawingml/2006/main">
              <a:ext uri="{FF2B5EF4-FFF2-40B4-BE49-F238E27FC236}">
                <a16:creationId xmlns:a16="http://schemas.microsoft.com/office/drawing/2014/main" id="{B6A3DB9C-FEBF-469A-B1CB-8FF35C7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77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2,3/5 · Nimipäivät pois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Matalin arvio ja ei ydintoiminto: jätetään ensimmäisestä julkaisusta.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8718" y="1238250"/>
          <a:ext xmlns:a="http://schemas.openxmlformats.org/drawingml/2006/main" cx="5334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be376e1b1f4708"/>
          </a:graphicData>
        </a:graphic>
      </p:graphicFrame>
      <p:sp>
        <p:nvSpPr>
          <p:cNvPr id="10" name="feature-chart-scale">
            <a:extLst xmlns:a="http://schemas.openxmlformats.org/drawingml/2006/main">
              <a:ext uri="{FF2B5EF4-FFF2-40B4-BE49-F238E27FC236}">
                <a16:creationId xmlns:a16="http://schemas.microsoft.com/office/drawing/2014/main" id="{D526FB49-153C-42B0-839E-D842936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60769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Asteikko 1–5</a:t>
            </a:r>
          </a:p>
        </p:txBody>
      </p:sp>
    </p:spTree>
    <p:extLst>
      <p:ext uri="{BB962C8B-B14F-4D97-AF65-F5344CB8AC3E}">
        <p14:creationId xmlns:p14="http://schemas.microsoft.com/office/powerpoint/2010/main" val="103355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Ensimmäinen julkaisu rajataan rohkeasti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Nimipäivät pois. Tekoälyavustaja tauolle ensimmäisestä julkaisusta.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Tekoäly palautetaan vain, jos käyttäjätarve ja turvallinen rooli varmistuvat.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Pois ennen julkaisua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Pidä ytimessä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nimipäivät</a:t>
            </a:r>
            <a:br/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tekoälyavustaja ensiversiosta</a:t>
            </a:r>
            <a:br/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virheelliset ja päällekkäiset linkit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internet-haku ja huijausvaroitukset</a:t>
            </a:r>
            <a:br/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sää ja paikalliset palvelut</a:t>
            </a:r>
            <a:br/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selkeä palveluhaku ja kategoriat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Avoimet asiat ratkaistaan ennen julkaisua</a:t>
            </a:r>
          </a:p>
        </p:txBody>
      </p:sp>
      <p:cxnSp>
        <p:nvCxnSpPr>
          <p:cNvPr id="30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Tekniset esteet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Korjaa hakukentän peittyminen ja paluu etusivun alkuun. Varmista toiminta ilman hiirtä.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KORJAA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Linkkien osuvuus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Tarkista Mukanet, Mäntsälän uutiset, senioripalvelut sekä päällekkäiset Liikunta- ja Kelataksi-polut.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TARKISTA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Sisältöpäätökset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Selkeytä Koti ja Tekniikka. Päätä App Store, sähköpostit, Kela/Omakanta, yhdistykset ja kotihoito.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PÄÄTÄ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Karsi linkit kolmella säännöllä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Jokainen linkki säilyy vain, jos se auttaa selvästi seniorin arjen tarpeessa.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Käsitelkää kaikki linkit yhteisessä taulukossa ennen julkaisua.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Säilytä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Poista tai yhdistä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suora ja ajantasainen kohde</a:t>
            </a:r>
            <a:br/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selvä hyöty seniorin arkeen</a:t>
            </a:r>
            <a:br/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yksi selkeä reitti per tarve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päällekkäinen tai epätarkka linkki</a:t>
            </a:r>
            <a:br/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yleinen sisältö ilman seniorihyötyä</a:t>
            </a:r>
            <a:br/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harvoin tarvittu yksityiskohta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Kiinnostusvalinta keventää näkymää</a:t>
            </a:r>
          </a:p>
        </p:txBody>
      </p:sp>
      <p:cxnSp>
        <p:nvCxnSpPr>
          <p:cNvPr id="30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Esittelyssä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Valitse 3–5 kiinnostavaa aihetta yhdeksästä teemasta. Valinta on vapaaehtoinen: Näytä kaikki.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VALITSE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Aloitussivulla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Näytä valitut teemat ensin. Haku ja kaikki kategoriat säilyvät aina käytettävissä.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· KÄYTÄ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Asetuksissa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Muuta kiinnostuksia milloin tahansa. Valinta tallennetaan vain käyttäjän omaan selaimeen.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· MUOKKAA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Rajaa nyt, pilotoi kiinnostusvalinta</a:t>
            </a:r>
          </a:p>
        </p:txBody>
      </p:sp>
      <p:cxnSp>
        <p:nvCxnSpPr>
          <p:cNvPr id="30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Ennen julkaisua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Poista nimipäivät ja tekoäly. Korjaa tekniset esteet ja käy linkit läpi päätössäännöillä.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NYT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Pieni pilotti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Lisää vapaaehtoinen kiinnostusvalinta esittelyyn ja asetuksiin. Testaa 3–5 käyttäjällä.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PILOTOI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Julkaisupäätös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Pidä oletusnäkymä yksinkertaisena. Päätä personoinnista puuttuvien vastausten ja pilotin jälkeen.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PÄÄTÄ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2026-08-11T07:53:36.8390000Z</dcterms:created>
  <dcterms:modified xsi:type="dcterms:W3CDTF">2026-08-11T07:53:36.8390000Z</dcterms:modified>
</coreProperties>
</file>