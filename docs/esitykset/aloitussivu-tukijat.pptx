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f8a3747f04a3e" /><Relationship Type="http://schemas.openxmlformats.org/officeDocument/2006/relationships/extended-properties" Target="/docProps/app.xml" Id="R4b7b771131594513" /><Relationship Type="http://schemas.openxmlformats.org/officeDocument/2006/relationships/officeDocument" Target="/ppt/presentation.xml" Id="R8d65b88c126f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6d80e525254298"/>
  </p:sldMasterIdLst>
  <p:notesMasterIdLst>
    <p:notesMasterId xmlns:r="http://schemas.openxmlformats.org/officeDocument/2006/relationships" r:id="Rf545cf45bff74537"/>
  </p:notesMasterIdLst>
  <p:sldIdLst>
    <p:sldId xmlns:r="http://schemas.openxmlformats.org/officeDocument/2006/relationships" id="256" r:id="Rb5322f8dac794a59"/>
    <p:sldId xmlns:r="http://schemas.openxmlformats.org/officeDocument/2006/relationships" id="257" r:id="R0875a825ca534459"/>
    <p:sldId xmlns:r="http://schemas.openxmlformats.org/officeDocument/2006/relationships" id="258" r:id="Rbcfeff39f78e42f5"/>
    <p:sldId xmlns:r="http://schemas.openxmlformats.org/officeDocument/2006/relationships" id="259" r:id="Re2a3859aec0e4489"/>
    <p:sldId xmlns:r="http://schemas.openxmlformats.org/officeDocument/2006/relationships" id="260" r:id="R47b05808e6084785"/>
    <p:sldId xmlns:r="http://schemas.openxmlformats.org/officeDocument/2006/relationships" id="261" r:id="R4acfa51de9694919"/>
    <p:sldId xmlns:r="http://schemas.openxmlformats.org/officeDocument/2006/relationships" id="262" r:id="Rffa92a0f6df740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d80e525254298" /><Relationship Type="http://schemas.openxmlformats.org/officeDocument/2006/relationships/theme" Target="/ppt/theme/theme1.xml" Id="R59ab45d956a84fee" /><Relationship Type="http://schemas.openxmlformats.org/officeDocument/2006/relationships/notesMaster" Target="/ppt/notesMasters/notesMaster1.xml" Id="Rf545cf45bff74537" /><Relationship Type="http://schemas.openxmlformats.org/officeDocument/2006/relationships/presProps" Target="/ppt/presProps.xml" Id="R46af8025e07c401d" /><Relationship Type="http://schemas.openxmlformats.org/officeDocument/2006/relationships/viewProps" Target="/ppt/viewProps.xml" Id="R1d575589beff4c28" /><Relationship Type="http://schemas.openxmlformats.org/officeDocument/2006/relationships/tableStyles" Target="/ppt/tableStyles.xml" Id="Reed5f8d7fc4849c5" /><Relationship Type="http://schemas.openxmlformats.org/officeDocument/2006/relationships/slide" Target="/ppt/slides/slide1.xml" Id="Rb5322f8dac794a59" /><Relationship Type="http://schemas.openxmlformats.org/officeDocument/2006/relationships/slide" Target="/ppt/slides/slide2.xml" Id="R0875a825ca534459" /><Relationship Type="http://schemas.openxmlformats.org/officeDocument/2006/relationships/slide" Target="/ppt/slides/slide3.xml" Id="Rbcfeff39f78e42f5" /><Relationship Type="http://schemas.openxmlformats.org/officeDocument/2006/relationships/slide" Target="/ppt/slides/slide4.xml" Id="Re2a3859aec0e4489" /><Relationship Type="http://schemas.openxmlformats.org/officeDocument/2006/relationships/slide" Target="/ppt/slides/slide5.xml" Id="R47b05808e6084785" /><Relationship Type="http://schemas.openxmlformats.org/officeDocument/2006/relationships/slide" Target="/ppt/slides/slide6.xml" Id="R4acfa51de9694919" /><Relationship Type="http://schemas.openxmlformats.org/officeDocument/2006/relationships/slide" Target="/ppt/slides/slide7.xml" Id="Rffa92a0f6df7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80f10dd1fe45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4c06179f154162" /><Relationship Type="http://schemas.openxmlformats.org/officeDocument/2006/relationships/notesMaster" Target="/ppt/notesMasters/notesMaster1.xml" Id="Rf24d1d46d07841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f0f14536f4c6d" /><Relationship Type="http://schemas.openxmlformats.org/officeDocument/2006/relationships/notesMaster" Target="/ppt/notesMasters/notesMaster1.xml" Id="R384ff9fb6ef0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a89e40ff74cfb" /><Relationship Type="http://schemas.openxmlformats.org/officeDocument/2006/relationships/notesMaster" Target="/ppt/notesMasters/notesMaster1.xml" Id="R4c887e193f9743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b86042f95e4a48" /><Relationship Type="http://schemas.openxmlformats.org/officeDocument/2006/relationships/notesMaster" Target="/ppt/notesMasters/notesMaster1.xml" Id="R94e6ec2e72334e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3ce47a5b59496b" /><Relationship Type="http://schemas.openxmlformats.org/officeDocument/2006/relationships/notesMaster" Target="/ppt/notesMasters/notesMaster1.xml" Id="Rab117beb307444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231b4036d4f8d" /><Relationship Type="http://schemas.openxmlformats.org/officeDocument/2006/relationships/notesMaster" Target="/ppt/notesMasters/notesMaster1.xml" Id="R2720936113cc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e387e9a0b4455d" /><Relationship Type="http://schemas.openxmlformats.org/officeDocument/2006/relationships/notesMaster" Target="/ppt/notesMasters/notesMaster1.xml" Id="Red67ce8e2cbf44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97dd86a0f4e6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2660aca8a94fd3" /><Relationship Type="http://schemas.openxmlformats.org/officeDocument/2006/relationships/slideLayout" Target="/ppt/slideLayouts/slideLayout2.xml" Id="Rfb3f496a386541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f496a386541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bdab846a4453f" /><Relationship Type="http://schemas.openxmlformats.org/officeDocument/2006/relationships/notesSlide" Target="/ppt/notesSlides/notesSlide1.xml" Id="R78da5b4e6a53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9f6248ee64b3e" /><Relationship Type="http://schemas.openxmlformats.org/officeDocument/2006/relationships/notesSlide" Target="/ppt/notesSlides/notesSlide2.xml" Id="R0248c7ab37a5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703a1e80fc4220" /><Relationship Type="http://schemas.openxmlformats.org/officeDocument/2006/relationships/notesSlide" Target="/ppt/notesSlides/notesSlide3.xml" Id="R7293d02c274d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b40de0bbf478a" /><Relationship Type="http://schemas.openxmlformats.org/officeDocument/2006/relationships/notesSlide" Target="/ppt/notesSlides/notesSlide4.xml" Id="Ra52179abca1a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4032694664307" /><Relationship Type="http://schemas.openxmlformats.org/officeDocument/2006/relationships/notesSlide" Target="/ppt/notesSlides/notesSlide5.xml" Id="R53468ceb97e1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2790045c64c9c" /><Relationship Type="http://schemas.openxmlformats.org/officeDocument/2006/relationships/notesSlide" Target="/ppt/notesSlides/notesSlide6.xml" Id="Rf98175a1f874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4ef380d394894" /><Relationship Type="http://schemas.openxmlformats.org/officeDocument/2006/relationships/notesSlide" Target="/ppt/notesSlides/notesSlide7.xml" Id="R077e8983ee924567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D02863F4-69AD-46FC-BF56-4A068BD4E6CF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8B22BCA2-CF7F-4267-B56A-B622F0502EF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E444905C-0075-47E6-96B5-DAEDB9B84CA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079E9E1E-191F-4769-BB54-58FF709782E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Tiimi ja johtoryhmä · päätöskeskustelu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75E137E9-147B-4020-B4B1-366D25A237A5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CA36E9C-A5B6-4D5B-B097-A41AA6901D8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76300"/>
            <ns1:ext cx="66675" cy="14668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F9B9A3C1-9B02-4331-A5E6-D659668970B5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914400"/>
            <ns1:ext cx="5334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18D1626-DCDB-4254-855A-4D6585E2C942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409700"/>
            <ns1:ext cx="7429500" cy="1466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1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31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Tukijat kannattaa valita luottamuksen ehdoilla, ei näkyvyyden maksimoinnilla.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50480FE-CC39-4968-97BE-964EDDD701C0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143250"/>
            <ns1:ext cx="6477000" cy="723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0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Tiivis esitys tiimille ja johtoryhmälle: miksi tukijoita tarvitaan, ketkä sopivat mukaan, mitä rajataan pois ja miten päätös tehdään läpinäkyvästi.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085A948-6387-46F9-944B-C08464BEB2F1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990600"/>
            <ns1:ext cx="2743200" cy="342900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F25F2EFB-A81D-4041-8B07-0D383118F386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1352550"/>
            <ns1:ext cx="21717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8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Päätös ei ole: otetaanko mainoksia.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C1484526-80FE-44C4-BE6C-C346ED33364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2152650"/>
            <ns1:ext cx="2114550" cy="190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7FE93602-BB99-4A11-B219-79DA973A02A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2476500"/>
            <ns1:ext cx="2171700" cy="1104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EAF2F8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EAF2F8"/>
                </ns1:solidFill>
                <ns1:latin typeface="Aptos"/>
                <ns1:ea typeface="Aptos"/>
                <ns1:cs typeface="Aptos"/>
              </ns1:rPr>
              <ns1:t>Päätös on: millä ehdoilla ulkopuolinen tuki voi vahvistaa palvelua ilman, että käyttäjän luottamus tai sivun puolueettomuus heikkenee.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E943921-9E15-49A8-B8E1-A7393A138898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572000"/>
            <ns1:ext cx="1314450" cy="3238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D1C139AB-8EFD-4392-BF02-318E4B580044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4648200"/>
            <ns1:ext cx="10477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johtoryhmä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608A678B-DF2F-4B93-86DD-BFAF9E25ED28}"/>
              </ns1:ext>
            </ns1:extLst>
          </ns0:cNvPr>
          <ns0:cNvSpPr>
            <ns1:spLocks noGrp="1"/>
          </ns0:cNvSpPr>
          <ns0:nvPr/>
        </ns0:nvSpPr>
        <ns0:spPr>
          <ns1:xfrm>
            <ns1:off x="2343150" y="4572000"/>
            <ns1:ext cx="819150" cy="323850"/>
          </ns1:xfrm>
          <ns1:prstGeom prst="rect">
            <ns1:avLst/>
          </ns1:prstGeom>
          <ns1:solidFill>
            <ns1:srgbClr val="2C638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98A25251-9063-4555-8979-9E0002CA853C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4648200"/>
            <ns1:ext cx="5524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tiimi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344E8824-240A-41B1-A6F2-87BB4FF94B21}"/>
              </ns1:ext>
            </ns1:extLst>
          </ns0:cNvPr>
          <ns0:cNvSpPr>
            <ns1:spLocks noGrp="1"/>
          </ns0:cNvSpPr>
          <ns0:nvPr/>
        </ns0:nvSpPr>
        <ns0:spPr>
          <ns1:xfrm>
            <ns1:off x="3314700" y="4572000"/>
            <ns1:ext cx="1809750" cy="323850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ED5AF96E-147E-4B39-935E-E1F3FD4F94EA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4648200"/>
            <ns1:ext cx="154305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tukijaperiaatteet</ns1:t>
            </ns1:r>
          </ns1:p>
        </ns0:txBody>
      </ns0:sp>
    </ns0:spTree>
    <ns0:extLst>
      <ns0:ext uri="{BB962C8B-B14F-4D97-AF65-F5344CB8AC3E}">
        <ns3:creationId val="1526043265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4444A6CD-1353-4276-80F5-B2D5D511122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EA8C2DF0-D737-44CC-A19D-88FC45F322A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C0B0436B-295D-4AD1-A0F5-B9B40C9F35A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0ABCE3BA-2008-4D89-AEAD-C3E94D2DC90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 · tukijat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89B36D4-F1AF-4A46-9505-848CEE9CC213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02</ns1:t>
            </ns1:r>
          </ns1:p>
        </ns0:txBody>
      </ns0:sp>
      <ns0:sp>
        <ns0:nvSpPr>
          <ns0:cNvPr id="6" name="kicker-marker">
            <ns1:extLst>
              <ns1:ext uri="{FF2B5EF4-FFF2-40B4-BE49-F238E27FC236}">
                <ns2:creationId id="{126225A3-7D18-4726-BCCA-9AD9FA2159F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2450"/>
            <ns1:ext cx="95250" cy="952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kicker-label">
            <ns1:extLst>
              <ns1:ext uri="{FF2B5EF4-FFF2-40B4-BE49-F238E27FC236}">
                <ns2:creationId id="{549CAE8D-BD79-4563-BDDF-5318EA230693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14350"/>
            <ns1:ext cx="3429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MIKSI NYT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B96EF589-25C6-448B-A51B-616965AAEB3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8200"/>
            <ns1:ext cx="9144000" cy="8382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Tukijamalli ratkaisee ylläpidon jatkuvuutta, mutta voi myös murentaa luottamusta.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892A857-2F74-4445-B37F-507BDCEF30C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266950"/>
            <ns1:ext cx="876300" cy="685800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30602999-A4CE-4183-B4CB-4BCDD415B04F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2428875"/>
            <ns1:ext cx="457200" cy="304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01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DAB8395-3728-4317-899C-641A9450F5A2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2266950"/>
            <ns1:ext cx="29527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Mitä tuki mahdollistaa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8791C071-F85C-4A46-9FDB-5F4B1FA8DBDC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2628900"/>
            <ns1:ext cx="723900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Linkkien tarkistus, huijausvaroitusten seuranta, palautteiden käsittely ja käyttöönoton viestintä.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4A6F083-3588-4F28-9151-A1A4B5E998A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390900"/>
            <ns1:ext cx="876300" cy="685800"/>
          </ns1:xfrm>
          <ns1:prstGeom prst="rect">
            <ns1:avLst/>
          </ns1:prstGeom>
          <ns1:solidFill>
            <ns1:srgbClr val="A85F3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614E8BDA-5AEA-4A38-BB7C-D235347C8D48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3552825"/>
            <ns1:ext cx="457200" cy="304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02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D815B7E0-7B11-40A9-BA81-6509D504B9ED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3390900"/>
            <ns1:ext cx="29527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Mikä tekee tästä herkkää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3FE7EE4E-5F33-4723-8DEE-A35132401EC4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3752850"/>
            <ns1:ext cx="723900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Kohderyhmä on luottamukselle altis: pienikin epäselvä kaupallinen ohjaus heikentää palvelun uskottavuutta.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9DDEC09E-CE84-4318-9E27-62CBB72E6B4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514850"/>
            <ns1:ext cx="876300" cy="68580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C2295A50-6951-4F28-965F-5F1D8D54598A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4676775"/>
            <ns1:ext cx="457200" cy="304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9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03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17C5DE5E-1064-4091-B572-49621444C307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4514850"/>
            <ns1:ext cx="29527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5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Mikä pitää säilyttää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9A253D41-8A9A-448B-94E2-BC6F8F2E8CCD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4876800"/>
            <ns1:ext cx="723900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Linkkien valinta, järjestys ja sanamuodot eivät saa muuttua tukijan intressin mukaan.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206CC8E-1ABA-4C7B-84AD-6AC9DB404BC5}"/>
              </ns1:ext>
            </ns1:extLst>
          </ns0:cNvPr>
          <ns0:cNvSpPr>
            <ns1:spLocks noGrp="1"/>
          </ns0:cNvSpPr>
          <ns0:nvPr/>
        </ns0:nvSpPr>
        <ns0:spPr>
          <ns1:xfrm>
            <ns1:off x="9658350" y="2362200"/>
            <ns1:ext cx="1352550" cy="2705100"/>
          </ns1:xfrm>
          <ns1:prstGeom prst="rect">
            <ns1:avLst/>
          </ns1:prstGeom>
          <ns1:solidFill>
            <ns1:srgbClr val="E6EDF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651A8739-F5AA-4940-B31E-4FB11E6C1A58}"/>
              </ns1:ext>
            </ns1:extLst>
          </ns0:cNvPr>
          <ns0:cNvSpPr>
            <ns1:spLocks noGrp="1"/>
          </ns0:cNvSpPr>
          <ns0:nvPr/>
        </ns0:nvSpPr>
        <ns0:spPr>
          <ns1:xfrm>
            <ns1:off x="9829800" y="2571750"/>
            <ns1:ext cx="1028700" cy="342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Johtoryhmän rooli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82E59BDF-9038-43BA-9637-8FE83CB650A1}"/>
              </ns1:ext>
            </ns1:extLst>
          </ns0:cNvPr>
          <ns0:cNvSpPr>
            <ns1:spLocks noGrp="1"/>
          </ns0:cNvSpPr>
          <ns0:nvPr/>
        </ns0:nvSpPr>
        <ns0:spPr>
          <ns1:xfrm>
            <ns1:off x="9829800" y="3219450"/>
            <ns1:ext cx="1028700" cy="11049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73E5F"/>
                </ns1:solidFill>
                <ns1:latin typeface="Georgia"/>
                <ns1:ea typeface="Georgia"/>
                <ns1:cs typeface="Georgia"/>
              </ns1:defRPr>
            </ns1:pPr>
            <ns1:r>
              <ns1:rPr sz="1350" b="1">
                <ns1:solidFill>
                  <ns1:srgbClr val="173E5F"/>
                </ns1:solidFill>
                <ns1:latin typeface="Georgia"/>
                <ns1:ea typeface="Georgia"/>
                <ns1:cs typeface="Georgia"/>
              </ns1:rPr>
              <ns1:t>päättää rajat ennen ensimmäistä ulkopuolista tukijaa</ns1:t>
            </ns1:r>
          </ns1:p>
        </ns0:txBody>
      </ns0:sp>
    </ns0:spTree>
    <ns0:extLst>
      <ns0:ext uri="{BB962C8B-B14F-4D97-AF65-F5344CB8AC3E}">
        <ns3:creationId val="127196227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07D3D03B-DFA7-4BB9-8354-7A0A50BB698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B51CAE34-2054-4671-A605-FC4001850C6B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2BD1655E-A2D3-4945-8CA9-0072D423F57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7E72BED7-7EEA-41F5-86D8-94C25E1C6DF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 · tukijat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0CBE328-A4E0-445E-85C1-99D80D8FA8C4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03</ns1:t>
            </ns1:r>
          </ns1:p>
        </ns0:txBody>
      </ns0:sp>
      <ns0:sp>
        <ns0:nvSpPr>
          <ns0:cNvPr id="6" name="kicker-marker">
            <ns1:extLst>
              <ns1:ext uri="{FF2B5EF4-FFF2-40B4-BE49-F238E27FC236}">
                <ns2:creationId id="{CB803766-1A87-4F5B-9B3B-2C6C96BB835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2450"/>
            <ns1:ext cx="95250" cy="952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kicker-label">
            <ns1:extLst>
              <ns1:ext uri="{FF2B5EF4-FFF2-40B4-BE49-F238E27FC236}">
                <ns2:creationId id="{476A4F31-9125-44F0-B977-63932DF6E4FA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14350"/>
            <ns1:ext cx="3429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TUKIJAKARTTA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9FFE6B23-E6C1-4F49-8DF8-874BE7DB2F9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8200"/>
            <ns1:ext cx="8858250" cy="819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Turvallisin aloitus on julkishyödyllisissä ja opastusta vahvistavissa tukijoissa.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1296B2D-F05E-4987-8576-CD29743D2717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266950"/>
            <ns1:ext cx="3143250" cy="2952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C60EBC5A-8CCE-4342-AEDB-2F930F262396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266950"/>
            <ns1:ext cx="3143250" cy="552450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8573C51A-29E7-4FB7-BDD4-EE7A473768C2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2428875"/>
            <ns1:ext cx="26860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5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Ensisijaiset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9B67B684-74CB-4754-8562-D865FF7D13D5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3152775"/>
            <ns1:ext cx="66675" cy="66675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B0B5288F-F11B-495C-A22C-83E1DFE33462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31051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säätiöt ja rahastot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B08C95A-BB7B-40EC-9A7D-07AD664EFF79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3609975"/>
            <ns1:ext cx="66675" cy="66675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164D2C23-5919-45DC-8D0B-708F63895C03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35623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kirjastot ja kunnat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5FE744E-F29E-4340-93B6-F90261671B9D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4067175"/>
            <ns1:ext cx="66675" cy="66675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017B1D77-3060-4031-9F44-FB3273D1572E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40195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eläkeläis- ja potilasjärjestöt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4D876009-1C36-4A8D-B306-5F8CC3C664E7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4524375"/>
            <ns1:ext cx="66675" cy="66675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9B95D079-A178-48A4-870C-061BD403B750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44767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digiosallisuuden toimijat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144D2E4-6571-4E01-8ACF-E868A6EE6E85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2266950"/>
            <ns1:ext cx="3143250" cy="2952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4E1D0D2F-91E9-4E38-89AE-60CCE50A1D2F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2266950"/>
            <ns1:ext cx="3143250" cy="5524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25138B62-9E3D-4B13-8E92-1BA87F8C11E1}"/>
              </ns1:ext>
            </ns1:extLst>
          </ns0:cNvPr>
          <ns0:cNvSpPr>
            <ns1:spLocks noGrp="1"/>
          </ns0:cNvSpPr>
          <ns0:nvPr/>
        </ns0:nvSpPr>
        <ns0:spPr>
          <ns1:xfrm>
            <ns1:off x="4686300" y="2428875"/>
            <ns1:ext cx="26860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50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Mahdolliset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4C2C4D3B-41C4-46F6-A054-A956B54B8A80}"/>
              </ns1:ext>
            </ns1:extLst>
          </ns0:cNvPr>
          <ns0:cNvSpPr>
            <ns1:spLocks noGrp="1"/>
          </ns0:cNvSpPr>
          <ns0:nvPr/>
        </ns0:nvSpPr>
        <ns0:spPr>
          <ns1:xfrm>
            <ns1:off x="4743450" y="3152775"/>
            <ns1:ext cx="66675" cy="666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9B6BB3D8-A0F3-418D-A64A-0F2354D399DC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31051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eettisesti sopivat yritykset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AC24D7EB-2ADD-4093-8658-FA48D9AAC979}"/>
              </ns1:ext>
            </ns1:extLst>
          </ns0:cNvPr>
          <ns0:cNvSpPr>
            <ns1:spLocks noGrp="1"/>
          </ns0:cNvSpPr>
          <ns0:nvPr/>
        </ns0:nvSpPr>
        <ns0:spPr>
          <ns1:xfrm>
            <ns1:off x="4743450" y="3609975"/>
            <ns1:ext cx="66675" cy="666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61B3F72B-5FB7-4207-9101-36B8069BB069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35623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pankit ja operaattorit vain tiukoin rajoin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B703945C-2E24-4D15-BEAC-3B53473928FB}"/>
              </ns1:ext>
            </ns1:extLst>
          </ns0:cNvPr>
          <ns0:cNvSpPr>
            <ns1:spLocks noGrp="1"/>
          </ns0:cNvSpPr>
          <ns0:nvPr/>
        </ns0:nvSpPr>
        <ns0:spPr>
          <ns1:xfrm>
            <ns1:off x="4743450" y="4067175"/>
            <ns1:ext cx="66675" cy="666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BBF06464-D6BD-4501-94CB-68C0866A7852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40195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paikallismediat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2E551475-70BD-4F3E-A7DE-3614F79938FA}"/>
              </ns1:ext>
            </ns1:extLst>
          </ns0:cNvPr>
          <ns0:cNvSpPr>
            <ns1:spLocks noGrp="1"/>
          </ns0:cNvSpPr>
          <ns0:nvPr/>
        </ns0:nvSpPr>
        <ns0:spPr>
          <ns1:xfrm>
            <ns1:off x="4743450" y="4524375"/>
            <ns1:ext cx="66675" cy="666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C52FE99D-058F-433F-BC0F-6320C17D8137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44767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tekniset kumppanit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6C0A43D0-4D7C-40D8-9E8F-914022B229C3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266950"/>
            <ns1:ext cx="3143250" cy="2952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32" name="">
            <ns1:extLst>
              <ns1:ext uri="{FF2B5EF4-FFF2-40B4-BE49-F238E27FC236}">
                <ns2:creationId id="{294AEDFB-7E13-4756-84F1-2C3471064C0B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266950"/>
            <ns1:ext cx="3143250" cy="552450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A66DA659-12A0-4BF1-B4D6-838708CFFAF8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428875"/>
            <ns1:ext cx="26860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5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Ei mukaan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D8539CB2-F4B8-4F65-A52D-5C75845345C4}"/>
              </ns1:ext>
            </ns1:extLst>
          </ns0:cNvPr>
          <ns0:cNvSpPr>
            <ns1:spLocks noGrp="1"/>
          </ns0:cNvSpPr>
          <ns0:nvPr/>
        </ns0:nvSpPr>
        <ns0:spPr>
          <ns1:xfrm>
            <ns1:off x="8420100" y="3152775"/>
            <ns1:ext cx="66675" cy="66675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5" name="">
            <ns1:extLst>
              <ns1:ext uri="{FF2B5EF4-FFF2-40B4-BE49-F238E27FC236}">
                <ns2:creationId id="{6DCE085B-40DB-4F94-8425-A836A6C50DE5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31051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aggressiivinen myynti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685B6087-7DA2-483C-935E-164A7BEC51F9}"/>
              </ns1:ext>
            </ns1:extLst>
          </ns0:cNvPr>
          <ns0:cNvSpPr>
            <ns1:spLocks noGrp="1"/>
          </ns0:cNvSpPr>
          <ns0:nvPr/>
        </ns0:nvSpPr>
        <ns0:spPr>
          <ns1:xfrm>
            <ns1:off x="8420100" y="3609975"/>
            <ns1:ext cx="66675" cy="66675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B02DF52B-982F-420D-81A4-EEDAE8331AA9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35623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kulutusluotto- ja pelitoimijat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FEE99456-6B3F-4B8C-A057-223E4DFAE363}"/>
              </ns1:ext>
            </ns1:extLst>
          </ns0:cNvPr>
          <ns0:cNvSpPr>
            <ns1:spLocks noGrp="1"/>
          </ns0:cNvSpPr>
          <ns0:nvPr/>
        </ns0:nvSpPr>
        <ns0:spPr>
          <ns1:xfrm>
            <ns1:off x="8420100" y="4067175"/>
            <ns1:ext cx="66675" cy="66675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B1390B48-20E0-47DE-9F19-2919DFE5B777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40195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terveysväitteet ilman näyttöä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256D901A-16CE-4214-A25D-F3A637009CCE}"/>
              </ns1:ext>
            </ns1:extLst>
          </ns0:cNvPr>
          <ns0:cNvSpPr>
            <ns1:spLocks noGrp="1"/>
          </ns0:cNvSpPr>
          <ns0:nvPr/>
        </ns0:nvSpPr>
        <ns0:spPr>
          <ns1:xfrm>
            <ns1:off x="8420100" y="4524375"/>
            <ns1:ext cx="66675" cy="66675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1" name="">
            <ns1:extLst>
              <ns1:ext uri="{FF2B5EF4-FFF2-40B4-BE49-F238E27FC236}">
                <ns2:creationId id="{C83499F2-3D50-4994-8966-506917970BBF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4476750"/>
            <ns1:ext cx="2286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seurantamainonta tai profilointi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7B91FE8F-116C-462E-A695-1CF0D8CE9A60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5581650"/>
            <ns1:ext cx="9144000" cy="304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73E5F"/>
                </ns1:solidFill>
                <ns1:latin typeface="Georgia"/>
                <ns1:ea typeface="Georgia"/>
                <ns1:cs typeface="Georgia"/>
              </ns1:defRPr>
            </ns1:pPr>
            <ns1:r>
              <ns1:rPr sz="1350" b="1">
                <ns1:solidFill>
                  <ns1:srgbClr val="173E5F"/>
                </ns1:solidFill>
                <ns1:latin typeface="Georgia"/>
                <ns1:ea typeface="Georgia"/>
                <ns1:cs typeface="Georgia"/>
              </ns1:rPr>
              <ns1:t>Suositus: aloitetaan ensisijaisista tukijoista ja tehdään yritysyhteistyöstä erillinen, tiukemmin arvioitu vaihe.</ns1:t>
            </ns1:r>
          </ns1:p>
        </ns0:txBody>
      </ns0:sp>
    </ns0:spTree>
    <ns0:extLst>
      <ns0:ext uri="{BB962C8B-B14F-4D97-AF65-F5344CB8AC3E}">
        <ns3:creationId val="563901537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B3317909-E367-4E2E-B18C-B53426B7BF0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B2A46E84-EF06-483F-939A-E536F56E7A5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74306AFD-BFC8-41AA-9E7F-783C07382E1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DA9A4181-5D77-436B-B82B-2856A8AB847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 · tukijat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FCD480C-9175-40D3-AE8A-B6ABCB3C56DF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04</ns1:t>
            </ns1:r>
          </ns1:p>
        </ns0:txBody>
      </ns0:sp>
      <ns0:sp>
        <ns0:nvSpPr>
          <ns0:cNvPr id="6" name="kicker-marker">
            <ns1:extLst>
              <ns1:ext uri="{FF2B5EF4-FFF2-40B4-BE49-F238E27FC236}">
                <ns2:creationId id="{E61C59BA-714C-4763-80D4-96BCAED2A51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2450"/>
            <ns1:ext cx="95250" cy="952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kicker-label">
            <ns1:extLst>
              <ns1:ext uri="{FF2B5EF4-FFF2-40B4-BE49-F238E27FC236}">
                <ns2:creationId id="{934D17FE-F924-4482-8035-624595F90D1E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14350"/>
            <ns1:ext cx="3429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VALINTAMALLI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9393B822-79DF-41E1-BFE7-3F848C73A4F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8200"/>
            <ns1:ext cx="9334500" cy="781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Tukija valitaan viiden kriteerin läpi, jotta päätös ei jää fiilikseksi.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3F2D752-3FAB-4400-B3B7-1F61FA2626C6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2000250"/>
            <ns1:ext cx="400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1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15C09F4-4B1C-4178-924B-3AE218F137E3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2190750"/>
            <ns1:ext cx="1181100" cy="190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6E5C7D65-5D46-4584-89C8-FC64497AE237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1981200"/>
            <ns1:ext cx="27622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Hyöty käyttäjälle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111A4A39-5478-4FA0-BB7A-10D7B294251F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2019300"/>
            <ns1:ext cx="42862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vahvistaa turvallista digiarjen aloitusta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7767CB4-7A1D-417F-B1E3-A4A8322E4DF0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2724150"/>
            <ns1:ext cx="400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100" b="1">
                <ns1:solidFill>
                  <ns1:srgbClr val="173E5F"/>
                </ns1:solidFill>
                <ns1:latin typeface="Georgia"/>
                <ns1:ea typeface="Georgia"/>
                <ns1:cs typeface="Georgia"/>
              </ns1:defRPr>
            </ns1:pPr>
            <ns1:r>
              <ns1:rPr sz="2100" b="1">
                <ns1:solidFill>
                  <ns1:srgbClr val="173E5F"/>
                </ns1:solidFill>
                <ns1:latin typeface="Georgia"/>
                <ns1:ea typeface="Georgia"/>
                <ns1:cs typeface="Georgia"/>
              </ns1:rPr>
              <ns1:t>2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04B43189-F57B-489E-900A-BE49966A807B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2914650"/>
            <ns1:ext cx="1181100" cy="190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2C06DCD3-4374-4E9E-9860-598DBFE3D7C9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2705100"/>
            <ns1:ext cx="27622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Luottamusriski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62C2C0AD-0A32-42E3-9A7B-7D3A40046E7F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2743200"/>
            <ns1:ext cx="42862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ei luo vaikutelmaa ostetusta suosituksesta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E7E6F853-EFED-4668-A6BF-100479D7268D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3448050"/>
            <ns1:ext cx="400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3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C4821DC7-0898-452B-BD55-B05643E1720F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3638550"/>
            <ns1:ext cx="1181100" cy="190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1EA21EC6-8107-4B1A-9F9A-6030A5019B6F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3429000"/>
            <ns1:ext cx="27622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Riippumattomuus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46273336-5501-4F27-9D8D-3FE4D22AD372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3467100"/>
            <ns1:ext cx="42862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ei vaikuta linkkeihin, järjestykseen tai sisältöihin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55990107-5908-47B4-A42C-9AED39084759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4171950"/>
            <ns1:ext cx="400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100" b="1">
                <ns1:solidFill>
                  <ns1:srgbClr val="173E5F"/>
                </ns1:solidFill>
                <ns1:latin typeface="Georgia"/>
                <ns1:ea typeface="Georgia"/>
                <ns1:cs typeface="Georgia"/>
              </ns1:defRPr>
            </ns1:pPr>
            <ns1:r>
              <ns1:rPr sz="2100" b="1">
                <ns1:solidFill>
                  <ns1:srgbClr val="173E5F"/>
                </ns1:solidFill>
                <ns1:latin typeface="Georgia"/>
                <ns1:ea typeface="Georgia"/>
                <ns1:cs typeface="Georgia"/>
              </ns1:rPr>
              <ns1:t>4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8991337D-C197-4BB8-9BB9-7D80F2E043EB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4362450"/>
            <ns1:ext cx="1181100" cy="190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AC9F954B-D11A-4F68-9C71-214DC95E74F5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4152900"/>
            <ns1:ext cx="27622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Tietosuoja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96C8B11F-0E8B-4FE9-957D-21EDD2F9B0E4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4191000"/>
            <ns1:ext cx="42862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ei seurantapikseleitä, profilointia tai piilomarkkinointia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BB613F1C-C6DB-40DC-9B46-658B9450BF5D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4895850"/>
            <ns1:ext cx="400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10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5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9F51C646-72E3-42DE-9D15-A42DA265DE77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5086350"/>
            <ns1:ext cx="1181100" cy="190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6FE70AB4-F23F-4573-B4E3-AD0295268554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4876800"/>
            <ns1:ext cx="27622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6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Ylläpidettävyys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7BC9259F-0CC4-4608-BD7E-5EFB916AC9EB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4914900"/>
            <ns1:ext cx="428625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sopimus, merkintä ja vuosittainen tarkistus ovat kevyitä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D40BDBB8-F13F-450E-86F4-7ECACC3105EC}"/>
              </ns1:ext>
            </ns1:extLst>
          </ns0:cNvPr>
          <ns0:cNvSpPr>
            <ns1:spLocks noGrp="1"/>
          </ns0:cNvSpPr>
          <ns0:nvPr/>
        </ns0:nvSpPr>
        <ns0:spPr>
          <ns1:xfrm>
            <ns1:off x="7886700" y="5219700"/>
            <ns1:ext cx="2819400" cy="5143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A7C3F4DF-D22E-4482-9340-0ABAB98A9BE7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5362575"/>
            <ns1:ext cx="23241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Jos yksi kriteeri pettää, tukija ei sovi mukaan.</ns1:t>
            </ns1:r>
          </ns1:p>
        </ns0:txBody>
      </ns0:sp>
    </ns0:spTree>
    <ns0:extLst>
      <ns0:ext uri="{BB962C8B-B14F-4D97-AF65-F5344CB8AC3E}">
        <ns3:creationId val="18681619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CA73D302-5D0D-40E4-AAAC-3ED413C38142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B841213F-3FCC-43E8-9028-DA20499B07E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99CB8584-EF26-4854-BEEB-403370D8905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456F2DA1-EA00-4F33-BE50-17F25C63930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 · tukijat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B0D8107-C0CB-4B37-A8D2-0C15AA587696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05</ns1:t>
            </ns1:r>
          </ns1:p>
        </ns0:txBody>
      </ns0:sp>
      <ns0:sp>
        <ns0:nvSpPr>
          <ns0:cNvPr id="6" name="kicker-marker">
            <ns1:extLst>
              <ns1:ext uri="{FF2B5EF4-FFF2-40B4-BE49-F238E27FC236}">
                <ns2:creationId id="{0A0C3958-1C38-4FFA-B660-E419C8281EB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2450"/>
            <ns1:ext cx="95250" cy="952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kicker-label">
            <ns1:extLst>
              <ns1:ext uri="{FF2B5EF4-FFF2-40B4-BE49-F238E27FC236}">
                <ns2:creationId id="{61B8DB15-2F08-4463-A3EE-33BDACEE4545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14350"/>
            <ns1:ext cx="3429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NÄKYVYYDEN RAJAT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27FDE63C-0598-41E3-93B6-A693A716952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8200"/>
            <ns1:ext cx="8382000" cy="781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70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270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Tukija saa näkyä, mutta ei saa ohjata käyttäjän polkua.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CE5FAB1-1DFF-4D0D-A331-C6A9F4F3682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476500"/>
            <ns1:ext cx="2800350" cy="1809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E86CFDB1-16F1-4031-AAA2-340F8806476D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2266950"/>
            <ns1:ext cx="876300" cy="419100"/>
          </ns1:xfrm>
          <ns1:prstGeom prst="rect">
            <ns1:avLst/>
          </ns1:prstGeom>
          <ns1:solidFill>
            <ns1:srgbClr val="2F7D6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5264DE23-F8BB-4F34-A2DF-25A612A6902E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2400300"/>
            <ns1:ext cx="6477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Sallitaan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BB10362-6A5F-4971-8398-8D3FF8413AB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2914650"/>
            <ns1:ext cx="2266950" cy="8001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Logo ja lyhyt teksti vain Sivua tukemassa -sivulla tai selvästi merkittynä tukijana.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BBA7FFD3-BCD7-4802-BC0F-499DB6598D94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2476500"/>
            <ns1:ext cx="2800350" cy="1809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BE4AEBDC-2A1E-42AC-8233-18599726A9CA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2266950"/>
            <ns1:ext cx="876300" cy="41910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DDAEA663-3567-4E4F-90CF-7450C588D4D2}"/>
              </ns1:ext>
            </ns1:extLst>
          </ns0:cNvPr>
          <ns0:cNvSpPr>
            <ns1:spLocks noGrp="1"/>
          </ns0:cNvSpPr>
          <ns0:nvPr/>
        </ns0:nvSpPr>
        <ns0:spPr>
          <ns1:xfrm>
            <ns1:off x="4629150" y="2400300"/>
            <ns1:ext cx="6477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102334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102334"/>
                </ns1:solidFill>
                <ns1:latin typeface="Aptos"/>
                <ns1:ea typeface="Aptos"/>
                <ns1:cs typeface="Aptos"/>
              </ns1:rPr>
              <ns1:t>Rajataan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730B979-6167-45DF-9D97-A0AD055DB0BE}"/>
              </ns1:ext>
            </ns1:extLst>
          </ns0:cNvPr>
          <ns0:cNvSpPr>
            <ns1:spLocks noGrp="1"/>
          </ns0:cNvSpPr>
          <ns0:nvPr/>
        </ns0:nvSpPr>
        <ns0:spPr>
          <ns1:xfrm>
            <ns1:off x="4591050" y="2914650"/>
            <ns1:ext cx="2266950" cy="8001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Mahdollinen linkki tukijan omalle sivulle, mutta ei etusivun priorisointia tai hakutulosten nostoa.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EA67D82-98DB-4EE5-8B21-4FB854A19905}"/>
              </ns1:ext>
            </ns1:extLst>
          </ns0:cNvPr>
          <ns0:cNvSpPr>
            <ns1:spLocks noGrp="1"/>
          </ns0:cNvSpPr>
          <ns0:nvPr/>
        </ns0:nvSpPr>
        <ns0:spPr>
          <ns1:xfrm>
            <ns1:off x="7791450" y="2476500"/>
            <ns1:ext cx="2800350" cy="1809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8FA09584-7FD8-42F6-A6EF-39A21062910C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2266950"/>
            <ns1:ext cx="876300" cy="419100"/>
          </ns1:xfrm>
          <ns1:prstGeom prst="rect">
            <ns1:avLst/>
          </ns1:prstGeom>
          <ns1:solidFill>
            <ns1:srgbClr val="B0454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E969254C-7553-40C3-987D-53E4C5E9C70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400300"/>
            <ns1:ext cx="6477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Kielletään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AC197D9-FF93-44E2-B532-C0EF44D65323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2914650"/>
            <ns1:ext cx="2266950" cy="8001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27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Natiivimainonta, profilointi, erilliset seurantapikselit ja tukijan vaikutus sisältövalintoihin.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F37F3FE8-8017-4E71-83CF-A7B52F8B4096}"/>
              </ns1:ext>
            </ns1:extLst>
          </ns0:cNvPr>
          <ns0:cNvSpPr>
            <ns1:spLocks noGrp="1"/>
          </ns0:cNvSpPr>
          <ns0:nvPr/>
        </ns0:nvSpPr>
        <ns0:spPr>
          <ns1:xfrm>
            <ns1:off x="1485900" y="4933950"/>
            <ns1:ext cx="8191500" cy="514350"/>
          </ns1:xfrm>
          <ns1:prstGeom prst="rect">
            <ns1:avLst/>
          </ns1:prstGeom>
          <ns1:solidFill>
            <ns1:srgbClr val="E6EDF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A73834A5-77F7-49C3-A152-2F14C362DD84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5095875"/>
            <ns1:ext cx="75438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73E5F"/>
                </ns1:solidFill>
                <ns1:latin typeface="Georgia"/>
                <ns1:ea typeface="Georgia"/>
                <ns1:cs typeface="Georgia"/>
              </ns1:defRPr>
            </ns1:pPr>
            <ns1:r>
              <ns1:rPr sz="1425" b="1">
                <ns1:solidFill>
                  <ns1:srgbClr val="173E5F"/>
                </ns1:solidFill>
                <ns1:latin typeface="Georgia"/>
                <ns1:ea typeface="Georgia"/>
                <ns1:cs typeface="Georgia"/>
              </ns1:rPr>
              <ns1:t>Peruslause: tukeminen ei ole suositus, arvio tai ostopaikka listalla.</ns1:t>
            </ns1:r>
          </ns1:p>
        </ns0:txBody>
      </ns0:sp>
    </ns0:spTree>
    <ns0:extLst>
      <ns0:ext uri="{BB962C8B-B14F-4D97-AF65-F5344CB8AC3E}">
        <ns3:creationId val="221872974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4A699216-FB86-4274-8A32-446A3EC41815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8F4E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08AD23CA-488C-4EEB-BF4B-BA8B9E18404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171450"/>
          </ns1:xfrm>
          <ns1:prstGeom prst="rect">
            <ns1:avLst/>
          </ns1:prstGeom>
          <ns1:solidFill>
            <ns1:srgbClr val="173E5F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714521A2-6A5C-49E8-99A8-7277F48647B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05550"/>
            <ns1:ext cx="9810750" cy="9525"/>
          </ns1:xfrm>
          <ns1:prstGeom prst="rect">
            <ns1:avLst/>
          </ns1:prstGeom>
          <ns1:solidFill>
            <ns1:srgbClr val="D8D2C4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93968496-3DC7-4059-B7AA-38C0EDF8C6D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1985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675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Aloitussivu · tukijat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D001491-6BEF-4411-84AC-779FBC433B10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43650"/>
            <ns1:ext cx="5524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defRPr>
            </ns1:pPr>
            <ns1:r>
              <ns1:rPr sz="1200" b="1">
                <ns1:solidFill>
                  <ns1:srgbClr val="65758A"/>
                </ns1:solidFill>
                <ns1:latin typeface="Georgia"/>
                <ns1:ea typeface="Georgia"/>
                <ns1:cs typeface="Georgia"/>
              </ns1:rPr>
              <ns1:t>06</ns1:t>
            </ns1:r>
          </ns1:p>
        </ns0:txBody>
      </ns0:sp>
      <ns0:sp>
        <ns0:nvSpPr>
          <ns0:cNvPr id="6" name="kicker-marker">
            <ns1:extLst>
              <ns1:ext uri="{FF2B5EF4-FFF2-40B4-BE49-F238E27FC236}">
                <ns2:creationId id="{C5752973-6117-42B8-9969-D1065BE06FA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2450"/>
            <ns1:ext cx="95250" cy="95250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kicker-label">
            <ns1:extLst>
              <ns1:ext uri="{FF2B5EF4-FFF2-40B4-BE49-F238E27FC236}">
                <ns2:creationId id="{BCC85D09-EAAF-4CB4-BB65-E22A58F2551B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14350"/>
            <ns1:ext cx="34290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ENSIMMÄINEN KIERROS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3E8AF19-10C4-4D8A-8470-BBAD6541DD0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8200"/>
            <ns1:ext cx="9334500" cy="781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Tukijoiden hakua kannattaa pilotoida pienellä, matalan riskin listalla.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1C6CF9C-CA07-40FF-BEC2-CDAA02807D74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2400300"/>
            <ns1:ext cx="2000250" cy="2000250"/>
          </ns1:xfrm>
          <ns1:prstGeom prst="rect">
            <ns1:avLst/>
          </ns1:prstGeom>
          <ns1:solidFill>
            <ns1:srgbClr val="173E5F"/>
          </ns1:solidFill>
          <ns1:ln w="9525">
            <ns1:solidFill>
              <ns1:srgbClr val="173E5F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D441D59B-5478-4D68-A502-26D0A561631A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2609850"/>
            <ns1:ext cx="5905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5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1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26DC5142-D408-47C2-B6B7-39DF66FD62CC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238500"/>
            <ns1:ext cx="1543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FFFFFF"/>
                </ns1:solidFill>
                <ns1:latin typeface="Georgia"/>
                <ns1:ea typeface="Georgia"/>
                <ns1:cs typeface="Georgia"/>
              </ns1:defRPr>
            </ns1:pPr>
            <ns1:r>
              <ns1:rPr sz="1425" b="1">
                <ns1:solidFill>
                  <ns1:srgbClr val="FFFFFF"/>
                </ns1:solidFill>
                <ns1:latin typeface="Georgia"/>
                <ns1:ea typeface="Georgia"/>
                <ns1:cs typeface="Georgia"/>
              </ns1:rPr>
              <ns1:t>Periaatteet lukkoon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55A5A0E1-41AF-4CDE-9BDD-E4B1F95AF62E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752850"/>
            <ns1:ext cx="15430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38" b="1">
                <ns1:solidFill>
                  <ns1:srgbClr val="DCE8F2"/>
                </ns1:solidFill>
                <ns1:latin typeface="Aptos"/>
                <ns1:ea typeface="Aptos"/>
                <ns1:cs typeface="Aptos"/>
              </ns1:defRPr>
            </ns1:pPr>
            <ns1:r>
              <ns1:rPr sz="938" b="1">
                <ns1:solidFill>
                  <ns1:srgbClr val="DCE8F2"/>
                </ns1:solidFill>
                <ns1:latin typeface="Aptos"/>
                <ns1:ea typeface="Aptos"/>
                <ns1:cs typeface="Aptos"/>
              </ns1:rPr>
              <ns1:t>hyväksy tukijakriteerit ja poissulkulista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59FC8468-B217-4FAF-8722-F89AB05E4929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3390900"/>
            <ns1:ext cx="476250" cy="285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A7A6AC9A-CF77-4D51-B282-61082C2F237E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2400300"/>
            <ns1:ext cx="2000250" cy="2000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805DF130-37FE-4E86-B0D4-0F0792AE296A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609850"/>
            <ns1:ext cx="5905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2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133228C-7A18-4D06-9590-1DEC87794228}"/>
              </ns1:ext>
            </ns1:extLst>
          </ns0:cNvPr>
          <ns0:cNvSpPr>
            <ns1:spLocks noGrp="1"/>
          </ns0:cNvSpPr>
          <ns0:nvPr/>
        </ns0:nvSpPr>
        <ns0:spPr>
          <ns1:xfrm>
            <ns1:off x="3771900" y="3238500"/>
            <ns1:ext cx="1543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3-5 ehdokasta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326E3E21-AC8C-4181-9557-8C41B548DB4E}"/>
              </ns1:ext>
            </ns1:extLst>
          </ns0:cNvPr>
          <ns0:cNvSpPr>
            <ns1:spLocks noGrp="1"/>
          </ns0:cNvSpPr>
          <ns0:nvPr/>
        </ns0:nvSpPr>
        <ns0:spPr>
          <ns1:xfrm>
            <ns1:off x="3771900" y="3752850"/>
            <ns1:ext cx="15430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säätiöt, järjestöt, kirjastot/kunnat ja digiosallisuuden toimijat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C57232DC-5055-4A70-97BF-9E505F86A7FC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390900"/>
            <ns1:ext cx="476250" cy="285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46981682-0F92-4462-9C4E-B9D613126ECE}"/>
              </ns1:ext>
            </ns1:extLst>
          </ns0:cNvPr>
          <ns0:cNvSpPr>
            <ns1:spLocks noGrp="1"/>
          </ns0:cNvSpPr>
          <ns0:nvPr/>
        </ns0:nvSpPr>
        <ns0:spPr>
          <ns1:xfrm>
            <ns1:off x="6267450" y="2400300"/>
            <ns1:ext cx="2000250" cy="2000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A5DAFE17-9078-40B9-B10A-A56B640318C5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2609850"/>
            <ns1:ext cx="5905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3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B5B5A939-A996-4F4C-A59D-ED4FC3CDD663}"/>
              </ns1:ext>
            </ns1:extLst>
          </ns0:cNvPr>
          <ns0:cNvSpPr>
            <ns1:spLocks noGrp="1"/>
          </ns0:cNvSpPr>
          <ns0:nvPr/>
        </ns0:nvSpPr>
        <ns0:spPr>
          <ns1:xfrm>
            <ns1:off x="6496050" y="3238500"/>
            <ns1:ext cx="1543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Yksi sivu sopimusehdot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4ADB27B9-67ED-492B-A231-22FF23888877}"/>
              </ns1:ext>
            </ns1:extLst>
          </ns0:cNvPr>
          <ns0:cNvSpPr>
            <ns1:spLocks noGrp="1"/>
          </ns0:cNvSpPr>
          <ns0:nvPr/>
        </ns0:nvSpPr>
        <ns0:spPr>
          <ns1:xfrm>
            <ns1:off x="6496050" y="3752850"/>
            <ns1:ext cx="15430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ei vaikutusta sisältöön, ei seurantaa, vuosittainen tarkistus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0B48738-F1AF-428D-960E-775EA46E4F08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390900"/>
            <ns1:ext cx="476250" cy="28575"/>
          </ns1:xfrm>
          <ns1:prstGeom prst="rect">
            <ns1:avLst/>
          </ns1:prstGeom>
          <ns1:solidFill>
            <ns1:srgbClr val="D09A32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3105B0D3-7C62-4C4C-8F50-50679314209A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2400300"/>
            <ns1:ext cx="2000250" cy="2000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8D2C4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6072AC57-BF96-4B8B-87A4-3FBD58D0FDA8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2609850"/>
            <ns1:ext cx="5905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defRPr>
            </ns1:pPr>
            <ns1:r>
              <ns1:rPr sz="2550" b="1">
                <ns1:solidFill>
                  <ns1:srgbClr val="D09A32"/>
                </ns1:solidFill>
                <ns1:latin typeface="Georgia"/>
                <ns1:ea typeface="Georgia"/>
                <ns1:cs typeface="Georgia"/>
              </ns1:rPr>
              <ns1:t>4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CE4D459E-0FC6-4232-92CD-4E769876DC28}"/>
              </ns1:ext>
            </ns1:extLst>
          </ns0:cNvPr>
          <ns0:cNvSpPr>
            <ns1:spLocks noGrp="1"/>
          </ns0:cNvSpPr>
          <ns0:nvPr/>
        </ns0:nvSpPr>
        <ns0:spPr>
          <ns1:xfrm>
            <ns1:off x="9220200" y="3238500"/>
            <ns1:ext cx="1543050" cy="3619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425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Julkaisuvalmius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ED65E070-6CE0-4EA6-B53D-7F6450D355C1}"/>
              </ns1:ext>
            </ns1:extLst>
          </ns0:cNvPr>
          <ns0:cNvSpPr>
            <ns1:spLocks noGrp="1"/>
          </ns0:cNvSpPr>
          <ns0:nvPr/>
        </ns0:nvSpPr>
        <ns0:spPr>
          <ns1:xfrm>
            <ns1:off x="9220200" y="3752850"/>
            <ns1:ext cx="154305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defRPr>
            </ns1:pPr>
            <ns1:r>
              <ns1:rPr sz="938" b="1">
                <ns1:solidFill>
                  <ns1:srgbClr val="65758A"/>
                </ns1:solidFill>
                <ns1:latin typeface="Aptos"/>
                <ns1:ea typeface="Aptos"/>
                <ns1:cs typeface="Aptos"/>
              </ns1:rPr>
              <ns1:t>saavutettavuustutkimus sekä saavutettavuus- ja tietosuojaselosteet valmiiksi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E529E3FE-CD8C-448A-BEC1-A9C9AEF1DA41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5200650"/>
            <ns1:ext cx="85725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defRPr>
            </ns1:pPr>
            <ns1:r>
              <ns1:rPr sz="1350" b="1">
                <ns1:solidFill>
                  <ns1:srgbClr val="102334"/>
                </ns1:solidFill>
                <ns1:latin typeface="Georgia"/>
                <ns1:ea typeface="Georgia"/>
                <ns1:cs typeface="Georgia"/>
              </ns1:rPr>
              <ns1:t>Eteneminen on tarkoituksella konservatiivinen: ensin luottamuksen rajat, vasta sitten näkyvyys.</ns1:t>
            </ns1:r>
          </ns1:p>
        </ns0:txBody>
      </ns0:sp>
    </ns0:spTree>
    <ns0:extLst>
      <ns0:ext uri="{BB962C8B-B14F-4D97-AF65-F5344CB8AC3E}">
        <ns3:creationId val="1548844979"/>
      </ns0:ext>
    </ns0:extLst>
  </ns0:cSld>
</ns0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6C154-9882-4F30-B80F-BCCA5CC4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A88F2-2460-45F1-BA71-CF4E3E04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E650E-B2C9-4D59-9898-8ABC021F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0E764-8ADF-48C6-AB47-5753995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Johtoryhmän päätöspiste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1D768-D3BF-4273-BA5B-A65E5BF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758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5758A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071A75-F152-4338-9656-6881603E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855781-7AC8-4519-8441-D07546ED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PÄÄTÖS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6DA96-24FA-4A8C-A4BA-2E5813B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Ehdotus: hyväksytään tukijamalli, mutta aloitetaan vain luottamusta vahvistavista toimijoista.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88E6F-1127-4AB9-A64F-E4446036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9536E-D379-46EE-AF6F-BB9F03DF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3D70-E708-4C00-ACB3-5961C99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Hyväksy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ABD05-0A9F-46D2-86A1-0AEAC8C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tukijaperiaatteet ja poissulkulista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483BE-072C-48C2-B55D-9EB3AF0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DD319-AC30-4A12-BDB0-EFFC7A0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2893A-EBA1-413D-A818-F934B11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Valtuuta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85BF2-5FDB-4B22-B30A-133693C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57525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pieni ryhmä pisteyttämään ensimmäiset ehdokkaat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CCB85-DB8A-486C-BBF4-7CE9437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EB384-4E96-421A-9EF9-3DDCC74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5A1EE-CFEA-453D-B428-FE397F8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Rajaa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9D5EA-F21E-4971-9DCC-18FA21A8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näkyvyys Sivua tukemassa -sivuun ja selkeään tukijamerkintään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23C1C-4235-4536-B1E1-616E2D01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85D52-22AE-4306-B48D-9EFEE7B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7155A-AF77-488F-9568-CF7E2303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81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Arvioi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9B6C1-2795-4E8F-8D32-CF0FC797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29125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758A"/>
                </a:solidFill>
                <a:latin typeface="Aptos"/>
                <a:ea typeface="Aptos"/>
                <a:cs typeface="Aptos"/>
              </a:rPr>
              <a:t>malli uudelleen ensimmäisen tukijakierroksen jälkeen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6F1B1-2E11-4853-9752-22A8483E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609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9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82F30-B770-42B6-A696-4DC3A56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4"/>
                </a:solidFill>
                <a:latin typeface="Aptos"/>
                <a:ea typeface="Aptos"/>
                <a:cs typeface="Aptos"/>
              </a:rPr>
              <a:t>Tavoite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1A829-B042-4598-B1D4-B4E046A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2334"/>
                </a:solidFill>
                <a:latin typeface="Georgia"/>
                <a:ea typeface="Georgia"/>
                <a:cs typeface="Georgia"/>
              </a:rPr>
              <a:t>tuki, joka tekee palvelusta kestävämmän mutta ei kaupallisempaa</a:t>
            </a:r>
          </a:p>
        </p:txBody>
      </p:sp>
    </p:spTree>
    <p:extLst>
      <p:ext uri="{BB962C8B-B14F-4D97-AF65-F5344CB8AC3E}">
        <p14:creationId xmlns:p14="http://schemas.microsoft.com/office/powerpoint/2010/main" val="1502777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2026-05-29T12:56:41.4620000Z</dcterms:created>
  <dcterms:modified xsi:type="dcterms:W3CDTF">2026-05-29T12:56:41.4620000Z</dcterms:modified>
</coreProperties>
</file>