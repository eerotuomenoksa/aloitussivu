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6ba7695e4a4e0d" /><Relationship Type="http://schemas.openxmlformats.org/officeDocument/2006/relationships/extended-properties" Target="/docProps/app.xml" Id="Rbc3865e5d3a84fb5" /><Relationship Type="http://schemas.openxmlformats.org/officeDocument/2006/relationships/officeDocument" Target="/ppt/presentation.xml" Id="R740df22f0d4240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c3454982394831"/>
  </p:sldMasterIdLst>
  <p:notesMasterIdLst>
    <p:notesMasterId xmlns:r="http://schemas.openxmlformats.org/officeDocument/2006/relationships" r:id="R676611b8ef334742"/>
  </p:notesMasterIdLst>
  <p:sldIdLst>
    <p:sldId xmlns:r="http://schemas.openxmlformats.org/officeDocument/2006/relationships" id="256" r:id="R03775753dc724fc7"/>
    <p:sldId xmlns:r="http://schemas.openxmlformats.org/officeDocument/2006/relationships" id="257" r:id="Rb5bd80170aae409a"/>
    <p:sldId xmlns:r="http://schemas.openxmlformats.org/officeDocument/2006/relationships" id="258" r:id="R12df72af7def4a00"/>
    <p:sldId xmlns:r="http://schemas.openxmlformats.org/officeDocument/2006/relationships" id="259" r:id="Re6ab6ccde9c44dce"/>
    <p:sldId xmlns:r="http://schemas.openxmlformats.org/officeDocument/2006/relationships" id="260" r:id="R6074983a763042ef"/>
    <p:sldId xmlns:r="http://schemas.openxmlformats.org/officeDocument/2006/relationships" id="261" r:id="R5c6c24a2d49e4c02"/>
    <p:sldId xmlns:r="http://schemas.openxmlformats.org/officeDocument/2006/relationships" id="262" r:id="R7f9caeefd1a34e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bbb3f31cdb4ff0" /><Relationship Type="http://schemas.openxmlformats.org/officeDocument/2006/relationships/slideMaster" Target="/ppt/slideMasters/slideMaster1.xml" Id="Rd8c3454982394831" /><Relationship Type="http://schemas.openxmlformats.org/officeDocument/2006/relationships/notesMaster" Target="/ppt/notesMasters/notesMaster1.xml" Id="R676611b8ef334742" /><Relationship Type="http://schemas.openxmlformats.org/officeDocument/2006/relationships/presProps" Target="/ppt/presProps.xml" Id="R8a9cb5aea5dd42c8" /><Relationship Type="http://schemas.openxmlformats.org/officeDocument/2006/relationships/tableStyles" Target="/ppt/tableStyles.xml" Id="R2148d4cf4bc74443" /><Relationship Type="http://schemas.openxmlformats.org/officeDocument/2006/relationships/slide" Target="/ppt/slides/slide1.xml" Id="R03775753dc724fc7" /><Relationship Type="http://schemas.openxmlformats.org/officeDocument/2006/relationships/slide" Target="/ppt/slides/slide2.xml" Id="Rb5bd80170aae409a" /><Relationship Type="http://schemas.openxmlformats.org/officeDocument/2006/relationships/slide" Target="/ppt/slides/slide3.xml" Id="R12df72af7def4a00" /><Relationship Type="http://schemas.openxmlformats.org/officeDocument/2006/relationships/slide" Target="/ppt/slides/slide4.xml" Id="Re6ab6ccde9c44dce" /><Relationship Type="http://schemas.openxmlformats.org/officeDocument/2006/relationships/slide" Target="/ppt/slides/slide5.xml" Id="R6074983a763042ef" /><Relationship Type="http://schemas.openxmlformats.org/officeDocument/2006/relationships/slide" Target="/ppt/slides/slide6.xml" Id="R5c6c24a2d49e4c02" /><Relationship Type="http://schemas.openxmlformats.org/officeDocument/2006/relationships/slide" Target="/ppt/slides/slide7.xml" Id="R7f9caeefd1a34e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c8ab5f657847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1085faa8864939" /><Relationship Type="http://schemas.openxmlformats.org/officeDocument/2006/relationships/notesMaster" Target="/ppt/notesMasters/notesMaster1.xml" Id="R242407ba55844f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44ae3f782045af" /><Relationship Type="http://schemas.openxmlformats.org/officeDocument/2006/relationships/notesMaster" Target="/ppt/notesMasters/notesMaster1.xml" Id="R9ce52909b2444d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a041df823c4ece" /><Relationship Type="http://schemas.openxmlformats.org/officeDocument/2006/relationships/notesMaster" Target="/ppt/notesMasters/notesMaster1.xml" Id="R6597bf90bbca49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060911c791476a" /><Relationship Type="http://schemas.openxmlformats.org/officeDocument/2006/relationships/notesMaster" Target="/ppt/notesMasters/notesMaster1.xml" Id="Rbe05f079e04d40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acf275dd79444b" /><Relationship Type="http://schemas.openxmlformats.org/officeDocument/2006/relationships/notesMaster" Target="/ppt/notesMasters/notesMaster1.xml" Id="Rdb463ad3d1aa45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bc6dc1f11647ea" /><Relationship Type="http://schemas.openxmlformats.org/officeDocument/2006/relationships/notesMaster" Target="/ppt/notesMasters/notesMaster1.xml" Id="Rd108d35c9d634e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f80d5866494861" /><Relationship Type="http://schemas.openxmlformats.org/officeDocument/2006/relationships/notesMaster" Target="/ppt/notesMasters/notesMaster1.xml" Id="R7dead8a94afa44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Avaa kertomalla, että esitys on tietoinen välitilanne eikä lopullinen tutkimusraportti.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test-feedback export, 2026-08-10 (n=2).</a:t>
            </a:r>
          </a:p>
          <a:p xmlns:a="http://schemas.openxmlformats.org/drawingml/2006/main">
            <a:r>
              <a:t>- User-provided testing status in this task: 6 testers total; 2 responses received; 2 promised today.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Korosta, että vastausaste on 2/6 eli 33 %, joten havainnot ovat suuntaa-antavia.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testing status in this task, 2026-08-10.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Keskiarvot: hyödyllisyys (4+5)/2 = 4,5; helppokäyttöisyys (4+5)/2 = 4,5.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test-feedback export, 2026-08-10 (n=2). Fields: usefulnessRating, easeRating, recommend, purposeClear, foundServices, deviceTypes.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Sitaatit on lyhennetty vain välimerkkien ja rivinvaihtojen osalta; merkitys on säilytetty.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test-feedback export, 2026-08-10 (n=2). Open fields: firstImpression, mostImportantFix, bestThing, unclearCategory, searchedFor.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Älä esitä kaaviota kahden vastaajan keskiarvona. Toinen vastaaja jätti koko ominaisuusosion tyhjäksi.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test-feedback export, 2026-08-10. Field: featureRatings for one respondent only (n=1).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Ehdotus tiimille: valmistellaan tiivistys, mutta vältetään laaja uudelleenjärjestely ennen lisävastauksia.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test-feedback export, 2026-08-10 (n=2). Direct fix suggestion: condense excessive detail at the end of the page.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Tämän dian voi pitää lopetuskuvana: se kertoo, mitä tiimi tekee seuraavaksi ja milloin tulkinta muuttuu lopulliseksi.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Update workflow derived from the user's request to complete the same PowerPoint as the remaining testers respond.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92b73ec2cc4c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711dc65a2442c8" /><Relationship Type="http://schemas.openxmlformats.org/officeDocument/2006/relationships/slideLayout" Target="/ppt/slideLayouts/slideLayout1.xml" Id="Re9c8b72c5fb641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c8b72c5fb641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17390ec7946d0" /><Relationship Type="http://schemas.openxmlformats.org/officeDocument/2006/relationships/notesSlide" Target="/ppt/notesSlides/notesSlide1.xml" Id="R277470ce258d42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6ab85d1904110" /><Relationship Type="http://schemas.openxmlformats.org/officeDocument/2006/relationships/notesSlide" Target="/ppt/notesSlides/notesSlide2.xml" Id="R8880372fb86e4b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36c67ad11427f" /><Relationship Type="http://schemas.openxmlformats.org/officeDocument/2006/relationships/notesSlide" Target="/ppt/notesSlides/notesSlide3.xml" Id="R20352516aafd4f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e1ab212be415b" /><Relationship Type="http://schemas.openxmlformats.org/officeDocument/2006/relationships/notesSlide" Target="/ppt/notesSlides/notesSlide4.xml" Id="R8e23f23086e042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411c65d264299" /><Relationship Type="http://schemas.openxmlformats.org/officeDocument/2006/relationships/chart" Target="/ppt/slides/charts/chart1.xml" Id="R07d1a09d559142b7" /><Relationship Type="http://schemas.openxmlformats.org/officeDocument/2006/relationships/notesSlide" Target="/ppt/notesSlides/notesSlide5.xml" Id="R29fd3fbf449a40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3aab4664f423e" /><Relationship Type="http://schemas.openxmlformats.org/officeDocument/2006/relationships/notesSlide" Target="/ppt/notesSlides/notesSlide6.xml" Id="R21b0b93c116f4a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f51b5de5e4b5c" /><Relationship Type="http://schemas.openxmlformats.org/officeDocument/2006/relationships/notesSlide" Target="/ppt/notesSlides/notesSlide7.xml" Id="R32d1930a49a84d5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Tarpeellisuus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9"/>
              <c:pt idx="0">
                <c:v>Sää</c:v>
              </c:pt>
              <c:pt idx="1">
                <c:v>Internet-haku</c:v>
              </c:pt>
              <c:pt idx="2">
                <c:v>Huijausvaroit.</c:v>
              </c:pt>
              <c:pt idx="3">
                <c:v>Lähelläsi</c:v>
              </c:pt>
              <c:pt idx="4">
                <c:v>Tekoäly</c:v>
              </c:pt>
              <c:pt idx="5">
                <c:v>Kategoriahaku</c:v>
              </c:pt>
              <c:pt idx="6">
                <c:v>Paikallisuut.</c:v>
              </c:pt>
              <c:pt idx="7">
                <c:v>Nimipäivät</c:v>
              </c:pt>
              <c:pt idx="8">
                <c:v>Suosikit</c:v>
              </c:pt>
            </c:strLit>
          </c:cat>
          <c:val>
            <c:numLit>
              <c:formatCode>General</c:formatCode>
              <c:ptCount val="9"/>
              <c:pt idx="0">
                <c:v>5</c:v>
              </c:pt>
              <c:pt idx="1">
                <c:v>5</c:v>
              </c:pt>
              <c:pt idx="2">
                <c:v>5</c:v>
              </c:pt>
              <c:pt idx="3">
                <c:v>4</c:v>
              </c:pt>
              <c:pt idx="4">
                <c:v>4</c:v>
              </c:pt>
              <c:pt idx="5">
                <c:v>4</c:v>
              </c:pt>
              <c:pt idx="6">
                <c:v>3</c:v>
              </c:pt>
              <c:pt idx="7">
                <c:v>2</c:v>
              </c:pt>
              <c:pt idx="8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extTo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8E4EF97-B953-4EC3-87A1-07F9FEE8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9055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ALOITUSSIVU · TIIMIKOONTI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98DE084-C060-4EFE-8F5E-699D5B8F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0965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Testauspalaute
— ensimmäiset signaalit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87CE297-7131-4A31-A1B8-0C7B8307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762000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Tilanne 10.8.2026 · 2/6 vastausta · päivitettävä esitys</a:t>
            </a:r>
          </a:p>
        </p:txBody>
      </p:sp>
    </p:spTree>
    <p:extLst>
      <p:ext uri="{BB962C8B-B14F-4D97-AF65-F5344CB8AC3E}">
        <p14:creationId xmlns:p14="http://schemas.microsoft.com/office/powerpoint/2010/main" val="316401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E8DD2094-D2A2-4588-B093-CE052EFB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7E68B6-DEEB-4762-BCED-390EF071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Kaksi vastausta näyttää suunnan</a:t>
            </a:r>
          </a:p>
        </p:txBody>
      </p:sp>
      <p:sp>
        <p:nvSpPr>
          <p:cNvPr id="3" name="status-subtitle">
            <a:extLst xmlns:a="http://schemas.openxmlformats.org/drawingml/2006/main">
              <a:ext uri="{FF2B5EF4-FFF2-40B4-BE49-F238E27FC236}">
                <a16:creationId xmlns:a16="http://schemas.microsoft.com/office/drawing/2014/main" id="{D97F6392-8B69-4000-89BD-740E57B2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90625"/>
            <a:ext cx="857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Aineisto on vasta kolmasosa tavoitellusta kokonaisuudesta.</a:t>
            </a:r>
          </a:p>
        </p:txBody>
      </p:sp>
      <p:cxnSp>
        <p:nvCxnSpPr>
          <p:cNvPr id="17" name="status-line"/>
          <p:cNvCxnSpPr/>
          <p:nvPr/>
        </p:nvCxnSpPr>
        <p:spPr>
          <a:xfrm xmlns:a="http://schemas.openxmlformats.org/drawingml/2006/main">
            <a:off x="337757" y="3373755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tatus-node-1">
            <a:extLst xmlns:a="http://schemas.openxmlformats.org/drawingml/2006/main">
              <a:ext uri="{FF2B5EF4-FFF2-40B4-BE49-F238E27FC236}">
                <a16:creationId xmlns:a16="http://schemas.microsoft.com/office/drawing/2014/main" id="{C072C16B-F657-4C91-A9D8-49ACC49B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0327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status-node-2">
            <a:extLst xmlns:a="http://schemas.openxmlformats.org/drawingml/2006/main">
              <a:ext uri="{FF2B5EF4-FFF2-40B4-BE49-F238E27FC236}">
                <a16:creationId xmlns:a16="http://schemas.microsoft.com/office/drawing/2014/main" id="{00B39FB1-913A-4DE8-BDF7-20007B37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0327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status-node-3">
            <a:extLst xmlns:a="http://schemas.openxmlformats.org/drawingml/2006/main">
              <a:ext uri="{FF2B5EF4-FFF2-40B4-BE49-F238E27FC236}">
                <a16:creationId xmlns:a16="http://schemas.microsoft.com/office/drawing/2014/main" id="{A4F3229A-037C-4B09-88DD-84E900C8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0327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status-label-1">
            <a:extLst xmlns:a="http://schemas.openxmlformats.org/drawingml/2006/main">
              <a:ext uri="{FF2B5EF4-FFF2-40B4-BE49-F238E27FC236}">
                <a16:creationId xmlns:a16="http://schemas.microsoft.com/office/drawing/2014/main" id="{993F9080-22AC-4682-8F74-49130928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2843308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SAATU</a:t>
            </a:r>
          </a:p>
        </p:txBody>
      </p:sp>
      <p:sp>
        <p:nvSpPr>
          <p:cNvPr id="9" name="status-copy-1">
            <a:extLst xmlns:a="http://schemas.openxmlformats.org/drawingml/2006/main">
              <a:ext uri="{FF2B5EF4-FFF2-40B4-BE49-F238E27FC236}">
                <a16:creationId xmlns:a16="http://schemas.microsoft.com/office/drawing/2014/main" id="{B04C4346-FE8A-4139-BC47-3A7E7449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vastausta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33 % kutsutuista.
Koonti perustuu nyt kahteen puhelimella testanneeseen.</a:t>
            </a:r>
          </a:p>
        </p:txBody>
      </p:sp>
      <p:sp>
        <p:nvSpPr>
          <p:cNvPr id="10" name="status-label-2">
            <a:extLst xmlns:a="http://schemas.openxmlformats.org/drawingml/2006/main">
              <a:ext uri="{FF2B5EF4-FFF2-40B4-BE49-F238E27FC236}">
                <a16:creationId xmlns:a16="http://schemas.microsoft.com/office/drawing/2014/main" id="{DBD6C5E3-24E1-47D8-B3B3-EC24F748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2843308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LUVATTU TÄNÄÄN</a:t>
            </a:r>
          </a:p>
        </p:txBody>
      </p:sp>
      <p:sp>
        <p:nvSpPr>
          <p:cNvPr id="11" name="status-copy-2">
            <a:extLst xmlns:a="http://schemas.openxmlformats.org/drawingml/2006/main">
              <a:ext uri="{FF2B5EF4-FFF2-40B4-BE49-F238E27FC236}">
                <a16:creationId xmlns:a16="http://schemas.microsoft.com/office/drawing/2014/main" id="{5D632647-9E73-423D-90A9-7880F60A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vastausta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Aineisto voi kaksinkertaistua päivän aikana. Päivitä luvut heti niiden saavuttua.</a:t>
            </a:r>
          </a:p>
        </p:txBody>
      </p:sp>
      <p:sp>
        <p:nvSpPr>
          <p:cNvPr id="12" name="status-label-3">
            <a:extLst xmlns:a="http://schemas.openxmlformats.org/drawingml/2006/main">
              <a:ext uri="{FF2B5EF4-FFF2-40B4-BE49-F238E27FC236}">
                <a16:creationId xmlns:a16="http://schemas.microsoft.com/office/drawing/2014/main" id="{E59D173F-74EA-49AF-82AD-7BA8DFCA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2843308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VIELÄ AVOINNA</a:t>
            </a:r>
          </a:p>
        </p:txBody>
      </p:sp>
      <p:sp>
        <p:nvSpPr>
          <p:cNvPr id="13" name="status-copy-3">
            <a:extLst xmlns:a="http://schemas.openxmlformats.org/drawingml/2006/main">
              <a:ext uri="{FF2B5EF4-FFF2-40B4-BE49-F238E27FC236}">
                <a16:creationId xmlns:a16="http://schemas.microsoft.com/office/drawing/2014/main" id="{72014431-E371-44C4-B100-43C1067F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vastausta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Lopulliset johtopäätökset tehdään vasta, kun kaikki kuusi ovat vastanneet.</a:t>
            </a:r>
          </a:p>
        </p:txBody>
      </p:sp>
    </p:spTree>
    <p:extLst>
      <p:ext uri="{BB962C8B-B14F-4D97-AF65-F5344CB8AC3E}">
        <p14:creationId xmlns:p14="http://schemas.microsoft.com/office/powerpoint/2010/main" val="1517722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8478F87A-A325-4E52-9814-55C44A36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77ACD1-77A1-4BCA-84FA-109846F9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5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Ensimmäinen kokonaiskuva on vahvasti myönteinen</a:t>
            </a:r>
          </a:p>
        </p:txBody>
      </p:sp>
      <p:sp>
        <p:nvSpPr>
          <p:cNvPr id="3" name="metrics-intro">
            <a:extLst xmlns:a="http://schemas.openxmlformats.org/drawingml/2006/main">
              <a:ext uri="{FF2B5EF4-FFF2-40B4-BE49-F238E27FC236}">
                <a16:creationId xmlns:a16="http://schemas.microsoft.com/office/drawing/2014/main" id="{C76966FB-0799-435E-B4F5-EDDD2180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09675"/>
            <a:ext cx="11049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Molemmat ymmärsivät sivun tarkoituksen, löysivät etsimänsä ja suosittelisivat sivua.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Tulokset ovat alustavia (n=2) ja kuvaavat vain puhelimella testaamista.</a:t>
            </a:r>
          </a:p>
        </p:txBody>
      </p:sp>
      <p:sp>
        <p:nvSpPr>
          <p:cNvPr id="4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E77067BF-6F90-4008-8913-B537330B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FC58567E-8DB0-4302-81CB-190037C0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6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9A75304E-5F50-4252-A3C9-29A4A350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DFF1FA"/>
          </a:solidFill>
          <a:ln xmlns:a="http://schemas.openxmlformats.org/drawingml/2006/main" w="0">
            <a:solidFill>
              <a:srgbClr val="DFF1FA"/>
            </a:solidFill>
            <a:prstDash val="solid"/>
          </a:ln>
        </p:spPr>
      </p:sp>
      <p:sp>
        <p:nvSpPr>
          <p:cNvPr id="7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2AE61DD2-162A-481E-BA74-F24625E2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4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4,5 / 5</a:t>
            </a:r>
          </a:p>
        </p:txBody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9FACCA40-052F-44C2-B459-56EBBA89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Hyödyllisyys</a:t>
            </a:r>
          </a:p>
        </p:txBody>
      </p:sp>
      <p:sp>
        <p:nvSpPr>
          <p:cNvPr id="9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F3F007B0-CE7D-4202-B45B-6A3051D6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4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4,5 / 5</a:t>
            </a:r>
          </a:p>
        </p:txBody>
      </p:sp>
      <p:sp>
        <p:nvSpPr>
          <p:cNvPr id="1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90964AF9-15C6-4624-87C7-8964055D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Helppokäyttöisyys</a:t>
            </a:r>
          </a:p>
        </p:txBody>
      </p:sp>
      <p:sp>
        <p:nvSpPr>
          <p:cNvPr id="11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4651337A-06E1-448B-8E8D-5BBAC1EF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4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 / 2</a:t>
            </a:r>
          </a:p>
        </p:txBody>
      </p:sp>
      <p:sp>
        <p:nvSpPr>
          <p:cNvPr id="12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F1936D30-902E-478D-BD0E-FABB967D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Suosittelisi sivua</a:t>
            </a:r>
          </a:p>
        </p:txBody>
      </p:sp>
    </p:spTree>
    <p:extLst>
      <p:ext uri="{BB962C8B-B14F-4D97-AF65-F5344CB8AC3E}">
        <p14:creationId xmlns:p14="http://schemas.microsoft.com/office/powerpoint/2010/main" val="14481129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1AFFE87E-5C4D-4C70-9F77-FB9A09E6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7ED7B2-3C3E-4089-9F1E-7BBEC237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Palaute kiteytyy kahteen yhtä tärkeään viestiin</a:t>
            </a:r>
          </a:p>
        </p:txBody>
      </p:sp>
      <p:sp>
        <p:nvSpPr>
          <p:cNvPr id="3" name="voices-intro">
            <a:extLst xmlns:a="http://schemas.openxmlformats.org/drawingml/2006/main">
              <a:ext uri="{FF2B5EF4-FFF2-40B4-BE49-F238E27FC236}">
                <a16:creationId xmlns:a16="http://schemas.microsoft.com/office/drawing/2014/main" id="{D6847629-95FA-4D84-8666-27D9E354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90625"/>
            <a:ext cx="11049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Alku toimii ja palvelut löytyvät.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Samaan aikaan sivun loppu tarvitsee yhden vastaajan mukaan selkeämpää tiivistämistä.</a:t>
            </a:r>
          </a:p>
        </p:txBody>
      </p:sp>
      <p:sp>
        <p:nvSpPr>
          <p:cNvPr id="4" name="positive-voice-panel">
            <a:extLst xmlns:a="http://schemas.openxmlformats.org/drawingml/2006/main">
              <a:ext uri="{FF2B5EF4-FFF2-40B4-BE49-F238E27FC236}">
                <a16:creationId xmlns:a16="http://schemas.microsoft.com/office/drawing/2014/main" id="{029933CE-BFE9-442A-AF56-C5F2FC42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critical-voice-panel">
            <a:extLst xmlns:a="http://schemas.openxmlformats.org/drawingml/2006/main">
              <a:ext uri="{FF2B5EF4-FFF2-40B4-BE49-F238E27FC236}">
                <a16:creationId xmlns:a16="http://schemas.microsoft.com/office/drawing/2014/main" id="{63E89CA3-045F-4611-824D-22C2CA3D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positive-quote">
            <a:extLst xmlns:a="http://schemas.openxmlformats.org/drawingml/2006/main">
              <a:ext uri="{FF2B5EF4-FFF2-40B4-BE49-F238E27FC236}">
                <a16:creationId xmlns:a16="http://schemas.microsoft.com/office/drawing/2014/main" id="{53F7192A-F6E8-4B84-A3D2-D871D76A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“Kaunis ja selkeä!”</a:t>
            </a:r>
          </a:p>
        </p:txBody>
      </p:sp>
      <p:sp>
        <p:nvSpPr>
          <p:cNvPr id="7" name="critical-quote">
            <a:extLst xmlns:a="http://schemas.openxmlformats.org/drawingml/2006/main">
              <a:ext uri="{FF2B5EF4-FFF2-40B4-BE49-F238E27FC236}">
                <a16:creationId xmlns:a16="http://schemas.microsoft.com/office/drawing/2014/main" id="{F6B3D5EF-249B-40B5-BFBD-CCE6E44F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24250"/>
            <a:ext cx="4986909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“Alkuosa selkeä — lopun voisi tiivistää.”</a:t>
            </a:r>
          </a:p>
        </p:txBody>
      </p:sp>
      <p:sp>
        <p:nvSpPr>
          <p:cNvPr id="8" name="positive-detail">
            <a:extLst xmlns:a="http://schemas.openxmlformats.org/drawingml/2006/main">
              <a:ext uri="{FF2B5EF4-FFF2-40B4-BE49-F238E27FC236}">
                <a16:creationId xmlns:a16="http://schemas.microsoft.com/office/drawing/2014/main" id="{7EEFCB9A-3D4C-4108-8E82-A28FBA1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Selkeys, rauhallisuus, hyödyllisyys ja ulkoasu saivat kiitosta. Myös vaihtoehtoiset reitit eri pääluokkien kautta koettiin hyväksi.</a:t>
            </a:r>
          </a:p>
        </p:txBody>
      </p:sp>
      <p:sp>
        <p:nvSpPr>
          <p:cNvPr id="9" name="critical-detail">
            <a:extLst xmlns:a="http://schemas.openxmlformats.org/drawingml/2006/main">
              <a:ext uri="{FF2B5EF4-FFF2-40B4-BE49-F238E27FC236}">
                <a16:creationId xmlns:a16="http://schemas.microsoft.com/office/drawing/2014/main" id="{01F07760-3EE3-4234-A088-EBB33FB9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Loppu koettiin liian yksityiskohtaiseksi. Kategoriat olivat tälle vastaajalle vain osittain selkeitä, vaikka haettu HSL löytyi.</a:t>
            </a:r>
          </a:p>
        </p:txBody>
      </p:sp>
    </p:spTree>
    <p:extLst>
      <p:ext uri="{BB962C8B-B14F-4D97-AF65-F5344CB8AC3E}">
        <p14:creationId xmlns:p14="http://schemas.microsoft.com/office/powerpoint/2010/main" val="19049415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BF7692B2-97C0-4581-ABCD-A6350A21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D5CF48-C8C8-48A2-94A0-7F58EE2F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42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Toimintojen arviot · n=1</a:t>
            </a:r>
          </a:p>
        </p:txBody>
      </p:sp>
      <p:sp>
        <p:nvSpPr>
          <p:cNvPr id="3" name="feature-card-1">
            <a:extLst xmlns:a="http://schemas.openxmlformats.org/drawingml/2006/main">
              <a:ext uri="{FF2B5EF4-FFF2-40B4-BE49-F238E27FC236}">
                <a16:creationId xmlns:a16="http://schemas.microsoft.com/office/drawing/2014/main" id="{DC845994-7B87-4700-8EC5-48633F32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4" name="feature-card-copy-1">
            <a:extLst xmlns:a="http://schemas.openxmlformats.org/drawingml/2006/main">
              <a:ext uri="{FF2B5EF4-FFF2-40B4-BE49-F238E27FC236}">
                <a16:creationId xmlns:a16="http://schemas.microsoft.com/office/drawing/2014/main" id="{140CAC18-B48C-4C8A-80EC-681D4CD3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688943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5/5 · Kolme toimintoa kärjessä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Sää, internet-haku ja huijausvaroitukset.</a:t>
            </a:r>
          </a:p>
        </p:txBody>
      </p:sp>
      <p:sp>
        <p:nvSpPr>
          <p:cNvPr id="5" name="feature-card-2">
            <a:extLst xmlns:a="http://schemas.openxmlformats.org/drawingml/2006/main">
              <a:ext uri="{FF2B5EF4-FFF2-40B4-BE49-F238E27FC236}">
                <a16:creationId xmlns:a16="http://schemas.microsoft.com/office/drawing/2014/main" id="{0BD55868-94EC-43DC-BE5D-C6DE92A4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DF5F9"/>
          </a:solidFill>
          <a:ln xmlns:a="http://schemas.openxmlformats.org/drawingml/2006/main" w="0">
            <a:solidFill>
              <a:srgbClr val="EDF5F9"/>
            </a:solidFill>
            <a:prstDash val="solid"/>
          </a:ln>
        </p:spPr>
      </p:sp>
      <p:sp>
        <p:nvSpPr>
          <p:cNvPr id="6" name="feature-card-copy-2">
            <a:extLst xmlns:a="http://schemas.openxmlformats.org/drawingml/2006/main">
              <a:ext uri="{FF2B5EF4-FFF2-40B4-BE49-F238E27FC236}">
                <a16:creationId xmlns:a16="http://schemas.microsoft.com/office/drawing/2014/main" id="{B4B5EA42-60CF-4DCF-B467-8638EFFF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5095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4/5 · Kolme vahvaa signaalia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Lähelläsi, tekoäly ja kategoriahaku.</a:t>
            </a:r>
          </a:p>
        </p:txBody>
      </p:sp>
      <p:sp>
        <p:nvSpPr>
          <p:cNvPr id="7" name="feature-card-3">
            <a:extLst xmlns:a="http://schemas.openxmlformats.org/drawingml/2006/main">
              <a:ext uri="{FF2B5EF4-FFF2-40B4-BE49-F238E27FC236}">
                <a16:creationId xmlns:a16="http://schemas.microsoft.com/office/drawing/2014/main" id="{62185A87-6E57-4912-A407-C44E5C14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50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feature-card-copy-3">
            <a:extLst xmlns:a="http://schemas.openxmlformats.org/drawingml/2006/main">
              <a:ext uri="{FF2B5EF4-FFF2-40B4-BE49-F238E27FC236}">
                <a16:creationId xmlns:a16="http://schemas.microsoft.com/office/drawing/2014/main" id="{B6A3DB9C-FEBF-469A-B1CB-8FF35C7B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76775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Vain n=1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Toinen vastaaja ei arvioinut toimintoja. Näistä ei vielä tehdä priorisointipäätöstä.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8718" y="1238250"/>
          <a:ext xmlns:a="http://schemas.openxmlformats.org/drawingml/2006/main" cx="53340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d1a09d559142b7"/>
          </a:graphicData>
        </a:graphic>
      </p:graphicFrame>
      <p:sp>
        <p:nvSpPr>
          <p:cNvPr id="10" name="feature-chart-scale">
            <a:extLst xmlns:a="http://schemas.openxmlformats.org/drawingml/2006/main">
              <a:ext uri="{FF2B5EF4-FFF2-40B4-BE49-F238E27FC236}">
                <a16:creationId xmlns:a16="http://schemas.microsoft.com/office/drawing/2014/main" id="{D526FB49-153C-42B0-839E-D8429369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18" y="6076950"/>
            <a:ext cx="533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Asteikko 1–5</a:t>
            </a:r>
          </a:p>
        </p:txBody>
      </p:sp>
    </p:spTree>
    <p:extLst>
      <p:ext uri="{BB962C8B-B14F-4D97-AF65-F5344CB8AC3E}">
        <p14:creationId xmlns:p14="http://schemas.microsoft.com/office/powerpoint/2010/main" val="10335544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A00B9D3B-58AD-46E0-A6E5-8F692BB4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D95C1D-1D9F-41AE-B764-58541CD3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Yksi muutos kannattaa valmistella jo nyt</a:t>
            </a:r>
          </a:p>
        </p:txBody>
      </p:sp>
      <p:sp>
        <p:nvSpPr>
          <p:cNvPr id="3" name="action-intro">
            <a:extLst xmlns:a="http://schemas.openxmlformats.org/drawingml/2006/main">
              <a:ext uri="{FF2B5EF4-FFF2-40B4-BE49-F238E27FC236}">
                <a16:creationId xmlns:a16="http://schemas.microsoft.com/office/drawing/2014/main" id="{66190B7B-7A4A-4243-A4EC-2DF54A5D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90625"/>
            <a:ext cx="11049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Loppuosan tiivistäminen on ainoa suora kehitysehdotus tässä aineistossa.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Muut havainnot pidetään hypoteeseina, kunnes vastausmäärä kasvaa.</a:t>
            </a:r>
          </a:p>
        </p:txBody>
      </p:sp>
      <p:sp>
        <p:nvSpPr>
          <p:cNvPr id="4" name="prepare-now-panel">
            <a:extLst xmlns:a="http://schemas.openxmlformats.org/drawingml/2006/main">
              <a:ext uri="{FF2B5EF4-FFF2-40B4-BE49-F238E27FC236}">
                <a16:creationId xmlns:a16="http://schemas.microsoft.com/office/drawing/2014/main" id="{CF85C291-75BA-4A3A-BC75-F6D2CF44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validate-first-panel">
            <a:extLst xmlns:a="http://schemas.openxmlformats.org/drawingml/2006/main">
              <a:ext uri="{FF2B5EF4-FFF2-40B4-BE49-F238E27FC236}">
                <a16:creationId xmlns:a16="http://schemas.microsoft.com/office/drawing/2014/main" id="{018BA431-0891-4F64-967F-35E9153D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prepare-now-title">
            <a:extLst xmlns:a="http://schemas.openxmlformats.org/drawingml/2006/main">
              <a:ext uri="{FF2B5EF4-FFF2-40B4-BE49-F238E27FC236}">
                <a16:creationId xmlns:a16="http://schemas.microsoft.com/office/drawing/2014/main" id="{5E19A4C6-6AE6-411C-ACF3-5CCCB426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Valmistele nyt</a:t>
            </a:r>
          </a:p>
        </p:txBody>
      </p:sp>
      <p:sp>
        <p:nvSpPr>
          <p:cNvPr id="7" name="validate-first-title">
            <a:extLst xmlns:a="http://schemas.openxmlformats.org/drawingml/2006/main">
              <a:ext uri="{FF2B5EF4-FFF2-40B4-BE49-F238E27FC236}">
                <a16:creationId xmlns:a16="http://schemas.microsoft.com/office/drawing/2014/main" id="{99C2AC1F-16FF-4F5A-8169-292FE598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Vahvista ensin</a:t>
            </a:r>
          </a:p>
        </p:txBody>
      </p:sp>
      <p:sp>
        <p:nvSpPr>
          <p:cNvPr id="8" name="prepare-now-list">
            <a:extLst xmlns:a="http://schemas.openxmlformats.org/drawingml/2006/main">
              <a:ext uri="{FF2B5EF4-FFF2-40B4-BE49-F238E27FC236}">
                <a16:creationId xmlns:a16="http://schemas.microsoft.com/office/drawing/2014/main" id="{257E4F10-2C55-40F7-8B51-7EBEA1AA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tiivistä loppuosan yksityiskohtia
• tarkista kategorioiden nimet
• säilytä selkeä alku ja puhelinluettavuus</a:t>
            </a:r>
          </a:p>
        </p:txBody>
      </p:sp>
      <p:sp>
        <p:nvSpPr>
          <p:cNvPr id="9" name="validate-first-list">
            <a:extLst xmlns:a="http://schemas.openxmlformats.org/drawingml/2006/main">
              <a:ext uri="{FF2B5EF4-FFF2-40B4-BE49-F238E27FC236}">
                <a16:creationId xmlns:a16="http://schemas.microsoft.com/office/drawing/2014/main" id="{3E5776EE-54BF-4346-9080-7A957A81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• ominaisuuksien prioriteetit
• paikallisuutisten hyöty
• suosikkien merkitys</a:t>
            </a:r>
          </a:p>
        </p:txBody>
      </p:sp>
    </p:spTree>
    <p:extLst>
      <p:ext uri="{BB962C8B-B14F-4D97-AF65-F5344CB8AC3E}">
        <p14:creationId xmlns:p14="http://schemas.microsoft.com/office/powerpoint/2010/main" val="18950710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593EDC9C-D269-443F-82AE-9FCB6138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1DDBFA-5BB7-46CC-9193-F151829C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Täydennämme saman esityksen vastauksilla 3–6</a:t>
            </a:r>
          </a:p>
        </p:txBody>
      </p:sp>
      <p:cxnSp>
        <p:nvCxnSpPr>
          <p:cNvPr id="18" name="update-plan-line"/>
          <p:cNvCxnSpPr/>
          <p:nvPr/>
        </p:nvCxnSpPr>
        <p:spPr>
          <a:xfrm xmlns:a="http://schemas.openxmlformats.org/drawingml/2006/main">
            <a:off x="337757" y="5341620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update-card-1">
            <a:extLst xmlns:a="http://schemas.openxmlformats.org/drawingml/2006/main">
              <a:ext uri="{FF2B5EF4-FFF2-40B4-BE49-F238E27FC236}">
                <a16:creationId xmlns:a16="http://schemas.microsoft.com/office/drawing/2014/main" id="{7C3BC6CC-5318-4A70-896B-F5F1403B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update-node-1">
            <a:extLst xmlns:a="http://schemas.openxmlformats.org/drawingml/2006/main">
              <a:ext uri="{FF2B5EF4-FFF2-40B4-BE49-F238E27FC236}">
                <a16:creationId xmlns:a16="http://schemas.microsoft.com/office/drawing/2014/main" id="{5EFDB1CB-02B8-48C7-9A01-30318D42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018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update-card-2">
            <a:extLst xmlns:a="http://schemas.openxmlformats.org/drawingml/2006/main">
              <a:ext uri="{FF2B5EF4-FFF2-40B4-BE49-F238E27FC236}">
                <a16:creationId xmlns:a16="http://schemas.microsoft.com/office/drawing/2014/main" id="{6716AAC9-1691-498D-9E89-CC208002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DF5F9"/>
          </a:solidFill>
          <a:ln xmlns:a="http://schemas.openxmlformats.org/drawingml/2006/main" w="0">
            <a:solidFill>
              <a:srgbClr val="EDF5F9"/>
            </a:solidFill>
            <a:prstDash val="solid"/>
          </a:ln>
        </p:spPr>
      </p:sp>
      <p:sp>
        <p:nvSpPr>
          <p:cNvPr id="7" name="update-node-2">
            <a:extLst xmlns:a="http://schemas.openxmlformats.org/drawingml/2006/main">
              <a:ext uri="{FF2B5EF4-FFF2-40B4-BE49-F238E27FC236}">
                <a16:creationId xmlns:a16="http://schemas.microsoft.com/office/drawing/2014/main" id="{3AAFFC3D-9051-489A-83A5-DC991D5C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018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update-card-3">
            <a:extLst xmlns:a="http://schemas.openxmlformats.org/drawingml/2006/main">
              <a:ext uri="{FF2B5EF4-FFF2-40B4-BE49-F238E27FC236}">
                <a16:creationId xmlns:a16="http://schemas.microsoft.com/office/drawing/2014/main" id="{470E6D43-BB4E-4A34-9B70-52F72C50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9" name="update-node-3">
            <a:extLst xmlns:a="http://schemas.openxmlformats.org/drawingml/2006/main">
              <a:ext uri="{FF2B5EF4-FFF2-40B4-BE49-F238E27FC236}">
                <a16:creationId xmlns:a16="http://schemas.microsoft.com/office/drawing/2014/main" id="{8B1A9CBB-F072-4B82-B3A7-B7D2ACDF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018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update-card-copy-1">
            <a:extLst xmlns:a="http://schemas.openxmlformats.org/drawingml/2006/main">
              <a:ext uri="{FF2B5EF4-FFF2-40B4-BE49-F238E27FC236}">
                <a16:creationId xmlns:a16="http://schemas.microsoft.com/office/drawing/2014/main" id="{66BC8357-90CC-4580-8780-0613661D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31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Kun n=4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Laske keskiarvot uudelleen. Nosta esiin toistuvat teemat ja mahdolliset ristiriidat. Älä lukitse prioriteetteja vielä.</a:t>
            </a:r>
          </a:p>
        </p:txBody>
      </p:sp>
      <p:sp>
        <p:nvSpPr>
          <p:cNvPr id="11" name="update-label-1">
            <a:extLst xmlns:a="http://schemas.openxmlformats.org/drawingml/2006/main">
              <a:ext uri="{FF2B5EF4-FFF2-40B4-BE49-F238E27FC236}">
                <a16:creationId xmlns:a16="http://schemas.microsoft.com/office/drawing/2014/main" id="{EF5676AD-AAE4-42F6-860A-ACFF41B7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 = 4</a:t>
            </a:r>
          </a:p>
        </p:txBody>
      </p:sp>
      <p:sp>
        <p:nvSpPr>
          <p:cNvPr id="12" name="update-card-copy-2">
            <a:extLst xmlns:a="http://schemas.openxmlformats.org/drawingml/2006/main">
              <a:ext uri="{FF2B5EF4-FFF2-40B4-BE49-F238E27FC236}">
                <a16:creationId xmlns:a16="http://schemas.microsoft.com/office/drawing/2014/main" id="{A533398D-BB9B-4AB4-AD4E-58EA4999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006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Kun n=6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Erottele julkaisuesteet, nopeat parannukset ja myöhempi kehitys. Tarkista myös laitteiden ja käyttötilanteiden kattavuus.</a:t>
            </a:r>
          </a:p>
        </p:txBody>
      </p:sp>
      <p:sp>
        <p:nvSpPr>
          <p:cNvPr id="13" name="update-label-2">
            <a:extLst xmlns:a="http://schemas.openxmlformats.org/drawingml/2006/main">
              <a:ext uri="{FF2B5EF4-FFF2-40B4-BE49-F238E27FC236}">
                <a16:creationId xmlns:a16="http://schemas.microsoft.com/office/drawing/2014/main" id="{B5ECEFBB-BDED-4714-9E49-A1040F23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 = 6</a:t>
            </a:r>
          </a:p>
        </p:txBody>
      </p:sp>
      <p:sp>
        <p:nvSpPr>
          <p:cNvPr id="14" name="update-card-copy-3">
            <a:extLst xmlns:a="http://schemas.openxmlformats.org/drawingml/2006/main">
              <a:ext uri="{FF2B5EF4-FFF2-40B4-BE49-F238E27FC236}">
                <a16:creationId xmlns:a16="http://schemas.microsoft.com/office/drawing/2014/main" id="{918FF766-6808-4F81-9304-CB68FC01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068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Tiimin päätös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Sopikaa omistajat ja tavoitepäivät. Kirjatkaa valitut muutokset kehitysjonoon ja säilyttäkää tämä esitys tilannekuvana.</a:t>
            </a:r>
          </a:p>
        </p:txBody>
      </p:sp>
      <p:sp>
        <p:nvSpPr>
          <p:cNvPr id="15" name="update-label-3">
            <a:extLst xmlns:a="http://schemas.openxmlformats.org/drawingml/2006/main">
              <a:ext uri="{FF2B5EF4-FFF2-40B4-BE49-F238E27FC236}">
                <a16:creationId xmlns:a16="http://schemas.microsoft.com/office/drawing/2014/main" id="{7FFAD06C-5C0B-44D0-988C-44FC76CD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PÄÄTÖS</a:t>
            </a:r>
          </a:p>
        </p:txBody>
      </p:sp>
    </p:spTree>
    <p:extLst>
      <p:ext uri="{BB962C8B-B14F-4D97-AF65-F5344CB8AC3E}">
        <p14:creationId xmlns:p14="http://schemas.microsoft.com/office/powerpoint/2010/main" val="2003188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2026-08-10T09:09:15.7680000Z</dcterms:created>
  <dcterms:modified xsi:type="dcterms:W3CDTF">2026-08-10T09:09:15.7680000Z</dcterms:modified>
</coreProperties>
</file>