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Aloitussivu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3232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877"/>
                </a:solidFill>
              </a:rPr>
              <a:t>Jory-esitys ISO 37000 -hyvän hallintotavan näkökulmasta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4206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Varsinainen palvelun nykytila: tiedoksi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Tukijat-osuus: keskusteltavaksi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97880" y="566928"/>
            <a:ext cx="553212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25400" dist="50800" dir="2700000">
              <a:srgbClr val="AAB3C1">
                <a:alpha val="18000"/>
              </a:srgbClr>
            </a:outerShdw>
          </a:effectLst>
        </p:spPr>
      </p:sp>
      <p:pic>
        <p:nvPicPr>
          <p:cNvPr id="6" name="Image 0" descr="C:\dev\Aloitussivu\outputs\manual-20260609-094031\presentations\iso37000-jory\assets\etusivu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888" y="630936"/>
            <a:ext cx="5404104" cy="5175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5778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E6877"/>
                </a:solidFill>
              </a:rPr>
              <a:t>Lähdekehikko: ISO 37000:2021 Governance of organizations - Guidance.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</a:rPr>
              <a:t>Aloitussivu | ISO 37000 -näkökulma | 9.6.2026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06424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4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HALLINTOTAPA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768096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Miksi ISO 37000 sopii tähän päätöskeskusteluun?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498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877"/>
                </a:solidFill>
              </a:rPr>
              <a:t>ISO 37000 ohjaa hallintoelintä varmistamaan, että organisaatio toteuttaa tarkoitustaan vastuullisesti, eettisesti ja vaikuttavasti.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83080"/>
            <a:ext cx="73152" cy="1188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92024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Tarkoitus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86968" y="2221992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Palvelun tulee tukea järjestön perustehtävää: ikääntyneiden digiosallisuutta ja arjen turvallisuutta.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783080"/>
            <a:ext cx="73152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92024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Arvon luonti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4636008" y="2221992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Hyötyä arvioidaan käyttäjän, digiopastuksen, järjestön ja mahdollisten tukijoiden näkökulmasta.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183880" y="178308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783080"/>
            <a:ext cx="73152" cy="11887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92024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Vastuullisuus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8385048" y="2221992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Tukijamalli ei saa hämärtää puolueettomuutta, tietosuojaa tai palvelun käyttäjälähtöisyyttä.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85800" y="333756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337560"/>
            <a:ext cx="73152" cy="1188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47472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Valvonta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886968" y="3776472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Joryn tehtävä on linjata periaatteet, rajat, riskienhallinta ja raportointi ennen julkaisua.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434840" y="333756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3337560"/>
            <a:ext cx="73152" cy="1188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47472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Sidosryhmät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4636008" y="3776472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Käyttäjät, digiopastajat, ylläpito, kumppanit ja tukijat pitää tunnistaa ilman että yhden ryhmän etu ohittaa käyttäjän etua.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183880" y="333756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83880" y="3337560"/>
            <a:ext cx="73152" cy="1188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5048" y="347472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Päätöksen jäljitettävyys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8385048" y="3776472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Tiedoksi- ja keskusteltavat asiat erotetaan, jotta päätösvalta ja vastuut pysyvät selkeinä.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</a:rPr>
              <a:t>Aloitussivu | ISO 37000 -näkökulma | 9.6.2026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06424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4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TIEDOKSI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768096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Palvelun nykyinen käyttötarkoitus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498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877"/>
                </a:solidFill>
              </a:rPr>
              <a:t>Aloitussivu on kehityssivusto, joka kokoaa arjen digipalvelut ja paikalliset tiedot yhteen rauhalliseen näkymään.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737360"/>
            <a:ext cx="51663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</a:rPr>
              <a:t>Kohderyhmä: ikääntyneet käyttäjät ja digiopastuksen arjen tilanteet.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35915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267712"/>
            <a:ext cx="51663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</a:rPr>
              <a:t>Käyttötilanne: selainkotisivu tai opastuksessa avattava yhteinen lähtöpiste.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88950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798064"/>
            <a:ext cx="51663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</a:rPr>
              <a:t>Ydinhyöty: vähemmän muistettavia osoitteita, vähemmän harhailua ja helpompi palveluun pääsy.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41985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328416"/>
            <a:ext cx="51663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</a:rPr>
              <a:t>Nykyinen tila: pilotti/kehityssivusto, ei vielä lopullinen tuotantopalvelu.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6520" y="123444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25400" dist="50800" dir="2700000">
              <a:srgbClr val="AAB3C1">
                <a:alpha val="18000"/>
              </a:srgbClr>
            </a:outerShdw>
          </a:effectLst>
        </p:spPr>
      </p:sp>
      <p:pic>
        <p:nvPicPr>
          <p:cNvPr id="14" name="Image 0" descr="C:\dev\Aloitussivu\outputs\manual-20260609-094031\presentations\iso37000-jory\assets\etusivu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10528" y="1298448"/>
            <a:ext cx="4946904" cy="43525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</a:rPr>
              <a:t>Aloitussivu | ISO 37000 -näkökulma | 9.6.2026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06424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4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TIEDOKSI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768096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Nykyiset ominaisuudet tukevat tarkoitusta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498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877"/>
                </a:solidFill>
              </a:rPr>
              <a:t>Ominaisuudet on rakennettu ensisijaisesti käyttäjän selkeyden, saavutettavuuden ja paikallisen hyödyn ympärille.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544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Ohjattu aloitus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86968" y="1856232"/>
            <a:ext cx="28986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Sivun oma esittely näyttää käyttäjälle tärkeimmät kohdat yksi kerrallaan.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224528" y="1417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24528" y="1417320"/>
            <a:ext cx="73152" cy="10515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5696" y="15544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Haku ja puhe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4425696" y="1856232"/>
            <a:ext cx="28986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Google-haku, palveluhaku ja avustaja tukevat sekä kirjoittamista että puhetta.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763256" y="1417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63256" y="1417320"/>
            <a:ext cx="73152" cy="10515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64424" y="15544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Sää ja aika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7964424" y="1856232"/>
            <a:ext cx="28986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Yläosa näyttää kellon ja sään tiiviisti: lämpötila, tuntuu, pouta/sade ja tuuli.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85800" y="27889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2788920"/>
            <a:ext cx="73152" cy="10515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29260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Paikallisuus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886968" y="3227832"/>
            <a:ext cx="28986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Kunta nostaa esiin alueelliset palvelut, uutiset, varoitukset ja Kela-taksien numerot.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224528" y="27889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24528" y="2788920"/>
            <a:ext cx="73152" cy="10515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25696" y="29260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Turvallisuus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4425696" y="3227832"/>
            <a:ext cx="28986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Huijausvaroitukset ja linkki-ilmoitukset tukevat jatkuvaa ylläpitoa.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7763256" y="27889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63256" y="2788920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64424" y="29260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Mukautettavuus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7964424" y="3227832"/>
            <a:ext cx="28986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Tekstikoko, teema ja näkyvät osiot ovat käyttäjän säädettävissä.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749808" y="4892040"/>
            <a:ext cx="98755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8212F"/>
                </a:solidFill>
              </a:rPr>
              <a:t>Johtopäätös tiedoksi: palvelu vastaa järjestön tarkoitusta, mutta julkaisu vaatii vielä nimen, osoitteen, ylläpidon, tietosuojan ja tukijaperiaatteiden linjaukset.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</a:rPr>
              <a:t>Aloitussivu | ISO 37000 -näkökulma | 9.6.2026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06424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4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HALLINTARISKIT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768096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Kehityssivustosta tuotantopalveluksi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498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877"/>
                </a:solidFill>
              </a:rPr>
              <a:t>Hyvän hallintotavan kannalta julkaisu ei ole vain tekninen siirto, vaan päätös vastuista ja jatkuvasta ylläpidosta.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54480"/>
            <a:ext cx="55778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8212F"/>
                </a:solidFill>
              </a:rPr>
              <a:t>Virallinen nimi ja palvelun osoite pitää lukita ennen viestintää.</a:t>
            </a:r>
            <a:endParaRPr lang="en-US" sz="127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057400"/>
            <a:ext cx="55778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8212F"/>
                </a:solidFill>
              </a:rPr>
              <a:t>Tietosuojaseloste ja saavutettavuusseloste pitää viimeistellä lopullisilla yhteystiedoilla.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560320"/>
            <a:ext cx="55778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8212F"/>
                </a:solidFill>
              </a:rPr>
              <a:t>Ylläpitäjien ilmoitusmalli, linkkitarkistus ja palautteiden käsittely pitää sopia.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777240" y="315468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063240"/>
            <a:ext cx="55778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8212F"/>
                </a:solidFill>
              </a:rPr>
              <a:t>AI-avustajalle tarvitaan käyttörajat, seuranta ja selkeä käyttäjäohjeistus.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777240" y="365760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566160"/>
            <a:ext cx="55778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8212F"/>
                </a:solidFill>
              </a:rPr>
              <a:t>Ylläpitopolut ja testilinkit pitää siivota tai piilottaa ennen julkista käyttöönottoa.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6720840" y="1645920"/>
            <a:ext cx="4297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20840" y="1645920"/>
            <a:ext cx="73152" cy="1280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22008" y="178308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Joryn rooli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6922008" y="2084832"/>
            <a:ext cx="3950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Merkitään nykytila tiedoksi ja varmistetaan, että julkaisuun liittyvät periaatteet ja vastuut voidaan hyväksyä erikseen.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6720840" y="3246120"/>
            <a:ext cx="4297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3246120"/>
            <a:ext cx="73152" cy="12801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2008" y="338328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Ei vielä päätettäväksi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922008" y="3685032"/>
            <a:ext cx="3950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Tässä esityksessä ei pyydetä lopullista tuotantojulkaisupäätöstä, ellei jory halua nostaa sitä erikseen käsittelyyn.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</a:rPr>
              <a:t>Aloitussivu | ISO 37000 -näkökulma | 9.6.2026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6424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4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KESKUSTELTAVAKSI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768096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Tukijat-osuus vaatii periaatepäätöksen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498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877"/>
                </a:solidFill>
              </a:rPr>
              <a:t>Tukijamalli voi auttaa kattamaan kuluja ja kertomaan yhteistyöstä, mutta sen pitää säilyttää palvelun luottamus.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0749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25400" dist="50800" dir="2700000">
              <a:srgbClr val="AAB3C1">
                <a:alpha val="18000"/>
              </a:srgbClr>
            </a:outerShdw>
          </a:effectLst>
        </p:spPr>
      </p:sp>
      <p:pic>
        <p:nvPicPr>
          <p:cNvPr id="6" name="Image 0" descr="C:\dev\Aloitussivu\outputs\manual-20260609-094031\presentations\iso37000-jory\assets\tukijat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298448"/>
            <a:ext cx="4946904" cy="4443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508760"/>
            <a:ext cx="82296" cy="82296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9672" y="1417320"/>
            <a:ext cx="461772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</a:rPr>
              <a:t>Saako sivulla olla tukijoita näkyvästi esillä?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355080" y="2011680"/>
            <a:ext cx="82296" cy="82296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9672" y="1920240"/>
            <a:ext cx="461772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</a:rPr>
              <a:t>Missä tukija saa näkyä: vain tukijasivulla vai myös linkkien yhteydessä?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6355080" y="2514600"/>
            <a:ext cx="82296" cy="82296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9672" y="2423160"/>
            <a:ext cx="461772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</a:rPr>
              <a:t>Miten varmistetaan, ettei tukija saa hakutulos- tai palvelulistaetua?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355080" y="3017520"/>
            <a:ext cx="82296" cy="82296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19672" y="2926080"/>
            <a:ext cx="461772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</a:rPr>
              <a:t>Kuka hyväksyy tukijat ja millä kriteereillä?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6355080" y="3520440"/>
            <a:ext cx="82296" cy="82296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9672" y="3429000"/>
            <a:ext cx="461772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</a:rPr>
              <a:t>Miten käyttäjälle kerrotaan selkeästi, että kyse on tuesta, ei suosituksesta?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</a:rPr>
              <a:t>Aloitussivu | ISO 37000 -näkökulma | 9.6.2026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06424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4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KESKUSTELTAVAKSI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768096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Ehdotettu tukijaperiaate ISO 37000 -hengessä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498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877"/>
                </a:solidFill>
              </a:rPr>
              <a:t>Periaatteet rakentavat läpinäkyvyyttä, vastuullisuutta ja luottamusta ennen kuin yksittäisiä tukijoita otetaan mukaan.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5448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1. Käyttäjän etu ensin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86968" y="1856232"/>
            <a:ext cx="3081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Tukija ei vaikuta palveluiden järjestykseen, hakutuloksiin, sisältövalintoihin tai käyttäjän ohjaukseen.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55448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2. Läpinäkyvä merkintä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4636008" y="1856232"/>
            <a:ext cx="3081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Tukija merkitään aina tukijaksi. Käyttäjä ei saa sekoittaa tukijaa viranomaiseen tai palvelusuositukseen.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11430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55448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3. Sopivuus arvioidaan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8385048" y="1856232"/>
            <a:ext cx="3081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Tukijan toiminnan pitää sopia järjestön arvoihin, kohderyhmään ja palvelun tarkoitukseen.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85800" y="29718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2971800"/>
            <a:ext cx="73152" cy="1143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10896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4. Päätös ja valvonta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886968" y="3410712"/>
            <a:ext cx="3081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Hyväksyntä, sopimukset, näkyvyys, kesto ja poistoperusteet dokumentoidaan.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434840" y="29718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2971800"/>
            <a:ext cx="73152" cy="11430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10896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5. Ei henkilötietoperusteista kohdentamista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4636008" y="3410712"/>
            <a:ext cx="3081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Tukijan näkyvyys ei perustu käyttäjän henkilökohtaisiin tietoihin tai arkaluonteiseen profilointiin.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183880" y="29718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83880" y="2971800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5048" y="310896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6. Raportointi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8385048" y="3410712"/>
            <a:ext cx="3081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Jorylle voidaan raportoida tukijoiden määrä, tuotot, kulut ja mahdolliset palaute- tai luottamushavainnot.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</a:rPr>
              <a:t>Aloitussivu | ISO 37000 -näkökulma | 9.6.2026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06424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4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VAIHTOEHDOT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768096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Kolme mahdollista linjausta tukijoihin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498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877"/>
                </a:solidFill>
              </a:rPr>
              <a:t>Keskustelun voi rajata periaatteeseen, ei vielä yksittäisiin tukijoihin.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08760"/>
            <a:ext cx="73152" cy="20574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4592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A. Ei tukijoita julkiselle sivulle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86968" y="1947672"/>
            <a:ext cx="30815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Pienin maine- ja riippumattomuusriski. Kulut katetaan muulla budjetilla. Sivua tukemassa -osio voidaan jättää omistaja-/taustatiedoksi.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50876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64592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B. Tukijat vain omalla tukijasivulla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4636008" y="1947672"/>
            <a:ext cx="30815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Suositeltava maltillinen malli. Tukija näkyy avoimesti, mutta ei palvelulistoissa eikä hakutuloksissa.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183880" y="150876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508760"/>
            <a:ext cx="73152" cy="20574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64592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C. Tukijamerkintä myös linkin yhteyteen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8385048" y="1947672"/>
            <a:ext cx="30815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Mahdollinen myöhemmin, mutta vaatii tarkemmat säännöt, sopimukset, valvonnan ja käyttäjätestauksen.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9784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12F"/>
                </a:solidFill>
              </a:rPr>
              <a:t>Ehdotus keskustelun pohjaksi: valitaan ensin vaihtoehto B tai päätetään jatkovalmistelusta sen pohjalta.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</a:rPr>
              <a:t>Aloitussivu | ISO 37000 -näkökulma | 9.6.2026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4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PÄÄTÖSRUNKO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768096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Mitä joryltä tarvitaan nyt?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498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877"/>
                </a:solidFill>
              </a:rPr>
              <a:t>Varsinainen palvelukokonaisuus voidaan merkitä tiedoksi. Tukijat-osuudesta tarvitaan keskustelun suunta.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554480"/>
            <a:ext cx="649224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8212F"/>
                </a:solidFill>
              </a:rPr>
              <a:t>Merkitään Aloitussivun kehityssivuston nykytila tiedoksi.</a:t>
            </a:r>
            <a:endParaRPr lang="en-US" sz="133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03120"/>
            <a:ext cx="649224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8212F"/>
                </a:solidFill>
              </a:rPr>
              <a:t>Todetaan, että tuotantojulkaisu edellyttää erilliset päätökset nimestä, osoitteesta, ylläpidosta ja selosteista.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651760"/>
            <a:ext cx="649224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8212F"/>
                </a:solidFill>
              </a:rPr>
              <a:t>Keskustellaan, voiko sivustolla olla tukijoita ja millä reunaehdoilla.</a:t>
            </a:r>
            <a:endParaRPr lang="en-US" sz="1330" dirty="0"/>
          </a:p>
        </p:txBody>
      </p:sp>
      <p:sp>
        <p:nvSpPr>
          <p:cNvPr id="11" name="Shape 9"/>
          <p:cNvSpPr/>
          <p:nvPr/>
        </p:nvSpPr>
        <p:spPr>
          <a:xfrm>
            <a:off x="822960" y="329184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200400"/>
            <a:ext cx="649224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8212F"/>
                </a:solidFill>
              </a:rPr>
              <a:t>Linjataan, jatkovalmistellaanko tukijamalli vaihtoehdon B pohjalta: tukijat vain selvästi erillisellä tukijasivulla.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749040"/>
            <a:ext cx="649224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8212F"/>
                </a:solidFill>
              </a:rPr>
              <a:t>Päätetään, tuodaanko tukijaperiaatteet myöhemmin hyväksyttäväksi kirjallisena politiikkana.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7635240" y="173736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35240" y="1737360"/>
            <a:ext cx="73152" cy="1554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6408" y="187452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Päätösehdotus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7836408" y="2176272"/>
            <a:ext cx="34015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Tiedoksi: Aloitussivun nykytila ja käyttötarkoitus.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Keskusteltavaksi: tukijoiden näkyvyyden periaate ja jatkovalmistelu.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635240" y="365760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C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35240" y="3657600"/>
            <a:ext cx="73152" cy="15544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36408" y="379476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212F"/>
                </a:solidFill>
              </a:rPr>
              <a:t>ISO 37000 -perustelu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7836408" y="4096512"/>
            <a:ext cx="34015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877"/>
                </a:solidFill>
              </a:rPr>
              <a:t>Päätös erottaa tarkoituksen, arvonluonnin, riskit, sidosryhmät ja vastuun. Näin kokeilu ei muutu pysyväksi käytännöksi ilman hallittua linjausta.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</a:rPr>
              <a:t>Aloitussivu | ISO 37000 -näkökulma | 9.6.2026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6424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4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LÄHTEET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768096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Kehikko ja rajaus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4980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877"/>
                </a:solidFill>
              </a:rPr>
              <a:t>Esitys soveltaa ISO 37000:2021 -standardin hyvän hallintotavan periaatteita Aloitussivun jory-keskusteluun.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00200"/>
            <a:ext cx="804672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8212F"/>
                </a:solidFill>
              </a:rPr>
              <a:t>ISO 37000:2021 Governance of organizations - Guidance, virallinen ISO-standardisivu.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03120"/>
            <a:ext cx="804672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8212F"/>
                </a:solidFill>
              </a:rPr>
              <a:t>ISO/TC 309 Governance of organizations - ISO 37000 -esittelymateriaali.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606040"/>
            <a:ext cx="804672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8212F"/>
                </a:solidFill>
              </a:rPr>
              <a:t>Aloitussivun nykyinen kehityssivusto, kuvakaappaukset 9.6.2026.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108960"/>
            <a:ext cx="804672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8212F"/>
                </a:solidFill>
              </a:rPr>
              <a:t>Aiemmat julkaisuroadmap- ja esittelymateriaalit repo-kansiossa docs/.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822960" y="4754880"/>
            <a:ext cx="8869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877"/>
                </a:solidFill>
              </a:rPr>
              <a:t>Huom. ISO-standardin maksullista tekstiä ei ole kopioitu esitykseen. Sisältö on tiivistetty soveltava hallintomalli julkisista lähdetiedoista ja projektin omista materiaaleista.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</a:rPr>
              <a:t>Aloitussivu | ISO 37000 -näkökulma | 9.6.2026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06424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4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Vanhustyon keskusliitto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Aloitussivu - jory-esitys ISO 37000</dc:title>
  <dc:subject>Aloitussivu ja tukijamalli ISO 37000 -hallintotavan mukaan</dc:subject>
  <dc:creator>Vanhustyon keskusliitto / SeniorSurf</dc:creator>
  <cp:lastModifiedBy>Vanhustyon keskusliitto / SeniorSurf</cp:lastModifiedBy>
  <cp:revision>1</cp:revision>
  <dcterms:created xsi:type="dcterms:W3CDTF">2026-06-09T06:43:30Z</dcterms:created>
  <dcterms:modified xsi:type="dcterms:W3CDTF">2026-06-09T06:43:30Z</dcterms:modified>
</cp:coreProperties>
</file>