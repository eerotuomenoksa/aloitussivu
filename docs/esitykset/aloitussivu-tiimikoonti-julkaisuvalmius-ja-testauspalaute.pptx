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8b3beff0b14af6" /><Relationship Type="http://schemas.openxmlformats.org/officeDocument/2006/relationships/extended-properties" Target="/docProps/app.xml" Id="R7bd2fcb35b534b30" /><Relationship Type="http://schemas.openxmlformats.org/officeDocument/2006/relationships/officeDocument" Target="/ppt/presentation.xml" Id="R688ed4358c61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0c840c196045e4"/>
  </p:sldMasterIdLst>
  <p:notesMasterIdLst>
    <p:notesMasterId xmlns:r="http://schemas.openxmlformats.org/officeDocument/2006/relationships" r:id="Rd42a3a6fc124493f"/>
  </p:notesMasterIdLst>
  <p:sldIdLst>
    <p:sldId xmlns:r="http://schemas.openxmlformats.org/officeDocument/2006/relationships" id="256" r:id="Rbc7fa1197a294917"/>
    <p:sldId xmlns:r="http://schemas.openxmlformats.org/officeDocument/2006/relationships" id="257" r:id="Rdb796e3779904a1f"/>
    <p:sldId xmlns:r="http://schemas.openxmlformats.org/officeDocument/2006/relationships" id="258" r:id="R0e2aedf7b7af4344"/>
    <p:sldId xmlns:r="http://schemas.openxmlformats.org/officeDocument/2006/relationships" id="259" r:id="Re81282318e014976"/>
    <p:sldId xmlns:r="http://schemas.openxmlformats.org/officeDocument/2006/relationships" id="260" r:id="Rf69aa74cb3aa4787"/>
    <p:sldId xmlns:r="http://schemas.openxmlformats.org/officeDocument/2006/relationships" id="261" r:id="R650b5bbbe0b947ee"/>
    <p:sldId xmlns:r="http://schemas.openxmlformats.org/officeDocument/2006/relationships" id="262" r:id="Ra99c4adac89b4f7c"/>
    <p:sldId xmlns:r="http://schemas.openxmlformats.org/officeDocument/2006/relationships" id="263" r:id="R447c89d1fd7b483b"/>
    <p:sldId xmlns:r="http://schemas.openxmlformats.org/officeDocument/2006/relationships" id="264" r:id="R72051e0df9324f66"/>
    <p:sldId xmlns:r="http://schemas.openxmlformats.org/officeDocument/2006/relationships" id="265" r:id="R95ee1afb4f9645d2"/>
    <p:sldId xmlns:r="http://schemas.openxmlformats.org/officeDocument/2006/relationships" id="266" r:id="Ra5c1e9cb474d4e55"/>
    <p:sldId xmlns:r="http://schemas.openxmlformats.org/officeDocument/2006/relationships" id="267" r:id="Ra3793840d149404f"/>
    <p:sldId xmlns:r="http://schemas.openxmlformats.org/officeDocument/2006/relationships" id="268" r:id="R51367a3fefde4b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4149fe46ef4cd3" /><Relationship Type="http://schemas.openxmlformats.org/officeDocument/2006/relationships/slideMaster" Target="/ppt/slideMasters/slideMaster1.xml" Id="R0d0c840c196045e4" /><Relationship Type="http://schemas.openxmlformats.org/officeDocument/2006/relationships/notesMaster" Target="/ppt/notesMasters/notesMaster1.xml" Id="Rd42a3a6fc124493f" /><Relationship Type="http://schemas.openxmlformats.org/officeDocument/2006/relationships/presProps" Target="/ppt/presProps.xml" Id="R271db0deba0147d2" /><Relationship Type="http://schemas.openxmlformats.org/officeDocument/2006/relationships/tableStyles" Target="/ppt/tableStyles.xml" Id="Raea5bbd4e25f401e" /><Relationship Type="http://schemas.openxmlformats.org/officeDocument/2006/relationships/slide" Target="/ppt/slides/slide1.xml" Id="Rbc7fa1197a294917" /><Relationship Type="http://schemas.openxmlformats.org/officeDocument/2006/relationships/slide" Target="/ppt/slides/slide2.xml" Id="Rdb796e3779904a1f" /><Relationship Type="http://schemas.openxmlformats.org/officeDocument/2006/relationships/slide" Target="/ppt/slides/slide3.xml" Id="R0e2aedf7b7af4344" /><Relationship Type="http://schemas.openxmlformats.org/officeDocument/2006/relationships/slide" Target="/ppt/slides/slide4.xml" Id="Re81282318e014976" /><Relationship Type="http://schemas.openxmlformats.org/officeDocument/2006/relationships/slide" Target="/ppt/slides/slide5.xml" Id="Rf69aa74cb3aa4787" /><Relationship Type="http://schemas.openxmlformats.org/officeDocument/2006/relationships/slide" Target="/ppt/slides/slide6.xml" Id="R650b5bbbe0b947ee" /><Relationship Type="http://schemas.openxmlformats.org/officeDocument/2006/relationships/slide" Target="/ppt/slides/slide7.xml" Id="Ra99c4adac89b4f7c" /><Relationship Type="http://schemas.openxmlformats.org/officeDocument/2006/relationships/slide" Target="/ppt/slides/slide8.xml" Id="R447c89d1fd7b483b" /><Relationship Type="http://schemas.openxmlformats.org/officeDocument/2006/relationships/slide" Target="/ppt/slides/slide9.xml" Id="R72051e0df9324f66" /><Relationship Type="http://schemas.openxmlformats.org/officeDocument/2006/relationships/slide" Target="/ppt/slides/slide10.xml" Id="R95ee1afb4f9645d2" /><Relationship Type="http://schemas.openxmlformats.org/officeDocument/2006/relationships/slide" Target="/ppt/slides/slide11.xml" Id="Ra5c1e9cb474d4e55" /><Relationship Type="http://schemas.openxmlformats.org/officeDocument/2006/relationships/slide" Target="/ppt/slides/slide12.xml" Id="Ra3793840d149404f" /><Relationship Type="http://schemas.openxmlformats.org/officeDocument/2006/relationships/slide" Target="/ppt/slides/slide13.xml" Id="R51367a3fefde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dfaec094a47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9fc9742c946aa" /><Relationship Type="http://schemas.openxmlformats.org/officeDocument/2006/relationships/notesMaster" Target="/ppt/notesMasters/notesMaster1.xml" Id="R35c2fccd36a842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96f1fe9d14361" /><Relationship Type="http://schemas.openxmlformats.org/officeDocument/2006/relationships/notesMaster" Target="/ppt/notesMasters/notesMaster1.xml" Id="R9da0aba19ae84d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409d3dbaa4384" /><Relationship Type="http://schemas.openxmlformats.org/officeDocument/2006/relationships/notesMaster" Target="/ppt/notesMasters/notesMaster1.xml" Id="Re4a8d03338dd4b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c1279c313349b6" /><Relationship Type="http://schemas.openxmlformats.org/officeDocument/2006/relationships/notesMaster" Target="/ppt/notesMasters/notesMaster1.xml" Id="Rc4e6385cccf0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ed29d9df614c36" /><Relationship Type="http://schemas.openxmlformats.org/officeDocument/2006/relationships/notesMaster" Target="/ppt/notesMasters/notesMaster1.xml" Id="R351ed3753336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c172f3a614684" /><Relationship Type="http://schemas.openxmlformats.org/officeDocument/2006/relationships/notesMaster" Target="/ppt/notesMasters/notesMaster1.xml" Id="R0b30cd50ed9247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3f87cdb5f84bcb" /><Relationship Type="http://schemas.openxmlformats.org/officeDocument/2006/relationships/notesMaster" Target="/ppt/notesMasters/notesMaster1.xml" Id="R7dc1631c67c648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5400de3ab468c" /><Relationship Type="http://schemas.openxmlformats.org/officeDocument/2006/relationships/notesMaster" Target="/ppt/notesMasters/notesMaster1.xml" Id="R73379726d701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e0f6663d144efd" /><Relationship Type="http://schemas.openxmlformats.org/officeDocument/2006/relationships/notesMaster" Target="/ppt/notesMasters/notesMaster1.xml" Id="Rc341177208014d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11914583047ac" /><Relationship Type="http://schemas.openxmlformats.org/officeDocument/2006/relationships/notesMaster" Target="/ppt/notesMasters/notesMaster1.xml" Id="Rf8d055f0cd9547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6de0615bde4f4a" /><Relationship Type="http://schemas.openxmlformats.org/officeDocument/2006/relationships/notesMaster" Target="/ppt/notesMasters/notesMaster1.xml" Id="R4db35b376f4047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07479aa80046dc" /><Relationship Type="http://schemas.openxmlformats.org/officeDocument/2006/relationships/notesMaster" Target="/ppt/notesMasters/notesMaster1.xml" Id="R82824a1060924e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13a4ee35224044" /><Relationship Type="http://schemas.openxmlformats.org/officeDocument/2006/relationships/notesMaster" Target="/ppt/notesMasters/notesMaster1.xml" Id="R972dc5c6cf15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Avaa kertomalla, että esitys yhdistää julkaisupäätöksen ja ensimmäiset testisignaalit. Tavoite on sopia rajatusta ensimmäisestä julkaisusta sekä ylläpidon vastuista.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C:\dev\Aloitussivu\README.md</a:t>
            </a:r>
          </a:p>
          <a:p xmlns:a="http://schemas.openxmlformats.org/drawingml/2006/main">
            <a:r>
              <a:t>- Käyttäjän julkausrajaus tässä tehtävässä, 12.8.2026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Korosta, ettei kyse ole uudesta hakukoneesta vaan kuratoidusta aloituspisteestä. Käyttäjä voi edetä selkeiden kategorioiden, paikallisten palvelujen tai internet-haun kautta.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C:\dev\Aloitussivu\README.md</a:t>
            </a:r>
          </a:p>
          <a:p xmlns:a="http://schemas.openxmlformats.org/drawingml/2006/main">
            <a:r>
              <a:t>- C:\dev\Aloitussivu\docs\nykyarkkitehtuuri-asiantuntijakuvaus-2026-06-14.md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Tekoäly ja nimipäivät tulee piilottaa myös asetuksista, perehdytyksestä ja palvelukutsuista. Pelkkä painikkeen piilottaminen ei riitä, jos taustakutsu jää aktiiviseksi.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Käyttäjän julkausrajaus tässä tehtävässä, 12.8.2026</a:t>
            </a:r>
          </a:p>
          <a:p xmlns:a="http://schemas.openxmlformats.org/drawingml/2006/main">
            <a:r>
              <a:t>- C:\dev\Aloitussivu\App.tsx</a:t>
            </a:r>
          </a:p>
          <a:p xmlns:a="http://schemas.openxmlformats.org/drawingml/2006/main">
            <a:r>
              <a:t>- C:\dev\Aloitussivu\components\OnboardingTour.tsx</a:t>
            </a:r>
          </a:p>
          <a:p xmlns:a="http://schemas.openxmlformats.org/drawingml/2006/main">
            <a:r>
              <a:t>- C:\dev\Aloitussivu\services\nameDayService.ts</a:t>
            </a:r>
          </a:p>
          <a:p xmlns:a="http://schemas.openxmlformats.org/drawingml/2006/main">
            <a:r>
              <a:t>- C:\dev\Aloitussivu\services\geminiService.ts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Julkaisuportit kannattaa kirjata tarkistuslistaksi, jossa jokaisella kohdalla on omistaja ja hyväksyjä. SeniorSurf-alipolku poistaa oman DNS-päätöksen, mutta ei poista canonical-, reititys-, suojaus- tai selosteiden päivitystarvetta.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C:\dev\Aloitussivu\docs\julkaisun-paatoslista-2026-07-08.md</a:t>
            </a:r>
          </a:p>
          <a:p xmlns:a="http://schemas.openxmlformats.org/drawingml/2006/main">
            <a:r>
              <a:t>- C:\dev\Aloitussivu\docs\elokuun-julkaisusuunnitelma.md</a:t>
            </a:r>
          </a:p>
          <a:p xmlns:a="http://schemas.openxmlformats.org/drawingml/2006/main">
            <a:r>
              <a:t>- C:\dev\Aloitussivu\vite.config.ts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Ehdotettu rytmi: viikoittain tekninen tarkistus, kuukausittain poikkeamien hyväksyntä ja kvartaalittain laajempi saavutettavuus-, turvallisuus- ja varmistustarkistus. Kuukausiarvio ei sisällä suuria sisältöuudistuksia.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C:\dev\Aloitussivu\README.md</a:t>
            </a:r>
          </a:p>
          <a:p xmlns:a="http://schemas.openxmlformats.org/drawingml/2006/main">
            <a:r>
              <a:t>- C:\dev\Aloitussivu\scripts\update-links.mjs</a:t>
            </a:r>
          </a:p>
          <a:p xmlns:a="http://schemas.openxmlformats.org/drawingml/2006/main">
            <a:r>
              <a:t>- C:\dev\Aloitussivu\TODO_HUMAN.md</a:t>
            </a:r>
          </a:p>
          <a:p xmlns:a="http://schemas.openxmlformats.org/drawingml/2006/main">
            <a:r>
              <a:t>- Arvio perustuu nykyisen linkkiskriptin tuottamiin poikkeamaraportteihin ja rajattuun julkaisuversioon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Nykyinen update-links.mjs tarkistaa jo URL-rakenteen, DNS:n, HTTP:n, uudelleenohjauksen, sisältösignaalin ja riskipisteet sekä tuottaa CSV-raportit ja piilotuslistan. Seuraava askel on ajastus, uusintalogiikka, muutoshistoria ja ilmoituskanava. Sähköpostin salaisuudet säilytetään palvelinpuolella. Suora selaintarkistus ei ole suositeltava CORS-, bottisuojaus- ja aikakatkaisuongelmien vuoksi.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C:\dev\Aloitussivu\scripts\update-links.mjs</a:t>
            </a:r>
          </a:p>
          <a:p xmlns:a="http://schemas.openxmlformats.org/drawingml/2006/main">
            <a:r>
              <a:t>- C:\dev\Aloitussivu\README.md</a:t>
            </a:r>
          </a:p>
          <a:p xmlns:a="http://schemas.openxmlformats.org/drawingml/2006/main">
            <a:r>
              <a:t>- C:\dev\Aloitussivu\TODO_HUMAN.md</a:t>
            </a:r>
          </a:p>
          <a:p xmlns:a="http://schemas.openxmlformats.org/drawingml/2006/main">
            <a:r>
              <a:t>- C:\dev\Aloitussivu\.github\workflows\deploy.yml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AI-tunti tarkoittaa aktiivista agentti- tai automaatiotyötä; ihmistunti päätöksiä, tunnuksia, sisällön hyväksyntää ja käsin tehtävää testausta. Perusjulkaisun arvio: toimintojen piilotus 4–6 AI h / 1–2 ih h; alipolku ja julkaisutekniikka 6–10 / 3–5; sisältö-, saavutettavuus- ja laitetestit 8–12 / 5–8; ohjeet ja luovutus 6–8 / 3. Linkkiautomaatio lisää 10–16 AI h ja 3–6 ih h. Arvio ei sisällä SeniorSurf-palvelimen odotusaikaa tai laajaa sisällön uudelleenkirjoitusta.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C:\dev\Aloitussivu\docs\julkaisun-paatoslista-2026-07-08.md</a:t>
            </a:r>
          </a:p>
          <a:p xmlns:a="http://schemas.openxmlformats.org/drawingml/2006/main">
            <a:r>
              <a:t>- C:\dev\Aloitussivu\docs\elokuun-julkaisusuunnitelma.md</a:t>
            </a:r>
          </a:p>
          <a:p xmlns:a="http://schemas.openxmlformats.org/drawingml/2006/main">
            <a:r>
              <a:t>- C:\dev\Aloitussivu\TODO_HUMAN.md</a:t>
            </a:r>
          </a:p>
          <a:p xmlns:a="http://schemas.openxmlformats.org/drawingml/2006/main">
            <a:r>
              <a:t>- Työmääräarvio nykyisen koodipohjan ja käyttäjän 12.8.2026 antaman rajauksen perusteella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Korosta, että vastausaste on 2/6 eli 33 %, joten havainnot ovat suuntaa-antavia.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testing status in this task, 2026-08-10.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Keskiarvot: hyödyllisyys (4+5)/2 = 4,5; helppokäyttöisyys (4+5)/2 = 4,5.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Fields: usefulnessRating, easeRating, recommend, purposeClear, foundServices, deviceTypes.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Sitaatit on lyhennetty vain välimerkkien ja rivinvaihtojen osalta; merkitys on säilytetty.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Open fields: firstImpression, mostImportantFix, bestThing, unclearCategory, searchedFor.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Kaavio säilyttää yhden testaajan alkuperäiset arviot. Tekoäly ja nimipäivät näkyvät siksi aineistossa, mutta tiimin julkaisurajaus ohittaa niiden priorisoinnin ensimmäisessä versiossa.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2026-08-10; featureRatings n=1</a:t>
            </a:r>
          </a:p>
          <a:p xmlns:a="http://schemas.openxmlformats.org/drawingml/2006/main">
            <a:r>
              <a:t>- Käyttäjän julkausrajaus tässä tehtävässä, 12.8.2026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Ehdotus tiimille: valmistellaan tiivistys, mutta vältetään laaja uudelleenjärjestely ennen lisävastauksia.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test-feedback export, 2026-08-10 (n=2). Direct fix suggestion: condense excessive detail at the end of the page.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Pyydä tiimiltä kolme päätöstä: rajaus, omistajat ja tavoitepäivä. Palautekooste päivitetään, kun loput vastaajat ovat vastanneet, mutta rajatun julkaisun tekninen valmistelu voi alkaa heti.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Käyttäjän julkausrajaus tässä tehtävässä, 12.8.2026</a:t>
            </a:r>
          </a:p>
          <a:p xmlns:a="http://schemas.openxmlformats.org/drawingml/2006/main">
            <a:r>
              <a:t>- C:\dev\Aloitussivu\docs\julkaisun-paatoslista-2026-07-08.md</a:t>
            </a:r>
          </a:p>
          <a:p xmlns:a="http://schemas.openxmlformats.org/drawingml/2006/main">
            <a:r>
              <a:t>- Alkuperäisen esityksen päivitysmalli vastauksille 3–6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efa0ba50c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cef6ee3b6485b" /><Relationship Type="http://schemas.openxmlformats.org/officeDocument/2006/relationships/slideLayout" Target="/ppt/slideLayouts/slideLayout1.xml" Id="R2a367a37c3eb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67a37c3eb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2b5df17844314" /><Relationship Type="http://schemas.openxmlformats.org/officeDocument/2006/relationships/notesSlide" Target="/ppt/notesSlides/notesSlide1.xml" Id="Rb689398a43c649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a382c7654cee" /><Relationship Type="http://schemas.openxmlformats.org/officeDocument/2006/relationships/notesSlide" Target="/ppt/notesSlides/notesSlide2.xml" Id="R99a42a1412e342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e094184be4c2b" /><Relationship Type="http://schemas.openxmlformats.org/officeDocument/2006/relationships/notesSlide" Target="/ppt/notesSlides/notesSlide3.xml" Id="R260e51f9ae16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d4a21e5744f46" /><Relationship Type="http://schemas.openxmlformats.org/officeDocument/2006/relationships/notesSlide" Target="/ppt/notesSlides/notesSlide4.xml" Id="R7ce2f9ce7ddd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956383fa4fbc" /><Relationship Type="http://schemas.openxmlformats.org/officeDocument/2006/relationships/notesSlide" Target="/ppt/notesSlides/notesSlide5.xml" Id="R4cabc24da585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01d60b4a24c46" /><Relationship Type="http://schemas.openxmlformats.org/officeDocument/2006/relationships/notesSlide" Target="/ppt/notesSlides/notesSlide6.xml" Id="Rb428c7185825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d40d8f224f26" /><Relationship Type="http://schemas.openxmlformats.org/officeDocument/2006/relationships/notesSlide" Target="/ppt/notesSlides/notesSlide7.xml" Id="R866a735f327a46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fb211e26e4364" /><Relationship Type="http://schemas.openxmlformats.org/officeDocument/2006/relationships/notesSlide" Target="/ppt/notesSlides/notesSlide8.xml" Id="R864f1957fa5848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19b5604ca47d2" /><Relationship Type="http://schemas.openxmlformats.org/officeDocument/2006/relationships/notesSlide" Target="/ppt/notesSlides/notesSlide9.xml" Id="R9c045c8f2aea40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c237ca31542fd" /><Relationship Type="http://schemas.openxmlformats.org/officeDocument/2006/relationships/notesSlide" Target="/ppt/notesSlides/notesSlide10.xml" Id="R1fea92b44cf1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83d683c547ab" /><Relationship Type="http://schemas.openxmlformats.org/officeDocument/2006/relationships/chart" Target="/ppt/slides/charts/chart1.xml" Id="R1dba91cd9ac6433a" /><Relationship Type="http://schemas.openxmlformats.org/officeDocument/2006/relationships/notesSlide" Target="/ppt/notesSlides/notesSlide11.xml" Id="R246a6edb25d147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771338c54738" /><Relationship Type="http://schemas.openxmlformats.org/officeDocument/2006/relationships/notesSlide" Target="/ppt/notesSlides/notesSlide12.xml" Id="Rbd513beed2224b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bd13655c64ac1" /><Relationship Type="http://schemas.openxmlformats.org/officeDocument/2006/relationships/notesSlide" Target="/ppt/notesSlides/notesSlide13.xml" Id="R797eabc012a4444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Tarpeellisuus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Sää</c:v>
              </c:pt>
              <c:pt idx="1">
                <c:v>Internet-haku</c:v>
              </c:pt>
              <c:pt idx="2">
                <c:v>Huijausvaroit.</c:v>
              </c:pt>
              <c:pt idx="3">
                <c:v>Lähelläsi</c:v>
              </c:pt>
              <c:pt idx="4">
                <c:v>Tekoäly</c:v>
              </c:pt>
              <c:pt idx="5">
                <c:v>Kategoriahaku</c:v>
              </c:pt>
              <c:pt idx="6">
                <c:v>Paikallisuut.</c:v>
              </c:pt>
              <c:pt idx="7">
                <c:v>Nimipäivät</c:v>
              </c:pt>
              <c:pt idx="8">
                <c:v>Suosikit</c:v>
              </c:pt>
            </c:strLit>
          </c:cat>
          <c:val>
            <c:numLit>
              <c:formatCode>General</c:formatCode>
              <c:ptCount val="9"/>
              <c:pt idx="0">
                <c:v>5</c:v>
              </c:pt>
              <c:pt idx="1">
                <c:v>5</c:v>
              </c:pt>
              <c:pt idx="2">
                <c:v>5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3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8E4EF97-B953-4EC3-87A1-07F9FEE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ALOITUSSIVU · TIIMIKOONTI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8DE084-C060-4EFE-8F5E-699D5B8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8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Aloitussivu
— kohti julkaisua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CE297-7131-4A31-A1B8-0C7B830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620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Julkaisuvalmius, ylläpitomalli ja ensimmäinen testauspalaute · 12.8.2026</a:t>
            </a:r>
          </a:p>
        </p:txBody>
      </p:sp>
    </p:spTree>
    <p:extLst>
      <p:ext uri="{BB962C8B-B14F-4D97-AF65-F5344CB8AC3E}">
        <p14:creationId xmlns:p14="http://schemas.microsoft.com/office/powerpoint/2010/main" val="31640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Aloitussivu kokoaa arjen palvelut yhteen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SeniorSurf-toimintaan rakennettu selkeä aloitusnäkymä ikääntyneille ja heidän tukijoilleen.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Tavoite on vähentää etsimistä ja tarjota luotettava reitti yleisiin sekä oman alueen palveluihin.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94681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paikka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07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Yleiset ja paikalliset palvelut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Selkeä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984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Suuret painikkeet ja kategoriat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Turva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187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Linkit ja huijausvaroitukset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Ensimmäinen julkaisu rajataan tarkoituksella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Julkaisupaikka on seniorsurf.fi/aloitussivu ilman omaa domainia.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Rajaus vähentää ulkoisia riippuvuuksia ja nopeuttaa hyväksyttävän perusversion julkaisua.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Julkaistaan nyt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Siirretään myöhemmäksi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606"/>
          </a:bodyPr>
          <a:lstStyle xmlns:a="http://schemas.openxmlformats.org/drawingml/2006/main"/>
          <a:p xmlns:a="http://schemas.openxmlformats.org/drawingml/2006/main"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linkit, kategoriat ja internet-haku
• paikalliset palvelut, sää ja huijausvaroitukset
• suosikit, kielet ja saavutettavuusasetukset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tekoälyavustaja ja uutistiivistykset
• nimipäivätoiminto ja sen rajapinta
• oma domain ja laajempi alustamigraatio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849"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Ennen julkaisua tarvitaan kolme hyväksyntää</a:t>
            </a:r>
          </a:p>
        </p:txBody>
      </p:sp>
      <p:cxnSp>
        <p:nvCxnSpPr>
          <p:cNvPr id="24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106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 Julkaisusisältö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Piilota tekoäly ja nimipäivät kaikista näkymistä. Siivoa testi- ja ylläpitolinkit. Tarkista kategoriat ja tärkeimmät linkit.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SISÄLTÖ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98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2. Tekninen julkaisu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Testaa /aloitussivu-polku, assetit, reitit, canonical, sitemap, analytiikka, suojausotsikot, välimuisti ja palautekanavat.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TEKNIIKKA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235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Hyväksyntä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Suorita mobiili-, näppäimistö-, ruudunlukija- ja selaintestit. Päivitä tietosuoja, saavutettavuus, yhteystiedot ja ylläpito-ohje.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HYVÄKSYNTÄ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Kuukausihuolto vie vain 2–4 ihmistuntia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Automaatio kerää poikkeamat, mutta ihminen päättää linkkien poistosta ja sisältömuutoksista.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Selkeä rytmi vähentää ylläpidon kuormaa ja estää yksittäisten virheiden muuttumisen pitkäksi korjausjonoksi.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1× / vko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984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Viikoittainen automaattiajo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2–4 h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Poikkeamat / kk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kk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984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Laajempi laatutarkistus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80"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Linkkien tarkistus voidaan automatisoida</a:t>
            </a:r>
          </a:p>
        </p:txBody>
      </p:sp>
      <p:sp>
        <p:nvSpPr>
          <p:cNvPr id="3" name="status-subtitle">
            <a:extLst xmlns:a="http://schemas.openxmlformats.org/drawingml/2006/main"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Suositus: palvelin tarkistaa, selain hyväksyy poikkeamat.</a:t>
            </a:r>
          </a:p>
        </p:txBody>
      </p:sp>
      <p:cxnSp>
        <p:nvCxnSpPr>
          <p:cNvPr id="25" name="status-line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tatus-node-1">
            <a:extLst xmlns:a="http://schemas.openxmlformats.org/drawingml/2006/main"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tus-node-2">
            <a:extLst xmlns:a="http://schemas.openxmlformats.org/drawingml/2006/main"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tatus-node-3">
            <a:extLst xmlns:a="http://schemas.openxmlformats.org/drawingml/2006/main"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AUTOMAATTIAJO</a:t>
            </a:r>
          </a:p>
        </p:txBody>
      </p:sp>
      <p:sp>
        <p:nvSpPr>
          <p:cNvPr id="9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80"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 Actions</a:t>
            </a:r>
          </a:p>
          <a:p xmlns:a="http://schemas.openxmlformats.org/drawingml/2006/main"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Viikoittain muutokset, kuukausittain kaikki linkit. Epäonnistuminen uusitaan 2–3 kertaa.</a:t>
            </a:r>
          </a:p>
        </p:txBody>
      </p:sp>
      <p:sp>
        <p:nvSpPr>
          <p:cNvPr id="1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KOONTIRAPORTTI</a:t>
            </a:r>
          </a:p>
        </p:txBody>
      </p:sp>
      <p:sp>
        <p:nvSpPr>
          <p:cNvPr id="11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536"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Sähköposti + issue</a:t>
            </a:r>
          </a:p>
          <a:p xmlns:a="http://schemas.openxmlformats.org/drawingml/2006/main"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CSV/HTML: vihreä, tarkista tai piilota. Koonti sähköpostiin ja GitHub-issueen.</a:t>
            </a:r>
          </a:p>
        </p:txBody>
      </p:sp>
      <p:sp>
        <p:nvSpPr>
          <p:cNvPr id="12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IHMISEN PÄÄTÖS</a:t>
            </a:r>
          </a:p>
        </p:txBody>
      </p:sp>
      <p:sp>
        <p:nvSpPr>
          <p:cNvPr id="13" name="status-copy-3">
            <a:extLst xmlns:a="http://schemas.openxmlformats.org/drawingml/2006/main"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80"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Selainhyväksyntä</a:t>
            </a:r>
          </a:p>
          <a:p xmlns:a="http://schemas.openxmlformats.org/drawingml/2006/main"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Selain näyttää vain poikkeamat. Ylläpitäjä hyväksyy domain- ja sisältömuutokset.</a:t>
            </a:r>
          </a:p>
        </p:txBody>
      </p:sp>
    </p:spTree>
    <p:extLst>
      <p:ext uri="{BB962C8B-B14F-4D97-AF65-F5344CB8AC3E}">
        <p14:creationId xmlns:p14="http://schemas.microsoft.com/office/powerpoint/2010/main" val="1517722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Julkaisu on realistinen 1–2 viikossa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Perusjulkaisu: 24–36 tekoälytuntia ja 12–18 ihmistuntia.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Linkkiautomaatio mukaan lukien: 34–52 AI-tuntia ja 15–24 ihmistuntia. Arvio edellyttää valmiita käyttöoikeuksia ja päätöksiä.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24–36 h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AI:
perusjulkaisu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12–18 h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309"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Ihminen:
päätökset + hyväksyntä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+10–16 h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Automaatio:
AI-lisätyö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Kaksi vastausta näyttää suunnan</a:t>
            </a:r>
          </a:p>
        </p:txBody>
      </p:sp>
      <p:sp>
        <p:nvSpPr>
          <p:cNvPr id="3" name="status-subtitle">
            <a:extLst xmlns:a="http://schemas.openxmlformats.org/drawingml/2006/main"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on vasta kolmasosa tavoitellusta kokonaisuudesta.</a:t>
            </a:r>
          </a:p>
        </p:txBody>
      </p:sp>
      <p:cxnSp>
        <p:nvCxnSpPr>
          <p:cNvPr id="25" name="status-line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tatus-node-1">
            <a:extLst xmlns:a="http://schemas.openxmlformats.org/drawingml/2006/main"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tus-node-2">
            <a:extLst xmlns:a="http://schemas.openxmlformats.org/drawingml/2006/main"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tatus-node-3">
            <a:extLst xmlns:a="http://schemas.openxmlformats.org/drawingml/2006/main"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SAATU</a:t>
            </a:r>
          </a:p>
        </p:txBody>
      </p:sp>
      <p:sp>
        <p:nvSpPr>
          <p:cNvPr id="9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33 % kutsutuista.
Koonti perustuu nyt kahteen puhelimella testanneeseen.</a:t>
            </a:r>
          </a:p>
        </p:txBody>
      </p:sp>
      <p:sp>
        <p:nvSpPr>
          <p:cNvPr id="1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LUVATTU TÄNÄÄN</a:t>
            </a:r>
          </a:p>
        </p:txBody>
      </p:sp>
      <p:sp>
        <p:nvSpPr>
          <p:cNvPr id="11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voi kaksinkertaistua päivän aikana. Päivitä luvut heti niiden saavuttua.</a:t>
            </a:r>
          </a:p>
        </p:txBody>
      </p:sp>
      <p:sp>
        <p:nvSpPr>
          <p:cNvPr id="12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VIELÄ AVOINNA</a:t>
            </a:r>
          </a:p>
        </p:txBody>
      </p:sp>
      <p:sp>
        <p:nvSpPr>
          <p:cNvPr id="13" name="status-copy-3">
            <a:extLst xmlns:a="http://schemas.openxmlformats.org/drawingml/2006/main"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Lopulliset johtopäätökset tehdään vasta, kun kaikki kuusi ovat vastanneet.</a:t>
            </a:r>
          </a:p>
        </p:txBody>
      </p:sp>
    </p:spTree>
    <p:extLst>
      <p:ext uri="{BB962C8B-B14F-4D97-AF65-F5344CB8AC3E}">
        <p14:creationId xmlns:p14="http://schemas.microsoft.com/office/powerpoint/2010/main" val="1517722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Ensimmäinen kokonaiskuva on vahvasti myönteinen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Molemmat ymmärsivät sivun tarkoituksen, löysivät etsimänsä ja suosittelisivat sivua.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Tulokset ovat alustavia (n=2) ja kuvaavat vain puhelimella testaamista.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Hyödyllisyys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Helppokäyttöisyys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Suosittelisi sivua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AFFE87E-5C4D-4C70-9F77-FB9A09E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ED7B2-3C3E-4089-9F1E-7BBEC23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Palaute kiteytyy kahteen yhtä tärkeään viestiin</a:t>
            </a:r>
          </a:p>
        </p:txBody>
      </p:sp>
      <p:sp>
        <p:nvSpPr>
          <p:cNvPr id="3" name="voices-intro">
            <a:extLst xmlns:a="http://schemas.openxmlformats.org/drawingml/2006/main">
              <a:ext uri="{FF2B5EF4-FFF2-40B4-BE49-F238E27FC236}">
                <a16:creationId xmlns:a16="http://schemas.microsoft.com/office/drawing/2014/main" id="{D6847629-95FA-4D84-8666-27D9E3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Alku toimii ja palvelut löytyvät.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Samaan aikaan sivun loppu tarvitsee yhden vastaajan mukaan selkeämpää tiivistämistä.</a:t>
            </a:r>
          </a:p>
        </p:txBody>
      </p:sp>
      <p:sp>
        <p:nvSpPr>
          <p:cNvPr id="4" name="positive-voice-panel">
            <a:extLst xmlns:a="http://schemas.openxmlformats.org/drawingml/2006/main">
              <a:ext uri="{FF2B5EF4-FFF2-40B4-BE49-F238E27FC236}">
                <a16:creationId xmlns:a16="http://schemas.microsoft.com/office/drawing/2014/main" id="{029933CE-BFE9-442A-AF56-C5F2FC4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critical-voice-panel">
            <a:extLst xmlns:a="http://schemas.openxmlformats.org/drawingml/2006/main">
              <a:ext uri="{FF2B5EF4-FFF2-40B4-BE49-F238E27FC236}">
                <a16:creationId xmlns:a16="http://schemas.microsoft.com/office/drawing/2014/main" id="{63E89CA3-045F-4611-824D-22C2CA3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ositive-quote">
            <a:extLst xmlns:a="http://schemas.openxmlformats.org/drawingml/2006/main">
              <a:ext uri="{FF2B5EF4-FFF2-40B4-BE49-F238E27FC236}">
                <a16:creationId xmlns:a16="http://schemas.microsoft.com/office/drawing/2014/main" id="{53F7192A-F6E8-4B84-A3D2-D871D76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“Kaunis ja selkeä!”</a:t>
            </a:r>
          </a:p>
        </p:txBody>
      </p:sp>
      <p:sp>
        <p:nvSpPr>
          <p:cNvPr id="7" name="critical-quote">
            <a:extLst xmlns:a="http://schemas.openxmlformats.org/drawingml/2006/main">
              <a:ext uri="{FF2B5EF4-FFF2-40B4-BE49-F238E27FC236}">
                <a16:creationId xmlns:a16="http://schemas.microsoft.com/office/drawing/2014/main" id="{F6B3D5EF-249B-40B5-BFBD-CCE6E44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24250"/>
            <a:ext cx="4986909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“Alkuosa selkeä — lopun voisi tiivistää.”</a:t>
            </a:r>
          </a:p>
        </p:txBody>
      </p:sp>
      <p:sp>
        <p:nvSpPr>
          <p:cNvPr id="8" name="positive-detail">
            <a:extLst xmlns:a="http://schemas.openxmlformats.org/drawingml/2006/main">
              <a:ext uri="{FF2B5EF4-FFF2-40B4-BE49-F238E27FC236}">
                <a16:creationId xmlns:a16="http://schemas.microsoft.com/office/drawing/2014/main" id="{7EEFCB9A-3D4C-4108-8E82-A28FBA1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Selkeys, rauhallisuus, hyödyllisyys ja ulkoasu saivat kiitosta. Myös vaihtoehtoiset reitit eri pääluokkien kautta koettiin hyväksi.</a:t>
            </a:r>
          </a:p>
        </p:txBody>
      </p:sp>
      <p:sp>
        <p:nvSpPr>
          <p:cNvPr id="9" name="critical-detail">
            <a:extLst xmlns:a="http://schemas.openxmlformats.org/drawingml/2006/main">
              <a:ext uri="{FF2B5EF4-FFF2-40B4-BE49-F238E27FC236}">
                <a16:creationId xmlns:a16="http://schemas.microsoft.com/office/drawing/2014/main" id="{01F07760-3EE3-4234-A088-EBB33FB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Loppu koettiin liian yksityiskohtaiseksi. Kategoriat olivat tälle vastaajalle vain osittain selkeitä, vaikka haettu HSL löytyi.</a:t>
            </a:r>
          </a:p>
        </p:txBody>
      </p:sp>
    </p:spTree>
    <p:extLst>
      <p:ext uri="{BB962C8B-B14F-4D97-AF65-F5344CB8AC3E}">
        <p14:creationId xmlns:p14="http://schemas.microsoft.com/office/powerpoint/2010/main" val="1904941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F7692B2-97C0-4581-ABCD-A6350A2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D5CF48-C8C8-48A2-94A0-7F58EE2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Toimintojen arviot · n=1</a:t>
            </a:r>
          </a:p>
        </p:txBody>
      </p:sp>
      <p:sp>
        <p:nvSpPr>
          <p:cNvPr id="3" name="feature-card-1">
            <a:extLst xmlns:a="http://schemas.openxmlformats.org/drawingml/2006/main">
              <a:ext uri="{FF2B5EF4-FFF2-40B4-BE49-F238E27FC236}">
                <a16:creationId xmlns:a16="http://schemas.microsoft.com/office/drawing/2014/main" id="{DC845994-7B87-4700-8EC5-48633F3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4" name="feature-card-copy-1">
            <a:extLst xmlns:a="http://schemas.openxmlformats.org/drawingml/2006/main">
              <a:ext uri="{FF2B5EF4-FFF2-40B4-BE49-F238E27FC236}">
                <a16:creationId xmlns:a16="http://schemas.microsoft.com/office/drawing/2014/main" id="{140CAC18-B48C-4C8A-80EC-681D4CD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943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5/5 · Kolme toimintoa kärjessä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Sää, internet-haku ja huijausvaroitukset.</a:t>
            </a:r>
          </a:p>
        </p:txBody>
      </p:sp>
      <p:sp>
        <p:nvSpPr>
          <p:cNvPr id="5" name="feature-card-2">
            <a:extLst xmlns:a="http://schemas.openxmlformats.org/drawingml/2006/main">
              <a:ext uri="{FF2B5EF4-FFF2-40B4-BE49-F238E27FC236}">
                <a16:creationId xmlns:a16="http://schemas.microsoft.com/office/drawing/2014/main" id="{0BD55868-94EC-43DC-BE5D-C6DE92A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6" name="feature-card-copy-2">
            <a:extLst xmlns:a="http://schemas.openxmlformats.org/drawingml/2006/main">
              <a:ext uri="{FF2B5EF4-FFF2-40B4-BE49-F238E27FC236}">
                <a16:creationId xmlns:a16="http://schemas.microsoft.com/office/drawing/2014/main" id="{B4B5EA42-60CF-4DCF-B467-8638EFF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509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4/5 · Kaksi ydintoimintoa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Lähelläsi ja kategoriahaku.</a:t>
            </a:r>
          </a:p>
        </p:txBody>
      </p:sp>
      <p:sp>
        <p:nvSpPr>
          <p:cNvPr id="7" name="feature-card-3">
            <a:extLst xmlns:a="http://schemas.openxmlformats.org/drawingml/2006/main">
              <a:ext uri="{FF2B5EF4-FFF2-40B4-BE49-F238E27FC236}">
                <a16:creationId xmlns:a16="http://schemas.microsoft.com/office/drawing/2014/main" id="{62185A87-6E57-4912-A407-C44E5C1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feature-card-copy-3">
            <a:extLst xmlns:a="http://schemas.openxmlformats.org/drawingml/2006/main">
              <a:ext uri="{FF2B5EF4-FFF2-40B4-BE49-F238E27FC236}">
                <a16:creationId xmlns:a16="http://schemas.microsoft.com/office/drawing/2014/main" id="{B6A3DB9C-FEBF-469A-B1CB-8FF35C7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77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696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Rajattu pois julkaisusta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Tekoäly ja nimipäivät siirtyvät jatkokehitykseen; arvioita ei käytetä julkaisuehtoina.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8718" y="1238250"/>
          <a:ext xmlns:a="http://schemas.openxmlformats.org/drawingml/2006/main" cx="5334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a91cd9ac6433a"/>
          </a:graphicData>
        </a:graphic>
      </p:graphicFrame>
      <p:sp>
        <p:nvSpPr>
          <p:cNvPr id="10" name="feature-chart-scale">
            <a:extLst xmlns:a="http://schemas.openxmlformats.org/drawingml/2006/main">
              <a:ext uri="{FF2B5EF4-FFF2-40B4-BE49-F238E27FC236}">
                <a16:creationId xmlns:a16="http://schemas.microsoft.com/office/drawing/2014/main" id="{D526FB49-153C-42B0-839E-D842936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60769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Asteikko 1–5</a:t>
            </a:r>
          </a:p>
        </p:txBody>
      </p:sp>
    </p:spTree>
    <p:extLst>
      <p:ext uri="{BB962C8B-B14F-4D97-AF65-F5344CB8AC3E}">
        <p14:creationId xmlns:p14="http://schemas.microsoft.com/office/powerpoint/2010/main" val="1033554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Yksi muutos kannattaa valmistella jo nyt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Loppuosan tiivistäminen on ainoa suora kehitysehdotus tässä aineistossa.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Muut havainnot pidetään hypoteeseina, kunnes vastausmäärä kasvaa.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Valmistele nyt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Vahvista ensin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tiivistä loppuosan yksityiskohtia
• tarkista kategorioiden nimet
• säilytä selkeä alku ja puhelinluettavuus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ominaisuuksien prioriteetit
• paikallisuutisten hyöty
• suosikkien merkitys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Tiimin päätös: rajattu julkaisu ensin</a:t>
            </a:r>
          </a:p>
        </p:txBody>
      </p:sp>
      <p:cxnSp>
        <p:nvCxnSpPr>
          <p:cNvPr id="24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425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 Lukitkaa rajaus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Hyväksykää seniorsurf.fi/aloitussivu, ensimmäisen version sisältö sekä tekoälyn ja nimipäivien siirto jatkokehitykseen.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PÄÄTÖS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097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2. Nimetkää omistajat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Sopikaa teknisen julkaisun, sisällön, saavutettavuuden, palautteen ja kuukausihuollon vastuuhenkilöt sekä hyväksyjät.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OMISTAJAT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937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Julkaiskaa hallitusti</a:t>
            </a:r>
          </a:p>
          <a:p xmlns:a="http://schemas.openxmlformats.org/drawingml/2006/main"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Ajakaa julkaisuportit, siirtäkää palvelu, seuratkaa ensimmäinen viikko ja täydentäkää palautediat vastauksilla 3–6.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JULKAISU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2026-08-12T04:12:39.2370000Z</dcterms:created>
  <dcterms:modified xsi:type="dcterms:W3CDTF">2026-08-12T04:12:39.2370000Z</dcterms:modified>
</coreProperties>
</file>