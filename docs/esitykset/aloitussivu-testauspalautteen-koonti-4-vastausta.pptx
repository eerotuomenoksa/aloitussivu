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39ce8f4524439f" /><Relationship Type="http://schemas.openxmlformats.org/officeDocument/2006/relationships/extended-properties" Target="/docProps/app.xml" Id="R967254090ae6405f" /><Relationship Type="http://schemas.openxmlformats.org/officeDocument/2006/relationships/officeDocument" Target="/ppt/presentation.xml" Id="R99cdfaab7f7c426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0b5e8d5a2748cd"/>
  </p:sldMasterIdLst>
  <p:notesMasterIdLst>
    <p:notesMasterId xmlns:r="http://schemas.openxmlformats.org/officeDocument/2006/relationships" r:id="Ra531a359c4144bcb"/>
  </p:notesMasterIdLst>
  <p:sldIdLst>
    <p:sldId xmlns:r="http://schemas.openxmlformats.org/officeDocument/2006/relationships" id="256" r:id="R473c4abdf3f9447a"/>
    <p:sldId xmlns:r="http://schemas.openxmlformats.org/officeDocument/2006/relationships" id="257" r:id="Rb4dfa80f9b694127"/>
    <p:sldId xmlns:r="http://schemas.openxmlformats.org/officeDocument/2006/relationships" id="258" r:id="R02c18569396c415c"/>
    <p:sldId xmlns:r="http://schemas.openxmlformats.org/officeDocument/2006/relationships" id="259" r:id="Ref1d0e8047b948f1"/>
    <p:sldId xmlns:r="http://schemas.openxmlformats.org/officeDocument/2006/relationships" id="260" r:id="R0a0fd6bb7beb4777"/>
    <p:sldId xmlns:r="http://schemas.openxmlformats.org/officeDocument/2006/relationships" id="261" r:id="Re27266beef43496d"/>
    <p:sldId xmlns:r="http://schemas.openxmlformats.org/officeDocument/2006/relationships" id="262" r:id="R854c164b47704f2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f5f46e72fa4abd" /><Relationship Type="http://schemas.openxmlformats.org/officeDocument/2006/relationships/slideMaster" Target="/ppt/slideMasters/slideMaster1.xml" Id="R330b5e8d5a2748cd" /><Relationship Type="http://schemas.openxmlformats.org/officeDocument/2006/relationships/notesMaster" Target="/ppt/notesMasters/notesMaster1.xml" Id="Ra531a359c4144bcb" /><Relationship Type="http://schemas.openxmlformats.org/officeDocument/2006/relationships/presProps" Target="/ppt/presProps.xml" Id="Reebcd8a9e0b44ee0" /><Relationship Type="http://schemas.openxmlformats.org/officeDocument/2006/relationships/tableStyles" Target="/ppt/tableStyles.xml" Id="R99735377bbaf4467" /><Relationship Type="http://schemas.openxmlformats.org/officeDocument/2006/relationships/slide" Target="/ppt/slides/slide1.xml" Id="R473c4abdf3f9447a" /><Relationship Type="http://schemas.openxmlformats.org/officeDocument/2006/relationships/slide" Target="/ppt/slides/slide2.xml" Id="Rb4dfa80f9b694127" /><Relationship Type="http://schemas.openxmlformats.org/officeDocument/2006/relationships/slide" Target="/ppt/slides/slide3.xml" Id="R02c18569396c415c" /><Relationship Type="http://schemas.openxmlformats.org/officeDocument/2006/relationships/slide" Target="/ppt/slides/slide4.xml" Id="Ref1d0e8047b948f1" /><Relationship Type="http://schemas.openxmlformats.org/officeDocument/2006/relationships/slide" Target="/ppt/slides/slide5.xml" Id="R0a0fd6bb7beb4777" /><Relationship Type="http://schemas.openxmlformats.org/officeDocument/2006/relationships/slide" Target="/ppt/slides/slide6.xml" Id="Re27266beef43496d" /><Relationship Type="http://schemas.openxmlformats.org/officeDocument/2006/relationships/slide" Target="/ppt/slides/slide7.xml" Id="R854c164b47704f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6fd5d086c546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b0053367d34ba4" /><Relationship Type="http://schemas.openxmlformats.org/officeDocument/2006/relationships/notesMaster" Target="/ppt/notesMasters/notesMaster1.xml" Id="Rbe55e797093e47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fa9ec6c2db547d3" /><Relationship Type="http://schemas.openxmlformats.org/officeDocument/2006/relationships/notesMaster" Target="/ppt/notesMasters/notesMaster1.xml" Id="R28fc5871422c4cf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a3c5e17a1dd41a7" /><Relationship Type="http://schemas.openxmlformats.org/officeDocument/2006/relationships/notesMaster" Target="/ppt/notesMasters/notesMaster1.xml" Id="Rc884c1c83fd4472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82b64b755f14e05" /><Relationship Type="http://schemas.openxmlformats.org/officeDocument/2006/relationships/notesMaster" Target="/ppt/notesMasters/notesMaster1.xml" Id="R4058d8075e4641a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6a910a4077b44e1" /><Relationship Type="http://schemas.openxmlformats.org/officeDocument/2006/relationships/notesMaster" Target="/ppt/notesMasters/notesMaster1.xml" Id="R7177971df8d1463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d37f43b52874247" /><Relationship Type="http://schemas.openxmlformats.org/officeDocument/2006/relationships/notesMaster" Target="/ppt/notesMasters/notesMaster1.xml" Id="R274e8eb417f44a2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563807d6d314258" /><Relationship Type="http://schemas.openxmlformats.org/officeDocument/2006/relationships/notesMaster" Target="/ppt/notesMasters/notesMaster1.xml" Id="Rc1a0eaa876a44e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Esitys kokoaa neljän testaajan palautteen tiimin yhteiseen päätöksentekoon.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C:/Users/eero.tuomenoksa/Downloads/testipalaute-vastaukset (1).json (4 vastausta, 3.–10.8.2026).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Vastaajia on 4/6. Yksi henkilö testasi sekä puhelimella että tietokoneella.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C:/Users/eero.tuomenoksa/Downloads/testipalaute-vastaukset (1).json (4 vastausta, 3.–10.8.2026).</a:t>
            </a:r>
          </a:p>
          <a:p xmlns:a="http://schemas.openxmlformats.org/drawingml/2006/main">
            <a:r>
              <a:t>- Kentät: createdAt, deviceTypes.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Laskenta: hyödyllisyys (4+5+4+5)/4 = 4,5; helppokäyttöisyys (3+4+4+5)/4 = 4,0; suosittelisi 4/4.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C:/Users/eero.tuomenoksa/Downloads/testipalaute-vastaukset (1).json (4 vastausta, 3.–10.8.2026).</a:t>
            </a:r>
          </a:p>
          <a:p xmlns:a="http://schemas.openxmlformats.org/drawingml/2006/main">
            <a:r>
              <a:t>- Kentät: usefulnessRating, easeRating, recommend, foundServices, webExperience.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Sitaatit ovat suoria otteita avoimista vastauksista. Kaksi vastaajaa valitsi sivun tunteeksi ”liian täysi”; kolme valitsi ”hyödyllinen”.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C:/Users/eero.tuomenoksa/Downloads/testipalaute-vastaukset (1).json (4 vastausta, 3.–10.8.2026).</a:t>
            </a:r>
          </a:p>
          <a:p xmlns:a="http://schemas.openxmlformats.org/drawingml/2006/main">
            <a:r>
              <a:t>- Kentät: firstImpression, bestThing, pageFeelings, unclearCategory.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Keskiarvot kolmelta ominaisuudet arvioineelta: internet-haku 4,67; huijausvaroitukset 4,67; avustaja 4,33; Lähelläsi 4,33; sää 4,33; kategoriahaku 4,00; paikallisuutiset 4,00; suosikit 3,00; nimipäivät 2,33.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C:/Users/eero.tuomenoksa/Downloads/testipalaute-vastaukset (1).json (4 vastausta, 3.–10.8.2026).</a:t>
            </a:r>
          </a:p>
          <a:p xmlns:a="http://schemas.openxmlformats.org/drawingml/2006/main">
            <a:r>
              <a:t>- Kenttä: featureRatings (n=3).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Korjausesimerkkejä avoimesta palautteesta: hakukenttä peittyy kategoriapalkin alle; paluu alasivulta vie etusivun alkuun; Mukanetin ja Mäntsälän linkeissä on osuvuusongelmia; Koti- ja Tekniikka-kategorioita pidettiin epäselvinä; App Store ja sähköpostivaihtoehdot puuttuvat.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C:/Users/eero.tuomenoksa/Downloads/testipalaute-vastaukset (1).json (4 vastausta, 3.–10.8.2026).</a:t>
            </a:r>
          </a:p>
          <a:p xmlns:a="http://schemas.openxmlformats.org/drawingml/2006/main">
            <a:r>
              <a:t>- Kentät: mostImportantFix, missingFeature, missingService, missingLocalLink, unclearCategory.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Lopetusdia ohjaa tiimin sopimaan korjauksista jo nyt ja vahvistamaan prioriteetit, kun kaksi puuttuvaa vastausta on saatu.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C:/Users/eero.tuomenoksa/Downloads/testipalaute-vastaukset (1).json (4 vastausta, 3.–10.8.2026).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43e8aff1ab4a1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fcb5d2965fe4163" /><Relationship Type="http://schemas.openxmlformats.org/officeDocument/2006/relationships/slideLayout" Target="/ppt/slideLayouts/slideLayout1.xml" Id="Rf6c3fa59675041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6c3fa59675041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4a6a76e4b14b4b" /><Relationship Type="http://schemas.openxmlformats.org/officeDocument/2006/relationships/notesSlide" Target="/ppt/notesSlides/notesSlide1.xml" Id="R6cc726c123f94b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31b7ed89734316" /><Relationship Type="http://schemas.openxmlformats.org/officeDocument/2006/relationships/notesSlide" Target="/ppt/notesSlides/notesSlide2.xml" Id="R2413510508e945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62dd691c18433e" /><Relationship Type="http://schemas.openxmlformats.org/officeDocument/2006/relationships/notesSlide" Target="/ppt/notesSlides/notesSlide3.xml" Id="R5f3bdf06a62e48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65c81b2fb2488f" /><Relationship Type="http://schemas.openxmlformats.org/officeDocument/2006/relationships/notesSlide" Target="/ppt/notesSlides/notesSlide4.xml" Id="R61e1cbce5e634b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930950a90f46f3" /><Relationship Type="http://schemas.openxmlformats.org/officeDocument/2006/relationships/chart" Target="/ppt/slides/charts/chart1.xml" Id="R2f4bb6569ec24e5f" /><Relationship Type="http://schemas.openxmlformats.org/officeDocument/2006/relationships/notesSlide" Target="/ppt/notesSlides/notesSlide5.xml" Id="R8ce606c4e83445e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45f6302f5a4701" /><Relationship Type="http://schemas.openxmlformats.org/officeDocument/2006/relationships/notesSlide" Target="/ppt/notesSlides/notesSlide6.xml" Id="R560cfd4c29f443e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f31dd9f91b4cf1" /><Relationship Type="http://schemas.openxmlformats.org/officeDocument/2006/relationships/notesSlide" Target="/ppt/notesSlides/notesSlide7.xml" Id="R9dcf255a57b44794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Tarpeellisuus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9"/>
              <c:pt idx="0">
                <c:v>Nimipäivät</c:v>
              </c:pt>
              <c:pt idx="1">
                <c:v>Suosikit</c:v>
              </c:pt>
              <c:pt idx="2">
                <c:v>Paikallisuut.</c:v>
              </c:pt>
              <c:pt idx="3">
                <c:v>Kategoriahaku</c:v>
              </c:pt>
              <c:pt idx="4">
                <c:v>Sää</c:v>
              </c:pt>
              <c:pt idx="5">
                <c:v>Lähelläsi</c:v>
              </c:pt>
              <c:pt idx="6">
                <c:v>Tekoälyavust.</c:v>
              </c:pt>
              <c:pt idx="7">
                <c:v>Huijausvaroit.</c:v>
              </c:pt>
              <c:pt idx="8">
                <c:v>Internet-haku</c:v>
              </c:pt>
            </c:strLit>
          </c:cat>
          <c:val>
            <c:numLit>
              <c:formatCode>General</c:formatCode>
              <c:ptCount val="9"/>
              <c:pt idx="0">
                <c:v>2.3</c:v>
              </c:pt>
              <c:pt idx="1">
                <c:v>3</c:v>
              </c:pt>
              <c:pt idx="2">
                <c:v>4</c:v>
              </c:pt>
              <c:pt idx="3">
                <c:v>4</c:v>
              </c:pt>
              <c:pt idx="4">
                <c:v>4.3</c:v>
              </c:pt>
              <c:pt idx="5">
                <c:v>4.3</c:v>
              </c:pt>
              <c:pt idx="6">
                <c:v>4.3</c:v>
              </c:pt>
              <c:pt idx="7">
                <c:v>4.7</c:v>
              </c:pt>
              <c:pt idx="8">
                <c:v>4.7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nextTo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5"/>
          <c:min val="0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FFFFF"/>
                </a:solidFill>
              </a:defRPr>
            </a:pPr>
          </a:p>
        </c:txPr>
        <c:crossAx val="48650112"/>
        <c:crossBetween val="between"/>
        <c:majorUnit val="1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58E4EF97-B953-4EC3-87A1-07F9FEE8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905500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ALOITUSSIVU · TIIMIKOONTI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198DE084-C060-4EFE-8F5E-699D5B8FB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100965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6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0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Testauspalaute</a:t>
            </a:r>
            <a:br>
              <a:rPr sz="60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</a:br>
            <a:r>
              <a:rPr sz="60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— suunta vahvistuu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C87CE297-7131-4A31-A1B8-0C7B8307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7620000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1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Tilanne 10.8.2026 · 4/6 vastausta · tiimikoonti</a:t>
            </a:r>
          </a:p>
        </p:txBody>
      </p:sp>
    </p:spTree>
    <p:extLst>
      <p:ext uri="{BB962C8B-B14F-4D97-AF65-F5344CB8AC3E}">
        <p14:creationId xmlns:p14="http://schemas.microsoft.com/office/powerpoint/2010/main" val="3164012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E8DD2094-D2A2-4588-B093-CE052EFB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spcAft>
                <a:spcPts val="0"/>
              </a:spcAft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B7E68B6-DEEB-4762-BCED-390EF0711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Aft>
                <a:spcPts val="0"/>
              </a:spcAft>
              <a:buNone/>
              <a:defRPr sz="3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Neljä vastausta vahvistaa suunnan</a:t>
            </a:r>
          </a:p>
        </p:txBody>
      </p:sp>
      <p:sp>
        <p:nvSpPr>
          <p:cNvPr id="3" name="status-subtitle">
            <a:extLst xmlns:a="http://schemas.openxmlformats.org/drawingml/2006/main">
              <a:ext uri="{FF2B5EF4-FFF2-40B4-BE49-F238E27FC236}">
                <a16:creationId xmlns:a16="http://schemas.microsoft.com/office/drawing/2014/main" id="{D97F6392-8B69-4000-89BD-740E57B2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90625"/>
            <a:ext cx="8572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Kaksi vastausta puuttuu vielä tavoitellusta kokonaisuudesta.</a:t>
            </a:r>
          </a:p>
        </p:txBody>
      </p:sp>
      <p:cxnSp>
        <p:nvCxnSpPr>
          <p:cNvPr id="25" name="status-line"/>
          <p:cNvCxnSpPr/>
          <p:nvPr/>
        </p:nvCxnSpPr>
        <p:spPr>
          <a:xfrm xmlns:a="http://schemas.openxmlformats.org/drawingml/2006/main">
            <a:off x="337757" y="3373755"/>
            <a:ext cx="11458575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5" name="status-node-1">
            <a:extLst xmlns:a="http://schemas.openxmlformats.org/drawingml/2006/main">
              <a:ext uri="{FF2B5EF4-FFF2-40B4-BE49-F238E27FC236}">
                <a16:creationId xmlns:a16="http://schemas.microsoft.com/office/drawing/2014/main" id="{C072C16B-F657-4C91-A9D8-49ACC49B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0327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status-node-2">
            <a:extLst xmlns:a="http://schemas.openxmlformats.org/drawingml/2006/main">
              <a:ext uri="{FF2B5EF4-FFF2-40B4-BE49-F238E27FC236}">
                <a16:creationId xmlns:a16="http://schemas.microsoft.com/office/drawing/2014/main" id="{00B39FB1-913A-4DE8-BDF7-20007B37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0327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7" name="status-node-3">
            <a:extLst xmlns:a="http://schemas.openxmlformats.org/drawingml/2006/main">
              <a:ext uri="{FF2B5EF4-FFF2-40B4-BE49-F238E27FC236}">
                <a16:creationId xmlns:a16="http://schemas.microsoft.com/office/drawing/2014/main" id="{A4F3229A-037C-4B09-88DD-84E900C8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0327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" name="status-label-1">
            <a:extLst xmlns:a="http://schemas.openxmlformats.org/drawingml/2006/main">
              <a:ext uri="{FF2B5EF4-FFF2-40B4-BE49-F238E27FC236}">
                <a16:creationId xmlns:a16="http://schemas.microsoft.com/office/drawing/2014/main" id="{993F9080-22AC-4682-8F74-49130928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2843308"/>
            <a:ext cx="285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SAATU</a:t>
            </a:r>
          </a:p>
        </p:txBody>
      </p:sp>
      <p:sp>
        <p:nvSpPr>
          <p:cNvPr id="9" name="status-copy-1">
            <a:extLst xmlns:a="http://schemas.openxmlformats.org/drawingml/2006/main">
              <a:ext uri="{FF2B5EF4-FFF2-40B4-BE49-F238E27FC236}">
                <a16:creationId xmlns:a16="http://schemas.microsoft.com/office/drawing/2014/main" id="{B04C4346-FE8A-4139-BC47-3A7E74493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900"/>
              </a:spcAft>
              <a:buNone/>
              <a:defRPr sz="25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 vastausta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25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67 % tavoitemäärästä.</a:t>
            </a:r>
            <a:b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</a:br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Kolme testasi puhelimella ja kaksi tietokoneella.</a:t>
            </a:r>
          </a:p>
        </p:txBody>
      </p:sp>
      <p:sp>
        <p:nvSpPr>
          <p:cNvPr id="10" name="status-label-2">
            <a:extLst xmlns:a="http://schemas.openxmlformats.org/drawingml/2006/main">
              <a:ext uri="{FF2B5EF4-FFF2-40B4-BE49-F238E27FC236}">
                <a16:creationId xmlns:a16="http://schemas.microsoft.com/office/drawing/2014/main" id="{DBD6C5E3-24E1-47D8-B3B3-EC24F748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2843308"/>
            <a:ext cx="285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AJALTA 3.–10.8.</a:t>
            </a:r>
          </a:p>
        </p:txBody>
      </p:sp>
      <p:sp>
        <p:nvSpPr>
          <p:cNvPr id="11" name="status-copy-2">
            <a:extLst xmlns:a="http://schemas.openxmlformats.org/drawingml/2006/main">
              <a:ext uri="{FF2B5EF4-FFF2-40B4-BE49-F238E27FC236}">
                <a16:creationId xmlns:a16="http://schemas.microsoft.com/office/drawing/2014/main" id="{5D632647-9E73-423D-90A9-7880F60A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900"/>
              </a:spcAft>
              <a:buNone/>
              <a:defRPr sz="25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 päivää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25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Vastaukset täydentävät puhelinnäkymää tietokonekokemuksilla.</a:t>
            </a:r>
          </a:p>
        </p:txBody>
      </p:sp>
      <p:sp>
        <p:nvSpPr>
          <p:cNvPr id="12" name="status-label-3">
            <a:extLst xmlns:a="http://schemas.openxmlformats.org/drawingml/2006/main">
              <a:ext uri="{FF2B5EF4-FFF2-40B4-BE49-F238E27FC236}">
                <a16:creationId xmlns:a16="http://schemas.microsoft.com/office/drawing/2014/main" id="{E59D173F-74EA-49AF-82AD-7BA8DFCA0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2843308"/>
            <a:ext cx="285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VIELÄ AVOINNA</a:t>
            </a:r>
          </a:p>
        </p:txBody>
      </p:sp>
      <p:sp>
        <p:nvSpPr>
          <p:cNvPr id="13" name="status-copy-3">
            <a:extLst xmlns:a="http://schemas.openxmlformats.org/drawingml/2006/main">
              <a:ext uri="{FF2B5EF4-FFF2-40B4-BE49-F238E27FC236}">
                <a16:creationId xmlns:a16="http://schemas.microsoft.com/office/drawing/2014/main" id="{72014431-E371-44C4-B100-43C1067F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900"/>
              </a:spcAft>
              <a:buNone/>
              <a:defRPr sz="25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 vastausta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25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Priorisointi vahvistetaan, kun kaikki kuusi ovat vastanneet.</a:t>
            </a:r>
          </a:p>
        </p:txBody>
      </p:sp>
    </p:spTree>
    <p:extLst>
      <p:ext uri="{BB962C8B-B14F-4D97-AF65-F5344CB8AC3E}">
        <p14:creationId xmlns:p14="http://schemas.microsoft.com/office/powerpoint/2010/main" val="15177226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8478F87A-A325-4E52-9814-55C44A369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spcAft>
                <a:spcPts val="0"/>
              </a:spcAft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077ACD1-77A1-4BCA-84FA-109846F9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Aft>
                <a:spcPts val="0"/>
              </a:spcAft>
              <a:buNone/>
              <a:defRPr sz="3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Kokonaiskuva pysyy vahvasti myönteisenä</a:t>
            </a:r>
          </a:p>
        </p:txBody>
      </p:sp>
      <p:sp>
        <p:nvSpPr>
          <p:cNvPr id="3" name="metrics-intro">
            <a:extLst xmlns:a="http://schemas.openxmlformats.org/drawingml/2006/main">
              <a:ext uri="{FF2B5EF4-FFF2-40B4-BE49-F238E27FC236}">
                <a16:creationId xmlns:a16="http://schemas.microsoft.com/office/drawing/2014/main" id="{C76966FB-0799-435E-B4F5-EDDD2180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09675"/>
            <a:ext cx="110490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700"/>
              </a:spcAft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Kaikki neljä suosittelisivat sivua, ja palvelut löytyivät vähintään osittain.</a:t>
            </a:r>
          </a:p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Tulokset ovat yhä suuntaa-antavia (n=4); kaikki käyttävät verkkoa usein.</a:t>
            </a:r>
          </a:p>
        </p:txBody>
      </p:sp>
      <p:sp>
        <p:nvSpPr>
          <p:cNvPr id="4" name="metric-panel-1">
            <a:extLst xmlns:a="http://schemas.openxmlformats.org/drawingml/2006/main">
              <a:ext uri="{FF2B5EF4-FFF2-40B4-BE49-F238E27FC236}">
                <a16:creationId xmlns:a16="http://schemas.microsoft.com/office/drawing/2014/main" id="{E77067BF-6F90-4008-8913-B537330B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0">
            <a:solidFill>
              <a:srgbClr val="EAF6FC"/>
            </a:solidFill>
            <a:prstDash val="solid"/>
          </a:ln>
        </p:spPr>
      </p:sp>
      <p:sp>
        <p:nvSpPr>
          <p:cNvPr id="5" name="metric-panel-2">
            <a:extLst xmlns:a="http://schemas.openxmlformats.org/drawingml/2006/main">
              <a:ext uri="{FF2B5EF4-FFF2-40B4-BE49-F238E27FC236}">
                <a16:creationId xmlns:a16="http://schemas.microsoft.com/office/drawing/2014/main" id="{FC58567E-8DB0-4302-81CB-190037C0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0">
            <a:solidFill>
              <a:srgbClr val="EAF6FC"/>
            </a:solidFill>
            <a:prstDash val="solid"/>
          </a:ln>
        </p:spPr>
      </p:sp>
      <p:sp>
        <p:nvSpPr>
          <p:cNvPr id="6" name="metric-panel-3">
            <a:extLst xmlns:a="http://schemas.openxmlformats.org/drawingml/2006/main">
              <a:ext uri="{FF2B5EF4-FFF2-40B4-BE49-F238E27FC236}">
                <a16:creationId xmlns:a16="http://schemas.microsoft.com/office/drawing/2014/main" id="{9A75304E-5F50-4252-A3C9-29A4A3508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DFF1FA"/>
          </a:solidFill>
          <a:ln xmlns:a="http://schemas.openxmlformats.org/drawingml/2006/main" w="0">
            <a:solidFill>
              <a:srgbClr val="DFF1FA"/>
            </a:solidFill>
            <a:prstDash val="solid"/>
          </a:ln>
        </p:spPr>
      </p:sp>
      <p:sp>
        <p:nvSpPr>
          <p:cNvPr id="7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2AE61DD2-162A-481E-BA74-F24625E26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3225" cy="1362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4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4,5 / 5</a:t>
            </a:r>
          </a:p>
        </p:txBody>
      </p:sp>
      <p:sp>
        <p:nvSpPr>
          <p:cNvPr id="8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9FACCA40-052F-44C2-B459-56EBBA89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527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Hyödyllisyys</a:t>
            </a:r>
          </a:p>
        </p:txBody>
      </p:sp>
      <p:sp>
        <p:nvSpPr>
          <p:cNvPr id="9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F3F007B0-CE7D-4202-B45B-6A3051D6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3225" cy="1362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4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4,0 / 5</a:t>
            </a:r>
          </a:p>
        </p:txBody>
      </p:sp>
      <p:sp>
        <p:nvSpPr>
          <p:cNvPr id="10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90964AF9-15C6-4624-87C7-8964055D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4900613"/>
            <a:ext cx="29527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Helppokäyttöisyys</a:t>
            </a:r>
          </a:p>
        </p:txBody>
      </p:sp>
      <p:sp>
        <p:nvSpPr>
          <p:cNvPr id="11" name="metric-value-3">
            <a:extLst xmlns:a="http://schemas.openxmlformats.org/drawingml/2006/main">
              <a:ext uri="{FF2B5EF4-FFF2-40B4-BE49-F238E27FC236}">
                <a16:creationId xmlns:a16="http://schemas.microsoft.com/office/drawing/2014/main" id="{4651337A-06E1-448B-8E8D-5BBAC1EF4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3225" cy="1362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4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4 / 4</a:t>
            </a:r>
          </a:p>
        </p:txBody>
      </p:sp>
      <p:sp>
        <p:nvSpPr>
          <p:cNvPr id="12" name="metric-label-3">
            <a:extLst xmlns:a="http://schemas.openxmlformats.org/drawingml/2006/main">
              <a:ext uri="{FF2B5EF4-FFF2-40B4-BE49-F238E27FC236}">
                <a16:creationId xmlns:a16="http://schemas.microsoft.com/office/drawing/2014/main" id="{F1936D30-902E-478D-BD0E-FABB967D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4900613"/>
            <a:ext cx="29527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Suosittelisi sivua</a:t>
            </a:r>
          </a:p>
        </p:txBody>
      </p:sp>
    </p:spTree>
    <p:extLst>
      <p:ext uri="{BB962C8B-B14F-4D97-AF65-F5344CB8AC3E}">
        <p14:creationId xmlns:p14="http://schemas.microsoft.com/office/powerpoint/2010/main" val="14481129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number-4">
            <a:extLst xmlns:a="http://schemas.openxmlformats.org/drawingml/2006/main">
              <a:ext uri="{FF2B5EF4-FFF2-40B4-BE49-F238E27FC236}">
                <a16:creationId xmlns:a16="http://schemas.microsoft.com/office/drawing/2014/main" id="{1AFFE87E-5C4D-4C70-9F77-FB9A09E68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spcAft>
                <a:spcPts val="0"/>
              </a:spcAft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37ED7B2-3C3E-4089-9F1E-7BBEC237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Aft>
                <a:spcPts val="0"/>
              </a:spcAft>
              <a:buNone/>
              <a:defRPr sz="3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Arvolupaus toimii — sisältö kaipaa karsimista</a:t>
            </a:r>
          </a:p>
        </p:txBody>
      </p:sp>
      <p:sp>
        <p:nvSpPr>
          <p:cNvPr id="3" name="voices-intro">
            <a:extLst xmlns:a="http://schemas.openxmlformats.org/drawingml/2006/main">
              <a:ext uri="{FF2B5EF4-FFF2-40B4-BE49-F238E27FC236}">
                <a16:creationId xmlns:a16="http://schemas.microsoft.com/office/drawing/2014/main" id="{D6847629-95FA-4D84-8666-27D9E354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90625"/>
            <a:ext cx="11049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700"/>
              </a:spcAft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Yhteen koottu tieto, selkeys ja muokattavuus saavat kiitosta.</a:t>
            </a:r>
          </a:p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Samalla kaksi neljästä kokee sivun liian täydeksi, etenkin tietokoneella.</a:t>
            </a:r>
          </a:p>
        </p:txBody>
      </p:sp>
      <p:sp>
        <p:nvSpPr>
          <p:cNvPr id="4" name="positive-voice-panel">
            <a:extLst xmlns:a="http://schemas.openxmlformats.org/drawingml/2006/main">
              <a:ext uri="{FF2B5EF4-FFF2-40B4-BE49-F238E27FC236}">
                <a16:creationId xmlns:a16="http://schemas.microsoft.com/office/drawing/2014/main" id="{029933CE-BFE9-442A-AF56-C5F2FC423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0">
            <a:solidFill>
              <a:srgbClr val="EAF6FC"/>
            </a:solidFill>
            <a:prstDash val="solid"/>
          </a:ln>
        </p:spPr>
      </p:sp>
      <p:sp>
        <p:nvSpPr>
          <p:cNvPr id="5" name="critical-voice-panel">
            <a:extLst xmlns:a="http://schemas.openxmlformats.org/drawingml/2006/main">
              <a:ext uri="{FF2B5EF4-FFF2-40B4-BE49-F238E27FC236}">
                <a16:creationId xmlns:a16="http://schemas.microsoft.com/office/drawing/2014/main" id="{63E89CA3-045F-4611-824D-22C2CA3D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6" name="positive-quote">
            <a:extLst xmlns:a="http://schemas.openxmlformats.org/drawingml/2006/main">
              <a:ext uri="{FF2B5EF4-FFF2-40B4-BE49-F238E27FC236}">
                <a16:creationId xmlns:a16="http://schemas.microsoft.com/office/drawing/2014/main" id="{53F7192A-F6E8-4B84-A3D2-D871D76A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5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“Paljon tietoa yhdessä paikassa löydettävissä.”</a:t>
            </a:r>
          </a:p>
        </p:txBody>
      </p:sp>
      <p:sp>
        <p:nvSpPr>
          <p:cNvPr id="7" name="critical-quote">
            <a:extLst xmlns:a="http://schemas.openxmlformats.org/drawingml/2006/main">
              <a:ext uri="{FF2B5EF4-FFF2-40B4-BE49-F238E27FC236}">
                <a16:creationId xmlns:a16="http://schemas.microsoft.com/office/drawing/2014/main" id="{F6B3D5EF-249B-40B5-BFBD-CCE6E44F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24250"/>
            <a:ext cx="4986909" cy="100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“Onko jo liikaakin?”</a:t>
            </a:r>
          </a:p>
        </p:txBody>
      </p:sp>
      <p:sp>
        <p:nvSpPr>
          <p:cNvPr id="8" name="positive-detail">
            <a:extLst xmlns:a="http://schemas.openxmlformats.org/drawingml/2006/main">
              <a:ext uri="{FF2B5EF4-FFF2-40B4-BE49-F238E27FC236}">
                <a16:creationId xmlns:a16="http://schemas.microsoft.com/office/drawing/2014/main" id="{7EEFCB9A-3D4C-4108-8E82-A28FBA19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Kaikki suosittelisivat sivua. Tekstikoon säätö, muokattavat valikot, vaihtoehtoiset reitit ja mobiilikäyttö saivat kiitosta.</a:t>
            </a:r>
          </a:p>
        </p:txBody>
      </p:sp>
      <p:sp>
        <p:nvSpPr>
          <p:cNvPr id="9" name="critical-detail">
            <a:extLst xmlns:a="http://schemas.openxmlformats.org/drawingml/2006/main">
              <a:ext uri="{FF2B5EF4-FFF2-40B4-BE49-F238E27FC236}">
                <a16:creationId xmlns:a16="http://schemas.microsoft.com/office/drawing/2014/main" id="{01F07760-3EE3-4234-A088-EBB33FB96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Kaksi valitsi tunteen ”liian täysi”. Kategoriat ja haku vaativat selkeyttä; tietokoneella hahmottaminen oli hitaampaa.</a:t>
            </a:r>
          </a:p>
        </p:txBody>
      </p:sp>
    </p:spTree>
    <p:extLst>
      <p:ext uri="{BB962C8B-B14F-4D97-AF65-F5344CB8AC3E}">
        <p14:creationId xmlns:p14="http://schemas.microsoft.com/office/powerpoint/2010/main" val="19049415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number-5">
            <a:extLst xmlns:a="http://schemas.openxmlformats.org/drawingml/2006/main">
              <a:ext uri="{FF2B5EF4-FFF2-40B4-BE49-F238E27FC236}">
                <a16:creationId xmlns:a16="http://schemas.microsoft.com/office/drawing/2014/main" id="{BF7692B2-97C0-4581-ABCD-A6350A21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spcAft>
                <a:spcPts val="0"/>
              </a:spcAft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3D5CF48-C8C8-48A2-94A0-7F58EE2F7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5429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Aft>
                <a:spcPts val="0"/>
              </a:spcAft>
              <a:buNone/>
              <a:defRPr sz="3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Toimintojen arviot · n=3</a:t>
            </a:r>
          </a:p>
        </p:txBody>
      </p:sp>
      <p:sp>
        <p:nvSpPr>
          <p:cNvPr id="3" name="feature-card-1">
            <a:extLst xmlns:a="http://schemas.openxmlformats.org/drawingml/2006/main">
              <a:ext uri="{FF2B5EF4-FFF2-40B4-BE49-F238E27FC236}">
                <a16:creationId xmlns:a16="http://schemas.microsoft.com/office/drawing/2014/main" id="{DC845994-7B87-4700-8EC5-48633F32F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393668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0">
            <a:solidFill>
              <a:srgbClr val="EAF6FC"/>
            </a:solidFill>
            <a:prstDash val="solid"/>
          </a:ln>
        </p:spPr>
      </p:sp>
      <p:sp>
        <p:nvSpPr>
          <p:cNvPr id="4" name="feature-card-copy-1">
            <a:extLst xmlns:a="http://schemas.openxmlformats.org/drawingml/2006/main">
              <a:ext uri="{FF2B5EF4-FFF2-40B4-BE49-F238E27FC236}">
                <a16:creationId xmlns:a16="http://schemas.microsoft.com/office/drawing/2014/main" id="{140CAC18-B48C-4C8A-80EC-681D4CD3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688943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4,7/5 · Kaksi toimintoa kärjessä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Internet-haku ja huijausvaroitukset.</a:t>
            </a:r>
          </a:p>
        </p:txBody>
      </p:sp>
      <p:sp>
        <p:nvSpPr>
          <p:cNvPr id="5" name="feature-card-2">
            <a:extLst xmlns:a="http://schemas.openxmlformats.org/drawingml/2006/main">
              <a:ext uri="{FF2B5EF4-FFF2-40B4-BE49-F238E27FC236}">
                <a16:creationId xmlns:a16="http://schemas.microsoft.com/office/drawing/2014/main" id="{0BD55868-94EC-43DC-BE5D-C6DE92A4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EDF5F9"/>
          </a:solidFill>
          <a:ln xmlns:a="http://schemas.openxmlformats.org/drawingml/2006/main" w="0">
            <a:solidFill>
              <a:srgbClr val="EDF5F9"/>
            </a:solidFill>
            <a:prstDash val="solid"/>
          </a:ln>
        </p:spPr>
      </p:sp>
      <p:sp>
        <p:nvSpPr>
          <p:cNvPr id="6" name="feature-card-copy-2">
            <a:extLst xmlns:a="http://schemas.openxmlformats.org/drawingml/2006/main">
              <a:ext uri="{FF2B5EF4-FFF2-40B4-BE49-F238E27FC236}">
                <a16:creationId xmlns:a16="http://schemas.microsoft.com/office/drawing/2014/main" id="{B4B5EA42-60CF-4DCF-B467-8638EFFFC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2665095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4,3/5 · Kolme vahvaa signaalia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Sää, tekoälyavustaja ja Lähelläsi.</a:t>
            </a:r>
          </a:p>
        </p:txBody>
      </p:sp>
      <p:sp>
        <p:nvSpPr>
          <p:cNvPr id="7" name="feature-card-3">
            <a:extLst xmlns:a="http://schemas.openxmlformats.org/drawingml/2006/main">
              <a:ext uri="{FF2B5EF4-FFF2-40B4-BE49-F238E27FC236}">
                <a16:creationId xmlns:a16="http://schemas.microsoft.com/office/drawing/2014/main" id="{62185A87-6E57-4912-A407-C44E5C14D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38150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8" name="feature-card-copy-3">
            <a:extLst xmlns:a="http://schemas.openxmlformats.org/drawingml/2006/main">
              <a:ext uri="{FF2B5EF4-FFF2-40B4-BE49-F238E27FC236}">
                <a16:creationId xmlns:a16="http://schemas.microsoft.com/office/drawing/2014/main" id="{B6A3DB9C-FEBF-469A-B1CB-8FF35C7B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4676775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Vastaajia n=3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Pidä erot suuntaa-antavina. Suosikit ja nimipäivät tarvitsevat lisäymmärrystä.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408718" y="1238250"/>
          <a:ext xmlns:a="http://schemas.openxmlformats.org/drawingml/2006/main" cx="5334000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f4bb6569ec24e5f"/>
          </a:graphicData>
        </a:graphic>
      </p:graphicFrame>
      <p:sp>
        <p:nvSpPr>
          <p:cNvPr id="10" name="feature-chart-scale">
            <a:extLst xmlns:a="http://schemas.openxmlformats.org/drawingml/2006/main">
              <a:ext uri="{FF2B5EF4-FFF2-40B4-BE49-F238E27FC236}">
                <a16:creationId xmlns:a16="http://schemas.microsoft.com/office/drawing/2014/main" id="{D526FB49-153C-42B0-839E-D8429369F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18" y="6076950"/>
            <a:ext cx="5334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Asteikko 1–5</a:t>
            </a:r>
          </a:p>
        </p:txBody>
      </p:sp>
    </p:spTree>
    <p:extLst>
      <p:ext uri="{BB962C8B-B14F-4D97-AF65-F5344CB8AC3E}">
        <p14:creationId xmlns:p14="http://schemas.microsoft.com/office/powerpoint/2010/main" val="10335544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number-6">
            <a:extLst xmlns:a="http://schemas.openxmlformats.org/drawingml/2006/main">
              <a:ext uri="{FF2B5EF4-FFF2-40B4-BE49-F238E27FC236}">
                <a16:creationId xmlns:a16="http://schemas.microsoft.com/office/drawing/2014/main" id="{A00B9D3B-58AD-46E0-A6E5-8F692BB4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spcAft>
                <a:spcPts val="0"/>
              </a:spcAft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6D95C1D-1D9F-41AE-B764-58541CD3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Aft>
                <a:spcPts val="0"/>
              </a:spcAft>
              <a:buNone/>
              <a:defRPr sz="3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Korjaa linkit ja löydettävyys ensin</a:t>
            </a:r>
          </a:p>
        </p:txBody>
      </p:sp>
      <p:sp>
        <p:nvSpPr>
          <p:cNvPr id="3" name="action-intro">
            <a:extLst xmlns:a="http://schemas.openxmlformats.org/drawingml/2006/main">
              <a:ext uri="{FF2B5EF4-FFF2-40B4-BE49-F238E27FC236}">
                <a16:creationId xmlns:a16="http://schemas.microsoft.com/office/drawing/2014/main" id="{66190B7B-7A4A-4243-A4EC-2DF54A5DD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90625"/>
            <a:ext cx="11049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700"/>
              </a:spcAft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Avoin palaute nostaa esiin konkreettisia virheitä ja selkeyden esteitä.</a:t>
            </a:r>
          </a:p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Korjaa toimivuus nyt; vahvista sisältörakenne lopullisesti n=6-aineistolla.</a:t>
            </a:r>
          </a:p>
        </p:txBody>
      </p:sp>
      <p:sp>
        <p:nvSpPr>
          <p:cNvPr id="4" name="prepare-now-panel">
            <a:extLst xmlns:a="http://schemas.openxmlformats.org/drawingml/2006/main">
              <a:ext uri="{FF2B5EF4-FFF2-40B4-BE49-F238E27FC236}">
                <a16:creationId xmlns:a16="http://schemas.microsoft.com/office/drawing/2014/main" id="{CF85C291-75BA-4A3A-BC75-F6D2CF44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0">
            <a:solidFill>
              <a:srgbClr val="EAF6FC"/>
            </a:solidFill>
            <a:prstDash val="solid"/>
          </a:ln>
        </p:spPr>
      </p:sp>
      <p:sp>
        <p:nvSpPr>
          <p:cNvPr id="5" name="validate-first-panel">
            <a:extLst xmlns:a="http://schemas.openxmlformats.org/drawingml/2006/main">
              <a:ext uri="{FF2B5EF4-FFF2-40B4-BE49-F238E27FC236}">
                <a16:creationId xmlns:a16="http://schemas.microsoft.com/office/drawing/2014/main" id="{018BA431-0891-4F64-967F-35E9153D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6" name="prepare-now-title">
            <a:extLst xmlns:a="http://schemas.openxmlformats.org/drawingml/2006/main">
              <a:ext uri="{FF2B5EF4-FFF2-40B4-BE49-F238E27FC236}">
                <a16:creationId xmlns:a16="http://schemas.microsoft.com/office/drawing/2014/main" id="{5E19A4C6-6AE6-411C-ACF3-5CCCB426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5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Korjaa nyt</a:t>
            </a:r>
          </a:p>
        </p:txBody>
      </p:sp>
      <p:sp>
        <p:nvSpPr>
          <p:cNvPr id="7" name="validate-first-title">
            <a:extLst xmlns:a="http://schemas.openxmlformats.org/drawingml/2006/main">
              <a:ext uri="{FF2B5EF4-FFF2-40B4-BE49-F238E27FC236}">
                <a16:creationId xmlns:a16="http://schemas.microsoft.com/office/drawing/2014/main" id="{99C2AC1F-16FF-4F5A-8169-292FE598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5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Vahvista tiimissä</a:t>
            </a:r>
          </a:p>
        </p:txBody>
      </p:sp>
      <p:sp>
        <p:nvSpPr>
          <p:cNvPr id="8" name="prepare-now-list">
            <a:extLst xmlns:a="http://schemas.openxmlformats.org/drawingml/2006/main">
              <a:ext uri="{FF2B5EF4-FFF2-40B4-BE49-F238E27FC236}">
                <a16:creationId xmlns:a16="http://schemas.microsoft.com/office/drawing/2014/main" id="{257E4F10-2C55-40F7-8B51-7EBEA1AA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hakukentän peittyminen</a:t>
            </a:r>
            <a:b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</a:b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väärät paikallislinkit</a:t>
            </a:r>
            <a:b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</a:b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paluu etusivun alkuun</a:t>
            </a:r>
          </a:p>
        </p:txBody>
      </p:sp>
      <p:sp>
        <p:nvSpPr>
          <p:cNvPr id="9" name="validate-first-list">
            <a:extLst xmlns:a="http://schemas.openxmlformats.org/drawingml/2006/main">
              <a:ext uri="{FF2B5EF4-FFF2-40B4-BE49-F238E27FC236}">
                <a16:creationId xmlns:a16="http://schemas.microsoft.com/office/drawing/2014/main" id="{3E5776EE-54BF-4346-9080-7A957A814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• Koti- ja Tekniikka-nimet</a:t>
            </a:r>
            <a:b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</a:br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• sisällön määrä ja päällekkäisyydet</a:t>
            </a:r>
            <a:b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</a:br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• App Store- ja sähköpostivalikoima</a:t>
            </a:r>
          </a:p>
        </p:txBody>
      </p:sp>
    </p:spTree>
    <p:extLst>
      <p:ext uri="{BB962C8B-B14F-4D97-AF65-F5344CB8AC3E}">
        <p14:creationId xmlns:p14="http://schemas.microsoft.com/office/powerpoint/2010/main" val="18950710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7">
            <a:extLst xmlns:a="http://schemas.openxmlformats.org/drawingml/2006/main">
              <a:ext uri="{FF2B5EF4-FFF2-40B4-BE49-F238E27FC236}">
                <a16:creationId xmlns:a16="http://schemas.microsoft.com/office/drawing/2014/main" id="{593EDC9C-D269-443F-82AE-9FCB6138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spcAft>
                <a:spcPts val="0"/>
              </a:spcAft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01DDBFA-5BB7-46CC-9193-F151829C3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Aft>
                <a:spcPts val="0"/>
              </a:spcAft>
              <a:buNone/>
              <a:defRPr sz="3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Kaksi vastausta vielä — päätä korjauksista nyt</a:t>
            </a:r>
          </a:p>
        </p:txBody>
      </p:sp>
      <p:cxnSp>
        <p:nvCxnSpPr>
          <p:cNvPr id="24" name="update-plan-line"/>
          <p:cNvCxnSpPr/>
          <p:nvPr/>
        </p:nvCxnSpPr>
        <p:spPr>
          <a:xfrm xmlns:a="http://schemas.openxmlformats.org/drawingml/2006/main">
            <a:off x="337757" y="5341620"/>
            <a:ext cx="11458575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4" name="update-card-1">
            <a:extLst xmlns:a="http://schemas.openxmlformats.org/drawingml/2006/main">
              <a:ext uri="{FF2B5EF4-FFF2-40B4-BE49-F238E27FC236}">
                <a16:creationId xmlns:a16="http://schemas.microsoft.com/office/drawing/2014/main" id="{7C3BC6CC-5318-4A70-896B-F5F1403B5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0">
            <a:solidFill>
              <a:srgbClr val="EAF6FC"/>
            </a:solidFill>
            <a:prstDash val="solid"/>
          </a:ln>
        </p:spPr>
      </p:sp>
      <p:sp>
        <p:nvSpPr>
          <p:cNvPr id="5" name="update-node-1">
            <a:extLst xmlns:a="http://schemas.openxmlformats.org/drawingml/2006/main">
              <a:ext uri="{FF2B5EF4-FFF2-40B4-BE49-F238E27FC236}">
                <a16:creationId xmlns:a16="http://schemas.microsoft.com/office/drawing/2014/main" id="{5EFDB1CB-02B8-48C7-9A01-30318D42E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70183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update-card-2">
            <a:extLst xmlns:a="http://schemas.openxmlformats.org/drawingml/2006/main">
              <a:ext uri="{FF2B5EF4-FFF2-40B4-BE49-F238E27FC236}">
                <a16:creationId xmlns:a16="http://schemas.microsoft.com/office/drawing/2014/main" id="{6716AAC9-1691-498D-9E89-CC208002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EDF5F9"/>
          </a:solidFill>
          <a:ln xmlns:a="http://schemas.openxmlformats.org/drawingml/2006/main" w="0">
            <a:solidFill>
              <a:srgbClr val="EDF5F9"/>
            </a:solidFill>
            <a:prstDash val="solid"/>
          </a:ln>
        </p:spPr>
      </p:sp>
      <p:sp>
        <p:nvSpPr>
          <p:cNvPr id="7" name="update-node-2">
            <a:extLst xmlns:a="http://schemas.openxmlformats.org/drawingml/2006/main">
              <a:ext uri="{FF2B5EF4-FFF2-40B4-BE49-F238E27FC236}">
                <a16:creationId xmlns:a16="http://schemas.microsoft.com/office/drawing/2014/main" id="{3AAFFC3D-9051-489A-83A5-DC991D5C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70183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update-card-3">
            <a:extLst xmlns:a="http://schemas.openxmlformats.org/drawingml/2006/main">
              <a:ext uri="{FF2B5EF4-FFF2-40B4-BE49-F238E27FC236}">
                <a16:creationId xmlns:a16="http://schemas.microsoft.com/office/drawing/2014/main" id="{470E6D43-BB4E-4A34-9B70-52F72C50D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9" name="update-node-3">
            <a:extLst xmlns:a="http://schemas.openxmlformats.org/drawingml/2006/main">
              <a:ext uri="{FF2B5EF4-FFF2-40B4-BE49-F238E27FC236}">
                <a16:creationId xmlns:a16="http://schemas.microsoft.com/office/drawing/2014/main" id="{8B1A9CBB-F072-4B82-B3A7-B7D2ACDF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70183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update-card-copy-1">
            <a:extLst xmlns:a="http://schemas.openxmlformats.org/drawingml/2006/main">
              <a:ext uri="{FF2B5EF4-FFF2-40B4-BE49-F238E27FC236}">
                <a16:creationId xmlns:a16="http://schemas.microsoft.com/office/drawing/2014/main" id="{66BC8357-90CC-4580-8780-0613661DD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231" y="1806797"/>
            <a:ext cx="2949321" cy="2571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1000"/>
              </a:spcAft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Nyt · n=4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Korjaa hakukenttä, paluunäkymä ja paikallislinkit. Nimeä omistajat ja vie työt kehitysjonoon.</a:t>
            </a:r>
          </a:p>
        </p:txBody>
      </p:sp>
      <p:sp>
        <p:nvSpPr>
          <p:cNvPr id="11" name="update-label-1">
            <a:extLst xmlns:a="http://schemas.openxmlformats.org/drawingml/2006/main">
              <a:ext uri="{FF2B5EF4-FFF2-40B4-BE49-F238E27FC236}">
                <a16:creationId xmlns:a16="http://schemas.microsoft.com/office/drawing/2014/main" id="{EF5676AD-AAE4-42F6-860A-ACFF41B73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1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NYT</a:t>
            </a:r>
          </a:p>
        </p:txBody>
      </p:sp>
      <p:sp>
        <p:nvSpPr>
          <p:cNvPr id="12" name="update-card-copy-2">
            <a:extLst xmlns:a="http://schemas.openxmlformats.org/drawingml/2006/main">
              <a:ext uri="{FF2B5EF4-FFF2-40B4-BE49-F238E27FC236}">
                <a16:creationId xmlns:a16="http://schemas.microsoft.com/office/drawing/2014/main" id="{A533398D-BB9B-4AB4-AD4E-58EA4999A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006" y="1806797"/>
            <a:ext cx="2949321" cy="2571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1000"/>
              </a:spcAft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Kun n=6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Laske mittarit uudelleen. Tarkista, toistuvatko kategoriat, sisältömäärä ja ominaisuuksien prioriteetit.</a:t>
            </a:r>
          </a:p>
        </p:txBody>
      </p:sp>
      <p:sp>
        <p:nvSpPr>
          <p:cNvPr id="13" name="update-label-2">
            <a:extLst xmlns:a="http://schemas.openxmlformats.org/drawingml/2006/main">
              <a:ext uri="{FF2B5EF4-FFF2-40B4-BE49-F238E27FC236}">
                <a16:creationId xmlns:a16="http://schemas.microsoft.com/office/drawing/2014/main" id="{B5ECEFBB-BDED-4714-9E49-A1040F23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1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N = 6</a:t>
            </a:r>
          </a:p>
        </p:txBody>
      </p:sp>
      <p:sp>
        <p:nvSpPr>
          <p:cNvPr id="14" name="update-card-copy-3">
            <a:extLst xmlns:a="http://schemas.openxmlformats.org/drawingml/2006/main">
              <a:ext uri="{FF2B5EF4-FFF2-40B4-BE49-F238E27FC236}">
                <a16:creationId xmlns:a16="http://schemas.microsoft.com/office/drawing/2014/main" id="{918FF766-6808-4F81-9304-CB68FC017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068" y="1806797"/>
            <a:ext cx="2949321" cy="2571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1000"/>
              </a:spcAft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Tiimin päätös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Sopikaa seuraavan julkaisun korjaukset, omistajat ja tavoitepäivät. Testatkaa ratkaisut käyttäjillä uudelleen.</a:t>
            </a:r>
          </a:p>
        </p:txBody>
      </p:sp>
      <p:sp>
        <p:nvSpPr>
          <p:cNvPr id="15" name="update-label-3">
            <a:extLst xmlns:a="http://schemas.openxmlformats.org/drawingml/2006/main">
              <a:ext uri="{FF2B5EF4-FFF2-40B4-BE49-F238E27FC236}">
                <a16:creationId xmlns:a16="http://schemas.microsoft.com/office/drawing/2014/main" id="{7FFAD06C-5C0B-44D0-988C-44FC76CD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1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PÄÄTÖS</a:t>
            </a:r>
          </a:p>
        </p:txBody>
      </p:sp>
    </p:spTree>
    <p:extLst>
      <p:ext uri="{BB962C8B-B14F-4D97-AF65-F5344CB8AC3E}">
        <p14:creationId xmlns:p14="http://schemas.microsoft.com/office/powerpoint/2010/main" val="20031888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2026-08-11T07:24:36.9820000Z</dcterms:created>
  <dcterms:modified xsi:type="dcterms:W3CDTF">2026-08-11T07:24:36.9820000Z</dcterms:modified>
</coreProperties>
</file>