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88efcfb4204039" /><Relationship Type="http://schemas.openxmlformats.org/officeDocument/2006/relationships/extended-properties" Target="/docProps/app.xml" Id="Rf532c27eaaca4671" /><Relationship Type="http://schemas.openxmlformats.org/officeDocument/2006/relationships/officeDocument" Target="/ppt/presentation.xml" Id="Rc92758c491cb4e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f75b78b4f2490d"/>
  </p:sldMasterIdLst>
  <p:notesMasterIdLst>
    <p:notesMasterId xmlns:r="http://schemas.openxmlformats.org/officeDocument/2006/relationships" r:id="R4ba78a9c81d94ec3"/>
  </p:notesMasterIdLst>
  <p:sldIdLst>
    <p:sldId xmlns:r="http://schemas.openxmlformats.org/officeDocument/2006/relationships" id="256" r:id="R34a1cf266f2d402a"/>
    <p:sldId xmlns:r="http://schemas.openxmlformats.org/officeDocument/2006/relationships" id="257" r:id="R0597aaeec29e4bb5"/>
    <p:sldId xmlns:r="http://schemas.openxmlformats.org/officeDocument/2006/relationships" id="258" r:id="R5a820763dbd24e98"/>
    <p:sldId xmlns:r="http://schemas.openxmlformats.org/officeDocument/2006/relationships" id="259" r:id="Rd1d1a01709d84b5f"/>
    <p:sldId xmlns:r="http://schemas.openxmlformats.org/officeDocument/2006/relationships" id="260" r:id="Rd6fae64f16ed4052"/>
    <p:sldId xmlns:r="http://schemas.openxmlformats.org/officeDocument/2006/relationships" id="261" r:id="R90e11a2661594dc5"/>
    <p:sldId xmlns:r="http://schemas.openxmlformats.org/officeDocument/2006/relationships" id="262" r:id="Rc20991a53e3c48f2"/>
    <p:sldId xmlns:r="http://schemas.openxmlformats.org/officeDocument/2006/relationships" id="263" r:id="Rf97a044b2ae54a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75b78b4f2490d" /><Relationship Type="http://schemas.openxmlformats.org/officeDocument/2006/relationships/theme" Target="/ppt/theme/theme1.xml" Id="Rbec43bba72bf402b" /><Relationship Type="http://schemas.openxmlformats.org/officeDocument/2006/relationships/notesMaster" Target="/ppt/notesMasters/notesMaster1.xml" Id="R4ba78a9c81d94ec3" /><Relationship Type="http://schemas.openxmlformats.org/officeDocument/2006/relationships/presProps" Target="/ppt/presProps.xml" Id="R1b45a702d41e4970" /><Relationship Type="http://schemas.openxmlformats.org/officeDocument/2006/relationships/viewProps" Target="/ppt/viewProps.xml" Id="Ra7f19f7e84ad44e8" /><Relationship Type="http://schemas.openxmlformats.org/officeDocument/2006/relationships/tableStyles" Target="/ppt/tableStyles.xml" Id="Rbf2800e67c904212" /><Relationship Type="http://schemas.openxmlformats.org/officeDocument/2006/relationships/slide" Target="/ppt/slides/slide1.xml" Id="R34a1cf266f2d402a" /><Relationship Type="http://schemas.openxmlformats.org/officeDocument/2006/relationships/slide" Target="/ppt/slides/slide2.xml" Id="R0597aaeec29e4bb5" /><Relationship Type="http://schemas.openxmlformats.org/officeDocument/2006/relationships/slide" Target="/ppt/slides/slide3.xml" Id="R5a820763dbd24e98" /><Relationship Type="http://schemas.openxmlformats.org/officeDocument/2006/relationships/slide" Target="/ppt/slides/slide4.xml" Id="Rd1d1a01709d84b5f" /><Relationship Type="http://schemas.openxmlformats.org/officeDocument/2006/relationships/slide" Target="/ppt/slides/slide5.xml" Id="Rd6fae64f16ed4052" /><Relationship Type="http://schemas.openxmlformats.org/officeDocument/2006/relationships/slide" Target="/ppt/slides/slide6.xml" Id="R90e11a2661594dc5" /><Relationship Type="http://schemas.openxmlformats.org/officeDocument/2006/relationships/slide" Target="/ppt/slides/slide7.xml" Id="Rc20991a53e3c48f2" /><Relationship Type="http://schemas.openxmlformats.org/officeDocument/2006/relationships/slide" Target="/ppt/slides/slide8.xml" Id="Rf97a044b2ae54a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e553062f5847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1a7d299e75428e" /><Relationship Type="http://schemas.openxmlformats.org/officeDocument/2006/relationships/notesMaster" Target="/ppt/notesMasters/notesMaster1.xml" Id="Ra198441d746647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b02352bf9846fd" /><Relationship Type="http://schemas.openxmlformats.org/officeDocument/2006/relationships/notesMaster" Target="/ppt/notesMasters/notesMaster1.xml" Id="Rd50659f9deb142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257460612f4c00" /><Relationship Type="http://schemas.openxmlformats.org/officeDocument/2006/relationships/notesMaster" Target="/ppt/notesMasters/notesMaster1.xml" Id="R223af4210b894e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3c73894a0d4d17" /><Relationship Type="http://schemas.openxmlformats.org/officeDocument/2006/relationships/notesMaster" Target="/ppt/notesMasters/notesMaster1.xml" Id="R670304c8d9aa4a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59bea40c8249d9" /><Relationship Type="http://schemas.openxmlformats.org/officeDocument/2006/relationships/notesMaster" Target="/ppt/notesMasters/notesMaster1.xml" Id="R5bcc65cce1b245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4cb19ef81843b5" /><Relationship Type="http://schemas.openxmlformats.org/officeDocument/2006/relationships/notesMaster" Target="/ppt/notesMasters/notesMaster1.xml" Id="R2f3de542af88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1eb1d4eff74886" /><Relationship Type="http://schemas.openxmlformats.org/officeDocument/2006/relationships/notesMaster" Target="/ppt/notesMasters/notesMaster1.xml" Id="R7093e45126be40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ab432d8675496e" /><Relationship Type="http://schemas.openxmlformats.org/officeDocument/2006/relationships/notesMaster" Target="/ppt/notesMasters/notesMaster1.xml" Id="R74646818f3594a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c8511f1944a4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dad265ec4c84182" /><Relationship Type="http://schemas.openxmlformats.org/officeDocument/2006/relationships/slideLayout" Target="/ppt/slideLayouts/slideLayout2.xml" Id="Re80d530dce7849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0d530dce7849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80dac9b1f34e5e" /><Relationship Type="http://schemas.openxmlformats.org/officeDocument/2006/relationships/notesSlide" Target="/ppt/notesSlides/notesSlide1.xml" Id="Rafa0f492421c4b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b9aebd49764846" /><Relationship Type="http://schemas.openxmlformats.org/officeDocument/2006/relationships/notesSlide" Target="/ppt/notesSlides/notesSlide2.xml" Id="R70cca176b37a45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096adad02d4105" /><Relationship Type="http://schemas.openxmlformats.org/officeDocument/2006/relationships/notesSlide" Target="/ppt/notesSlides/notesSlide3.xml" Id="R9652b327919f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8ab050b6440a1" /><Relationship Type="http://schemas.openxmlformats.org/officeDocument/2006/relationships/notesSlide" Target="/ppt/notesSlides/notesSlide4.xml" Id="R91317ba8424f41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37ba15ac00414c" /><Relationship Type="http://schemas.openxmlformats.org/officeDocument/2006/relationships/notesSlide" Target="/ppt/notesSlides/notesSlide5.xml" Id="R2e29f4731fc940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5a6fc05f7646eb" /><Relationship Type="http://schemas.openxmlformats.org/officeDocument/2006/relationships/notesSlide" Target="/ppt/notesSlides/notesSlide6.xml" Id="R9ff7d547000840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0326d0caf14fc8" /><Relationship Type="http://schemas.openxmlformats.org/officeDocument/2006/relationships/notesSlide" Target="/ppt/notesSlides/notesSlide7.xml" Id="R4f613c53186c45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e8cd40865f486c" /><Relationship Type="http://schemas.openxmlformats.org/officeDocument/2006/relationships/notesSlide" Target="/ppt/notesSlides/notesSlide8.xml" Id="Rbfe58e1f08c64995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0035C7A6-4AFA-42B6-A431-EB72AC79B43F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F172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DFFB8816-A60A-415E-995F-B0AF69C02280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4300" cy="685800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121C40D2-BA57-40C2-A4ED-EC87B212A1B4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514350"/>
            <ns1:ext cx="2476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1">
                <ns1:solidFill>
                  <ns1:srgbClr val="CDE6FF"/>
                </ns1:solidFill>
                <ns1:latin typeface="Aptos"/>
                <ns1:ea typeface="Aptos"/>
                <ns1:cs typeface="Aptos"/>
              </ns1:defRPr>
            </ns1:pPr>
            <ns1:r>
              <ns1:rPr sz="900" b="1">
                <ns1:solidFill>
                  <ns1:srgbClr val="CDE6FF"/>
                </ns1:solidFill>
                <ns1:latin typeface="Aptos"/>
                <ns1:ea typeface="Aptos"/>
                <ns1:cs typeface="Aptos"/>
              </ns1:rPr>
              <ns1:t>SENIORSURF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40345410-572D-411F-BC5F-A57FEA52B333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1619250"/>
            <ns1:ext cx="6191250" cy="8572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4650" b="1">
                <ns1:solidFill>
                  <ns1:srgbClr val="FFFFFF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4650" b="1">
                <ns1:solidFill>
                  <ns1:srgbClr val="FFFFFF"/>
                </ns1:solidFill>
                <ns1:latin typeface="Aptos Display"/>
                <ns1:ea typeface="Aptos Display"/>
                <ns1:cs typeface="Aptos Display"/>
              </ns1:rPr>
              <ns1:t>Aloitussivu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F1898D45-18F9-4E49-B051-8CF9B2EC20D9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2705100"/>
            <ns1:ext cx="5810250" cy="8001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E2E8F0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1800" b="1">
                <ns1:solidFill>
                  <ns1:srgbClr val="E2E8F0"/>
                </ns1:solidFill>
                <ns1:latin typeface="Aptos Display"/>
                <ns1:ea typeface="Aptos Display"/>
                <ns1:cs typeface="Aptos Display"/>
              </ns1:rPr>
              <ns1:t>Selkeä aloituspiste arjen digipalveluihin, paikallisiin linkkeihin ja turvalliseen verkkoasiointiin.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09E565D9-ADE3-4581-9EA8-5147E02D1267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990600"/>
            <ns1:ext cx="3619500" cy="3905250"/>
          </ns1:xfrm>
          <ns1:prstGeom prst="rect">
            <ns1:avLst/>
          </ns1:prstGeom>
          <ns1:solidFill>
            <ns1:srgbClr val="10233D"/>
          </ns1:solidFill>
          <ns1:ln w="9525">
            <ns1:solidFill>
              <ns1:srgbClr val="334155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BF2687B8-8F0E-41CB-BAAD-C9B884D1A8DC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1276350"/>
            <ns1:ext cx="285750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Miksi tätä tehdään?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11ABC12D-0D7F-47D6-959B-ACD7D034E9B5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1752600"/>
            <ns1:ext cx="2857500" cy="11430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0">
                <ns1:solidFill>
                  <ns1:srgbClr val="CBD5E1"/>
                </ns1:solidFill>
                <ns1:latin typeface="Aptos"/>
                <ns1:ea typeface="Aptos"/>
                <ns1:cs typeface="Aptos"/>
              </ns1:defRPr>
            </ns1:pPr>
            <ns1:r>
              <ns1:rPr sz="1350" b="0">
                <ns1:solidFill>
                  <ns1:srgbClr val="CBD5E1"/>
                </ns1:solidFill>
                <ns1:latin typeface="Aptos"/>
                <ns1:ea typeface="Aptos"/>
                <ns1:cs typeface="Aptos"/>
              </ns1:rPr>
              <ns1:t>Monelle käyttäjälle vaikein kohta ei ole yksittäinen palvelu, vaan oikean, turvallisen ja paikallisesti relevantin aloituspisteen löytäminen.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4D019064-981A-4C3D-B894-224B000FADB7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3314700"/>
            <ns1:ext cx="1143000" cy="285750"/>
          </ns1:xfrm>
          <ns1:prstGeom prst="roundRect">
            <ns1:avLst>
              <ns1:gd name="adj" fmla="val 26667"/>
            </ns1:avLst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13AD8A08-3FEA-438E-9C17-2CEFF7E70CAD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3371850"/>
            <ns1:ext cx="114300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75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Pilotti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106F397F-EB1B-450B-B0B1-764A8F11086C}"/>
              </ns1:ext>
            </ns1:extLst>
          </ns0:cNvPr>
          <ns0:cNvSpPr>
            <ns1:spLocks noGrp="1"/>
          </ns0:cNvSpPr>
          <ns0:nvPr/>
        </ns0:nvSpPr>
        <ns0:spPr>
          <ns1:xfrm>
            <ns1:off x="8820150" y="3314700"/>
            <ns1:ext cx="1238250" cy="285750"/>
          </ns1:xfrm>
          <ns1:prstGeom prst="roundRect">
            <ns1:avLst>
              <ns1:gd name="adj" fmla="val 26667"/>
            </ns1:avLst>
          </ns1:prstGeom>
          <ns1:solidFill>
            <ns1:srgbClr val="D98C2B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53567495-8FAD-4FA6-AA2D-EAB48135A3FA}"/>
              </ns1:ext>
            </ns1:extLst>
          </ns0:cNvPr>
          <ns0:cNvSpPr>
            <ns1:spLocks noGrp="1"/>
          </ns0:cNvSpPr>
          <ns0:nvPr/>
        </ns0:nvSpPr>
        <ns0:spPr>
          <ns1:xfrm>
            <ns1:off x="8820150" y="3371850"/>
            <ns1:ext cx="123825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75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Testaus 6/2026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365761C7-3FD8-487B-8ACD-28330FE19F67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3752850"/>
            <ns1:ext cx="1809750" cy="285750"/>
          </ns1:xfrm>
          <ns1:prstGeom prst="roundRect">
            <ns1:avLst>
              <ns1:gd name="adj" fmla="val 26667"/>
            </ns1:avLst>
          </ns1:prstGeom>
          <ns1:solidFill>
            <ns1:srgbClr val="1F4E79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B060114B-E236-4987-90D2-DA7162DF7D30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3810000"/>
            <ns1:ext cx="1809750" cy="152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750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Julkaisutavoite 6.10.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16CE8481-71CB-44CA-BE55-95981D145905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419850"/>
            <ns1:ext cx="11125200" cy="9525"/>
          </ns1:xfrm>
          <ns1:prstGeom prst="rect">
            <ns1:avLst/>
          </ns1:prstGeom>
          <ns1:solidFill>
            <ns1:srgbClr val="334155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5AE5F0F4-A879-4971-8308-B9264A9C8FD9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51510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0">
                <ns1:solidFill>
                  <ns1:srgbClr val="94A3B8"/>
                </ns1:solidFill>
                <ns1:latin typeface="Aptos"/>
                <ns1:ea typeface="Aptos"/>
                <ns1:cs typeface="Aptos"/>
              </ns1:defRPr>
            </ns1:pPr>
            <ns1:r>
              <ns1:rPr sz="675" b="0">
                <ns1:solidFill>
                  <ns1:srgbClr val="94A3B8"/>
                </ns1:solidFill>
                <ns1:latin typeface="Aptos"/>
                <ns1:ea typeface="Aptos"/>
                <ns1:cs typeface="Aptos"/>
              </ns1:rPr>
              <ns1:t>Aloitussivu | yleisesittely | 9.6.2026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AF31C279-7941-4324-8C31-1F019D2D8C2B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486525"/>
            <ns1:ext cx="4191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825" b="1">
                <ns1:solidFill>
                  <ns1:srgbClr val="94A3B8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94A3B8"/>
                </ns1:solidFill>
                <ns1:latin typeface="Aptos"/>
                <ns1:ea typeface="Aptos"/>
                <ns1:cs typeface="Aptos"/>
              </ns1:rPr>
              <ns1:t>01</ns1:t>
            </ns1:r>
          </ns1:p>
        </ns0:txBody>
      </ns0:sp>
    </ns0:spTree>
    <ns0:extLst>
      <ns0:ext uri="{BB962C8B-B14F-4D97-AF65-F5344CB8AC3E}">
        <ns3:creationId val="1913298079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D2EE83D3-4FEA-4887-967D-3A75535EB501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AFC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0C0F777E-CE2B-4F7C-9A39-8632C3636DE5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28625"/>
            <ns1:ext cx="95250" cy="952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9FFA9473-0BF4-469F-B9A3-B0486DD1E528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52425"/>
            <ns1:ext cx="4381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LÄHTÖKOHTA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3005CBF2-3937-4BAF-A76D-2F1D7966CBEF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323850"/>
            <ns1:ext cx="4191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02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0FC1A772-371D-432E-A57D-B04BCD3E7069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800100"/>
            <ns1:ext cx="8096250" cy="914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rPr>
              <ns1:t>Digipalveluiden arki on pirstaleinen, vaikka tarpeet ovat hyvin konkreettisia.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A4EE3FEA-5065-4918-91E2-539CAE93B958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1809750"/>
            <ns1:ext cx="7239000" cy="4953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Käyttäjä ei etsi “portaalia”. Hän etsii lääkäriaikaa, kirjastoa, uutista, säätilaa, varoitusta tai apua juuri nyt.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60C23888-33E2-4499-B229-265412DE8F9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914650"/>
            <ns1:ext cx="3143250" cy="16192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B0A2CBC5-C50B-43A7-AE5B-9FAE7A4D458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914650"/>
            <ns1:ext cx="57150" cy="1619250"/>
          </ns1:xfrm>
          <ns1:prstGeom prst="rect">
            <ns1:avLst/>
          </ns1:prstGeom>
          <ns1:solidFill>
            <ns1:srgbClr val="1F4E79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8F356AAC-0D2C-47EC-935D-96B3D12A49BD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086100"/>
            <ns1:ext cx="27241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Löydettävyys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5ADA0B90-F84E-48BB-8AE5-C49234608FE2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429000"/>
            <ns1:ext cx="2724150" cy="990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Palvelut ovat eri sivustoilla, eri nimillä ja usein vaikeiden hakupolkujen takana.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4ECE667A-1F7A-4E0D-8469-7D4F2D594E56}"/>
              </ns1:ext>
            </ns1:extLst>
          </ns0:cNvPr>
          <ns0:cNvSpPr>
            <ns1:spLocks noGrp="1"/>
          </ns0:cNvSpPr>
          <ns0:nvPr/>
        </ns0:nvSpPr>
        <ns0:spPr>
          <ns1:xfrm>
            <ns1:off x="4524375" y="2914650"/>
            <ns1:ext cx="3143250" cy="16192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C42F8FF5-3232-4F5E-B740-2BFB4DE4ADBE}"/>
              </ns1:ext>
            </ns1:extLst>
          </ns0:cNvPr>
          <ns0:cNvSpPr>
            <ns1:spLocks noGrp="1"/>
          </ns0:cNvSpPr>
          <ns0:nvPr/>
        </ns0:nvSpPr>
        <ns0:spPr>
          <ns1:xfrm>
            <ns1:off x="4524375" y="2914650"/>
            <ns1:ext cx="57150" cy="16192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CA387AD8-DCF1-4EAC-9851-D21C39E075B0}"/>
              </ns1:ext>
            </ns1:extLst>
          </ns0:cNvPr>
          <ns0:cNvSpPr>
            <ns1:spLocks noGrp="1"/>
          </ns0:cNvSpPr>
          <ns0:nvPr/>
        </ns0:nvSpPr>
        <ns0:spPr>
          <ns1:xfrm>
            <ns1:off x="4733925" y="3086100"/>
            <ns1:ext cx="27241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Luottamus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32961087-A942-4702-9220-29CB49D68902}"/>
              </ns1:ext>
            </ns1:extLst>
          </ns0:cNvPr>
          <ns0:cNvSpPr>
            <ns1:spLocks noGrp="1"/>
          </ns0:cNvSpPr>
          <ns0:nvPr/>
        </ns0:nvSpPr>
        <ns0:spPr>
          <ns1:xfrm>
            <ns1:off x="4733925" y="3429000"/>
            <ns1:ext cx="2724150" cy="990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Käyttäjän pitää tunnistaa, mikä linkki on turvallinen ja mikä tieto on ajantasaista.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6F47661E-A9D3-4DF5-9F71-219D91364DF1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2914650"/>
            <ns1:ext cx="3143250" cy="16192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7AFBC01D-C611-43E1-B5A7-6C15555E5604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2914650"/>
            <ns1:ext cx="57150" cy="1619250"/>
          </ns1:xfrm>
          <ns1:prstGeom prst="rect">
            <ns1:avLst/>
          </ns1:prstGeom>
          <ns1:solidFill>
            <ns1:srgbClr val="D98C2B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A0948D12-B619-4BA1-8A93-88B4BB1FE245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3086100"/>
            <ns1:ext cx="27241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Paikallisuus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D77417B9-849E-4A3F-98CF-C8EAB6764877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3429000"/>
            <ns1:ext cx="2724150" cy="990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Kunnan ja alueen mukaan oikeat linkit, uutiset ja palvelut vaihtuvat.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932DC8F4-F0D4-4559-AB90-31BA812636CB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419850"/>
            <ns1:ext cx="11125200" cy="9525"/>
          </ns1:xfrm>
          <ns1:prstGeom prst="rect">
            <ns1:avLst/>
          </ns1:prstGeom>
          <ns1:solidFill>
            <ns1:srgbClr val="CBD5E1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BBD09D3E-86D2-429C-A5BE-AB15CA41253C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51510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Aloitussivu | yleisesittely | 9.6.2026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A9C6A20B-9B37-4F62-995D-97DA7343992A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486525"/>
            <ns1:ext cx="4191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02</ns1:t>
            </ns1:r>
          </ns1:p>
        </ns0:txBody>
      </ns0:sp>
    </ns0:spTree>
    <ns0:extLst>
      <ns0:ext uri="{BB962C8B-B14F-4D97-AF65-F5344CB8AC3E}">
        <ns3:creationId val="279752124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E7DD5C7F-8454-44DB-A2D7-BE514C04518D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AFC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91B8C9E9-C51F-4DDB-AB1C-468692E982EB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28625"/>
            <ns1:ext cx="95250" cy="952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38B6F895-5C4D-4701-9856-9399208B0759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52425"/>
            <ns1:ext cx="4381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RATKAISU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CF6DA59B-A278-4E2B-9990-67F452A156F4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323850"/>
            <ns1:ext cx="4191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03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3573CFAB-A265-4388-A605-CA6B512B450E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800100"/>
            <ns1:ext cx="8096250" cy="914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rPr>
              <ns1:t>Aloitussivu kokoaa tärkeimmät arjen digiasiat yhteen rauhalliseen näkymään.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FF66EEA-A246-40BB-9AEF-F71CDD655CDE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2476500"/>
            <ns1:ext cx="4476750" cy="10668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492613E5-BD27-441B-9A75-B48E63938E82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2476500"/>
            <ns1:ext cx="57150" cy="106680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10788E69-7D38-4242-BF37-08A2832BAECA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647950"/>
            <ns1:ext cx="40576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Turvalliset palvelulinkit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B306F096-37A6-41A4-8D29-939E9D72C9C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990850"/>
            <ns1:ext cx="4057650" cy="4381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Kootut kategoriat ja luotettavat linkit arjen asiointiin.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64CC45C4-F514-4880-92DF-DFC35133D443}"/>
              </ns1:ext>
            </ns1:extLst>
          </ns0:cNvPr>
          <ns0:cNvSpPr>
            <ns1:spLocks noGrp="1"/>
          </ns0:cNvSpPr>
          <ns0:nvPr/>
        </ns0:nvSpPr>
        <ns0:spPr>
          <ns1:xfrm>
            <ns1:off x="6076950" y="2476500"/>
            <ns1:ext cx="4476750" cy="10668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5CE30B78-B4BD-428F-B0CC-619A2F4720C6}"/>
              </ns1:ext>
            </ns1:extLst>
          </ns0:cNvPr>
          <ns0:cNvSpPr>
            <ns1:spLocks noGrp="1"/>
          </ns0:cNvSpPr>
          <ns0:nvPr/>
        </ns0:nvSpPr>
        <ns0:spPr>
          <ns1:xfrm>
            <ns1:off x="6076950" y="2476500"/>
            <ns1:ext cx="57150" cy="1066800"/>
          </ns1:xfrm>
          <ns1:prstGeom prst="rect">
            <ns1:avLst/>
          </ns1:prstGeom>
          <ns1:solidFill>
            <ns1:srgbClr val="1F4E79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04A70948-2933-418B-95C5-94CDEDA2A1A2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2647950"/>
            <ns1:ext cx="40576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Paikallinen näkymä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564C9F77-F1ED-4F27-AC6C-11526CFCF115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2990850"/>
            <ns1:ext cx="4057650" cy="4381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Kuntaan ja alueeseen liittyvät palvelut, uutiset, sää ja Kela-taksin tilausnumero.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A77D5C59-A326-41A2-B1BC-28FF96534259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905250"/>
            <ns1:ext cx="4476750" cy="10668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DF00CD78-4572-434F-A6B7-4EB4C2374CC7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905250"/>
            <ns1:ext cx="57150" cy="1066800"/>
          </ns1:xfrm>
          <ns1:prstGeom prst="rect">
            <ns1:avLst/>
          </ns1:prstGeom>
          <ns1:solidFill>
            <ns1:srgbClr val="D98C2B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5F936BDA-02F8-4707-A716-896BB25B93DB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076700"/>
            <ns1:ext cx="40576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Tuki opastukseen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F04965F2-0EF7-415E-AA25-37B5DC484AE6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419600"/>
            <ns1:ext cx="4057650" cy="4381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Digiopastaja voi käyttää sivua yhteisenä aloituspisteenä.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C67EF7C2-E72A-480B-9972-056C400D68B1}"/>
              </ns1:ext>
            </ns1:extLst>
          </ns0:cNvPr>
          <ns0:cNvSpPr>
            <ns1:spLocks noGrp="1"/>
          </ns0:cNvSpPr>
          <ns0:nvPr/>
        </ns0:nvSpPr>
        <ns0:spPr>
          <ns1:xfrm>
            <ns1:off x="6076950" y="3905250"/>
            <ns1:ext cx="4476750" cy="10668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AECDC804-1CCF-4CE6-A169-4AEA9AF1F3D1}"/>
              </ns1:ext>
            </ns1:extLst>
          </ns0:cNvPr>
          <ns0:cNvSpPr>
            <ns1:spLocks noGrp="1"/>
          </ns0:cNvSpPr>
          <ns0:nvPr/>
        </ns0:nvSpPr>
        <ns0:spPr>
          <ns1:xfrm>
            <ns1:off x="6076950" y="3905250"/>
            <ns1:ext cx="57150" cy="1066800"/>
          </ns1:xfrm>
          <ns1:prstGeom prst="rect">
            <ns1:avLst/>
          </ns1:prstGeom>
          <ns1:solidFill>
            <ns1:srgbClr val="2F855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FE8A2D5F-2E8D-4C20-B8C4-26F00AFCC48E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076700"/>
            <ns1:ext cx="40576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Ylläpidettävä malli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93411354-2E98-47E5-A099-774665EB9E13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419600"/>
            <ns1:ext cx="4057650" cy="4381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Linkkiehdotukset, huijausvaroitukset, käyttötilastot ja muutosloki.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19AE8CF2-76F3-40CD-96A2-594CFA0DAC0D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5715000"/>
            <ns1:ext cx="7239000" cy="3238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75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1875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rPr>
              <ns1:t>Ydinajatus: vähemmän etsimistä, enemmän varmuutta ja helpompi soittaa oikeaan numeroon.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038A1BC1-073B-4623-AFA9-54BD511C4F35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419850"/>
            <ns1:ext cx="11125200" cy="9525"/>
          </ns1:xfrm>
          <ns1:prstGeom prst="rect">
            <ns1:avLst/>
          </ns1:prstGeom>
          <ns1:solidFill>
            <ns1:srgbClr val="CBD5E1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11C31140-7102-44F3-8D61-74D48AA72D57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51510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Aloitussivu | yleisesittely | 9.6.2026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880CD1E6-E82F-4822-80BD-53E191EF359D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486525"/>
            <ns1:ext cx="4191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03</ns1:t>
            </ns1:r>
          </ns1:p>
        </ns0:txBody>
      </ns0:sp>
    </ns0:spTree>
    <ns0:extLst>
      <ns0:ext uri="{BB962C8B-B14F-4D97-AF65-F5344CB8AC3E}">
        <ns3:creationId val="6844974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50A2934A-4035-493E-9E71-57841159CEE0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AFC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5F8E3EE9-6C61-4597-B0D9-91ACC1DCFE6C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28625"/>
            <ns1:ext cx="95250" cy="952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02B6C1D4-B475-4281-874B-5CE0E3752EED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52425"/>
            <ns1:ext cx="4381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OMINAISUUDET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1E508542-1D06-4691-B91E-B7A2A1504C24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323850"/>
            <ns1:ext cx="4191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04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17229164-AB3B-4C52-AED7-B0CCB2A0C904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781050"/>
            <ns1:ext cx="8096250" cy="914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625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2625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rPr>
              <ns1:t>Pilotti on jo laaja: sisältö, paikallisuus, sää, puhelinnumerot, turvallisuus ja ylläpito ovat samassa kokonaisuudessa.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38D724D-E6EA-4B2D-8B10-E974F64FDBE9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2190750"/>
            <ns1:ext cx="1962150" cy="300037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DE67D4D7-FB0E-46A6-96EE-F4FA33CE7AAE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2190750"/>
            <ns1:ext cx="1962150" cy="400050"/>
          </ns1:xfrm>
          <ns1:prstGeom prst="rect">
            <ns1:avLst/>
          </ns1:prstGeom>
          <ns1:solidFill>
            <ns1:srgbClr val="1F4E79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BB9B3547-D968-47F0-A540-3A7C9245501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314575"/>
            <ns1:ext cx="17335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Peruskäyttö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75038DB-B4EA-4411-B91F-2337DAFC7BD8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27813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pääkategoriat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4FF71BE-2FD9-47D3-816E-C2AFAF0C6C2E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18135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alakategoriat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3F024142-6646-45BA-B521-2EC91DFE0BEE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5814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suosikit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43D90816-C885-4A3F-B073-44D4BEFA978C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98145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tekstikoko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4ED43733-64A3-4BD4-98B7-D317674C89BB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43815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teema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5D5C50FA-43B5-4287-92DF-63EAAF640D85}"/>
              </ns1:ext>
            </ns1:extLst>
          </ns0:cNvPr>
          <ns0:cNvSpPr>
            <ns1:spLocks noGrp="1"/>
          </ns0:cNvSpPr>
          <ns0:nvPr/>
        </ns0:nvSpPr>
        <ns0:spPr>
          <ns1:xfrm>
            <ns1:off x="2819400" y="2190750"/>
            <ns1:ext cx="1962150" cy="300037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D42853CB-1570-4558-8285-C6DCBBD6F29C}"/>
              </ns1:ext>
            </ns1:extLst>
          </ns0:cNvPr>
          <ns0:cNvSpPr>
            <ns1:spLocks noGrp="1"/>
          </ns0:cNvSpPr>
          <ns0:nvPr/>
        </ns0:nvSpPr>
        <ns0:spPr>
          <ns1:xfrm>
            <ns1:off x="2819400" y="2190750"/>
            <ns1:ext cx="1962150" cy="4000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E14F2656-BED4-4681-ADF7-107757303996}"/>
              </ns1:ext>
            </ns1:extLst>
          </ns0:cNvPr>
          <ns0:cNvSpPr>
            <ns1:spLocks noGrp="1"/>
          </ns0:cNvSpPr>
          <ns0:nvPr/>
        </ns0:nvSpPr>
        <ns0:spPr>
          <ns1:xfrm>
            <ns1:off x="2933700" y="2314575"/>
            <ns1:ext cx="17335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Paikallisuus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F3512665-B80E-4BE0-B793-084B870FD7F1}"/>
              </ns1:ext>
            </ns1:extLst>
          </ns0:cNvPr>
          <ns0:cNvSpPr>
            <ns1:spLocks noGrp="1"/>
          </ns0:cNvSpPr>
          <ns0:nvPr/>
        </ns0:nvSpPr>
        <ns0:spPr>
          <ns1:xfrm>
            <ns1:off x="2990850" y="27813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oman kunnan palvelut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9B809D4E-E849-4F70-AE55-F203EA9D73A3}"/>
              </ns1:ext>
            </ns1:extLst>
          </ns0:cNvPr>
          <ns0:cNvSpPr>
            <ns1:spLocks noGrp="1"/>
          </ns0:cNvSpPr>
          <ns0:nvPr/>
        </ns0:nvSpPr>
        <ns0:spPr>
          <ns1:xfrm>
            <ns1:off x="2990850" y="318135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alueelliset palvelut ja Kela-taksit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FDE69FF2-CB98-4294-A56D-8789B7AB36ED}"/>
              </ns1:ext>
            </ns1:extLst>
          </ns0:cNvPr>
          <ns0:cNvSpPr>
            <ns1:spLocks noGrp="1"/>
          </ns0:cNvSpPr>
          <ns0:nvPr/>
        </ns0:nvSpPr>
        <ns0:spPr>
          <ns1:xfrm>
            <ns1:off x="2990850" y="35814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paikallisuutiset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32B2B419-10BB-46AE-A868-18A229E660C4}"/>
              </ns1:ext>
            </ns1:extLst>
          </ns0:cNvPr>
          <ns0:cNvSpPr>
            <ns1:spLocks noGrp="1"/>
          </ns0:cNvSpPr>
          <ns0:nvPr/>
        </ns0:nvSpPr>
        <ns0:spPr>
          <ns1:xfrm>
            <ns1:off x="2990850" y="398145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sää: lämpötila, tuntuu, pouta/sade ja tuuli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5A36948F-AF8C-45E1-A560-DDFC26E1BB40}"/>
              </ns1:ext>
            </ns1:extLst>
          </ns0:cNvPr>
          <ns0:cNvSpPr>
            <ns1:spLocks noGrp="1"/>
          </ns0:cNvSpPr>
          <ns0:nvPr/>
        </ns0:nvSpPr>
        <ns0:spPr>
          <ns1:xfrm>
            <ns1:off x="5067300" y="2190750"/>
            <ns1:ext cx="1962150" cy="300037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7577D6FE-2E7C-4D6F-A0BB-F4420A4BECAE}"/>
              </ns1:ext>
            </ns1:extLst>
          </ns0:cNvPr>
          <ns0:cNvSpPr>
            <ns1:spLocks noGrp="1"/>
          </ns0:cNvSpPr>
          <ns0:nvPr/>
        </ns0:nvSpPr>
        <ns0:spPr>
          <ns1:xfrm>
            <ns1:off x="5067300" y="2190750"/>
            <ns1:ext cx="1962150" cy="400050"/>
          </ns1:xfrm>
          <ns1:prstGeom prst="rect">
            <ns1:avLst/>
          </ns1:prstGeom>
          <ns1:solidFill>
            <ns1:srgbClr val="D98C2B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4ACA5F2B-A497-48B0-B1AB-F1F8EDB8A21A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2314575"/>
            <ns1:ext cx="17335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Turvallisuus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501FC43D-5893-4D4F-8B21-8205BE694BFE}"/>
              </ns1:ext>
            </ns1:extLst>
          </ns0:cNvPr>
          <ns0:cNvSpPr>
            <ns1:spLocks noGrp="1"/>
          </ns0:cNvSpPr>
          <ns0:nvPr/>
        </ns0:nvSpPr>
        <ns0:spPr>
          <ns1:xfrm>
            <ns1:off x="5238750" y="27813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huijausvaroitukset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15BBD5A3-9535-468F-8AE7-0CECFD2E596D}"/>
              </ns1:ext>
            </ns1:extLst>
          </ns0:cNvPr>
          <ns0:cNvSpPr>
            <ns1:spLocks noGrp="1"/>
          </ns0:cNvSpPr>
          <ns0:nvPr/>
        </ns0:nvSpPr>
        <ns0:spPr>
          <ns1:xfrm>
            <ns1:off x="5238750" y="318135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luotettavat linkit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F63293B4-78DE-473C-887C-C389195578CB}"/>
              </ns1:ext>
            </ns1:extLst>
          </ns0:cNvPr>
          <ns0:cNvSpPr>
            <ns1:spLocks noGrp="1"/>
          </ns0:cNvSpPr>
          <ns0:nvPr/>
        </ns0:nvSpPr>
        <ns0:spPr>
          <ns1:xfrm>
            <ns1:off x="5238750" y="35814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tietosuoja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7C4E086C-33E0-4FB6-B8F1-76108F2A334A}"/>
              </ns1:ext>
            </ns1:extLst>
          </ns0:cNvPr>
          <ns0:cNvSpPr>
            <ns1:spLocks noGrp="1"/>
          </ns0:cNvSpPr>
          <ns0:nvPr/>
        </ns0:nvSpPr>
        <ns0:spPr>
          <ns1:xfrm>
            <ns1:off x="5238750" y="398145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saavutettavuus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7DDDA8C2-C31A-41D8-8472-569CEF6A92E1}"/>
              </ns1:ext>
            </ns1:extLst>
          </ns0:cNvPr>
          <ns0:cNvSpPr>
            <ns1:spLocks noGrp="1"/>
          </ns0:cNvSpPr>
          <ns0:nvPr/>
        </ns0:nvSpPr>
        <ns0:spPr>
          <ns1:xfrm>
            <ns1:off x="7315200" y="2190750"/>
            <ns1:ext cx="1962150" cy="300037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29" name="">
            <ns1:extLst>
              <ns1:ext uri="{FF2B5EF4-FFF2-40B4-BE49-F238E27FC236}">
                <ns2:creationId id="{FF67542C-6564-4ECB-AF6F-D68BD1CE39C6}"/>
              </ns1:ext>
            </ns1:extLst>
          </ns0:cNvPr>
          <ns0:cNvSpPr>
            <ns1:spLocks noGrp="1"/>
          </ns0:cNvSpPr>
          <ns0:nvPr/>
        </ns0:nvSpPr>
        <ns0:spPr>
          <ns1:xfrm>
            <ns1:off x="7315200" y="2190750"/>
            <ns1:ext cx="1962150" cy="400050"/>
          </ns1:xfrm>
          <ns1:prstGeom prst="rect">
            <ns1:avLst/>
          </ns1:prstGeom>
          <ns1:solidFill>
            <ns1:srgbClr val="2F855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0" name="">
            <ns1:extLst>
              <ns1:ext uri="{FF2B5EF4-FFF2-40B4-BE49-F238E27FC236}">
                <ns2:creationId id="{5A2DD8BE-3EF1-448F-900F-178210E028ED}"/>
              </ns1:ext>
            </ns1:extLst>
          </ns0:cNvPr>
          <ns0:cNvSpPr>
            <ns1:spLocks noGrp="1"/>
          </ns0:cNvSpPr>
          <ns0:nvPr/>
        </ns0:nvSpPr>
        <ns0:spPr>
          <ns1:xfrm>
            <ns1:off x="7429500" y="2314575"/>
            <ns1:ext cx="17335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Avusteet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E1C69A9A-B582-4465-AC61-C5832DF51A5A}"/>
              </ns1:ext>
            </ns1:extLst>
          </ns0:cNvPr>
          <ns0:cNvSpPr>
            <ns1:spLocks noGrp="1"/>
          </ns0:cNvSpPr>
          <ns0:nvPr/>
        </ns0:nvSpPr>
        <ns0:spPr>
          <ns1:xfrm>
            <ns1:off x="7486650" y="27813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tiivistetty Google-haku</ns1:t>
            </ns1:r>
          </ns1:p>
        </ns0:txBody>
      </ns0:sp>
      <ns0:sp>
        <ns0:nvSpPr>
          <ns0:cNvPr id="32" name="">
            <ns1:extLst>
              <ns1:ext uri="{FF2B5EF4-FFF2-40B4-BE49-F238E27FC236}">
                <ns2:creationId id="{743C7E5D-46DB-49BB-9751-9A215C3C0863}"/>
              </ns1:ext>
            </ns1:extLst>
          </ns0:cNvPr>
          <ns0:cNvSpPr>
            <ns1:spLocks noGrp="1"/>
          </ns0:cNvSpPr>
          <ns0:nvPr/>
        </ns0:nvSpPr>
        <ns0:spPr>
          <ns1:xfrm>
            <ns1:off x="7486650" y="318135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tiivistetty tekoälyavustaja</ns1:t>
            </ns1:r>
          </ns1:p>
        </ns0:txBody>
      </ns0:sp>
      <ns0:sp>
        <ns0:nvSpPr>
          <ns0:cNvPr id="33" name="">
            <ns1:extLst>
              <ns1:ext uri="{FF2B5EF4-FFF2-40B4-BE49-F238E27FC236}">
                <ns2:creationId id="{2F70C131-922E-48B4-BD0A-7C2AF6E0A4E6}"/>
              </ns1:ext>
            </ns1:extLst>
          </ns0:cNvPr>
          <ns0:cNvSpPr>
            <ns1:spLocks noGrp="1"/>
          </ns0:cNvSpPr>
          <ns0:nvPr/>
        </ns0:nvSpPr>
        <ns0:spPr>
          <ns1:xfrm>
            <ns1:off x="7486650" y="35814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puhehaku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176F1A11-D818-4602-A46C-B0096F32117B}"/>
              </ns1:ext>
            </ns1:extLst>
          </ns0:cNvPr>
          <ns0:cNvSpPr>
            <ns1:spLocks noGrp="1"/>
          </ns0:cNvSpPr>
          <ns0:nvPr/>
        </ns0:nvSpPr>
        <ns0:spPr>
          <ns1:xfrm>
            <ns1:off x="7486650" y="398145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kieliversiot</ns1:t>
            </ns1:r>
          </ns1:p>
        </ns0:txBody>
      </ns0:sp>
      <ns0:sp>
        <ns0:nvSpPr>
          <ns0:cNvPr id="35" name="">
            <ns1:extLst>
              <ns1:ext uri="{FF2B5EF4-FFF2-40B4-BE49-F238E27FC236}">
                <ns2:creationId id="{939D67D6-044F-4E3F-81CF-965E9FF501ED}"/>
              </ns1:ext>
            </ns1:extLst>
          </ns0:cNvPr>
          <ns0:cNvSpPr>
            <ns1:spLocks noGrp="1"/>
          </ns0:cNvSpPr>
          <ns0:nvPr/>
        </ns0:nvSpPr>
        <ns0:spPr>
          <ns1:xfrm>
            <ns1:off x="9563100" y="2190750"/>
            <ns1:ext cx="1962150" cy="300037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36" name="">
            <ns1:extLst>
              <ns1:ext uri="{FF2B5EF4-FFF2-40B4-BE49-F238E27FC236}">
                <ns2:creationId id="{0F58500D-4EEA-48C3-BD5B-7C07C4ACE6B9}"/>
              </ns1:ext>
            </ns1:extLst>
          </ns0:cNvPr>
          <ns0:cNvSpPr>
            <ns1:spLocks noGrp="1"/>
          </ns0:cNvSpPr>
          <ns0:nvPr/>
        </ns0:nvSpPr>
        <ns0:spPr>
          <ns1:xfrm>
            <ns1:off x="9563100" y="2190750"/>
            <ns1:ext cx="1962150" cy="400050"/>
          </ns1:xfrm>
          <ns1:prstGeom prst="rect">
            <ns1:avLst/>
          </ns1:prstGeom>
          <ns1:solidFill>
            <ns1:srgbClr val="0F172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7" name="">
            <ns1:extLst>
              <ns1:ext uri="{FF2B5EF4-FFF2-40B4-BE49-F238E27FC236}">
                <ns2:creationId id="{A567CC8E-F7C2-45F9-9D4D-F64830C2CE54}"/>
              </ns1:ext>
            </ns1:extLst>
          </ns0:cNvPr>
          <ns0:cNvSpPr>
            <ns1:spLocks noGrp="1"/>
          </ns0:cNvSpPr>
          <ns0:nvPr/>
        </ns0:nvSpPr>
        <ns0:spPr>
          <ns1:xfrm>
            <ns1:off x="9677400" y="2314575"/>
            <ns1:ext cx="173355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Ylläpito</ns1:t>
            </ns1:r>
          </ns1:p>
        </ns0:txBody>
      </ns0:sp>
      <ns0:sp>
        <ns0:nvSpPr>
          <ns0:cNvPr id="38" name="">
            <ns1:extLst>
              <ns1:ext uri="{FF2B5EF4-FFF2-40B4-BE49-F238E27FC236}">
                <ns2:creationId id="{B36208C1-BFDF-4E56-A478-A460EA375952}"/>
              </ns1:ext>
            </ns1:extLst>
          </ns0:cNvPr>
          <ns0:cNvSpPr>
            <ns1:spLocks noGrp="1"/>
          </ns0:cNvSpPr>
          <ns0:nvPr/>
        </ns0:nvSpPr>
        <ns0:spPr>
          <ns1:xfrm>
            <ns1:off x="9734550" y="27813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linkkiehdotukset</ns1:t>
            </ns1:r>
          </ns1:p>
        </ns0:txBody>
      </ns0:sp>
      <ns0:sp>
        <ns0:nvSpPr>
          <ns0:cNvPr id="39" name="">
            <ns1:extLst>
              <ns1:ext uri="{FF2B5EF4-FFF2-40B4-BE49-F238E27FC236}">
                <ns2:creationId id="{5C0D36FE-5D14-4A7F-BAC6-538E29553043}"/>
              </ns1:ext>
            </ns1:extLst>
          </ns0:cNvPr>
          <ns0:cNvSpPr>
            <ns1:spLocks noGrp="1"/>
          </ns0:cNvSpPr>
          <ns0:nvPr/>
        </ns0:nvSpPr>
        <ns0:spPr>
          <ns1:xfrm>
            <ns1:off x="9734550" y="318135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käyttötilastot</ns1:t>
            </ns1:r>
          </ns1:p>
        </ns0:txBody>
      </ns0:sp>
      <ns0:sp>
        <ns0:nvSpPr>
          <ns0:cNvPr id="40" name="">
            <ns1:extLst>
              <ns1:ext uri="{FF2B5EF4-FFF2-40B4-BE49-F238E27FC236}">
                <ns2:creationId id="{05E37FAD-E565-45B1-8674-CFB4A75C4615}"/>
              </ns1:ext>
            </ns1:extLst>
          </ns0:cNvPr>
          <ns0:cNvSpPr>
            <ns1:spLocks noGrp="1"/>
          </ns0:cNvSpPr>
          <ns0:nvPr/>
        </ns0:nvSpPr>
        <ns0:spPr>
          <ns1:xfrm>
            <ns1:off x="9734550" y="358140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ajolokit</ns1:t>
            </ns1:r>
          </ns1:p>
        </ns0:txBody>
      </ns0:sp>
      <ns0:sp>
        <ns0:nvSpPr>
          <ns0:cNvPr id="41" name="">
            <ns1:extLst>
              <ns1:ext uri="{FF2B5EF4-FFF2-40B4-BE49-F238E27FC236}">
                <ns2:creationId id="{EA6EAC62-147D-4A19-8DC8-B5AFDF69F112}"/>
              </ns1:ext>
            </ns1:extLst>
          </ns0:cNvPr>
          <ns0:cNvSpPr>
            <ns1:spLocks noGrp="1"/>
          </ns0:cNvSpPr>
          <ns0:nvPr/>
        </ns0:nvSpPr>
        <ns0:spPr>
          <ns1:xfrm>
            <ns1:off x="9734550" y="3981450"/>
            <ns1:ext cx="16383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muutosloki</ns1:t>
            </ns1:r>
          </ns1:p>
        </ns0:txBody>
      </ns0:sp>
      <ns0:sp>
        <ns0:nvSpPr>
          <ns0:cNvPr id="42" name="">
            <ns1:extLst>
              <ns1:ext uri="{FF2B5EF4-FFF2-40B4-BE49-F238E27FC236}">
                <ns2:creationId id="{5717215E-599F-4FDC-A5FD-AFF06070C098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419850"/>
            <ns1:ext cx="11125200" cy="9525"/>
          </ns1:xfrm>
          <ns1:prstGeom prst="rect">
            <ns1:avLst/>
          </ns1:prstGeom>
          <ns1:solidFill>
            <ns1:srgbClr val="CBD5E1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3" name="">
            <ns1:extLst>
              <ns1:ext uri="{FF2B5EF4-FFF2-40B4-BE49-F238E27FC236}">
                <ns2:creationId id="{86276903-71A3-4309-8416-15854F61DD93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51510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Aloitussivu | yleisesittely | 9.6.2026</ns1:t>
            </ns1:r>
          </ns1:p>
        </ns0:txBody>
      </ns0:sp>
      <ns0:sp>
        <ns0:nvSpPr>
          <ns0:cNvPr id="44" name="">
            <ns1:extLst>
              <ns1:ext uri="{FF2B5EF4-FFF2-40B4-BE49-F238E27FC236}">
                <ns2:creationId id="{8D585CEC-2261-421C-8028-C3EC765A6394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486525"/>
            <ns1:ext cx="4191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04</ns1:t>
            </ns1:r>
          </ns1:p>
        </ns0:txBody>
      </ns0:sp>
    </ns0:spTree>
    <ns0:extLst>
      <ns0:ext uri="{BB962C8B-B14F-4D97-AF65-F5344CB8AC3E}">
        <ns3:creationId val="403665689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91767AF6-F004-4C52-A2FA-2C1DBC4060CD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AFC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7A8D8D05-527A-4072-BF20-AE33FFEC7534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28625"/>
            <ns1:ext cx="95250" cy="952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D6AE54A9-91E7-4237-8AA1-8680199200C8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52425"/>
            <ns1:ext cx="4381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TESTAUS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CE0DDD09-9FFB-48C2-B3A5-20592E146696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323850"/>
            <ns1:ext cx="4191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05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C61E0418-9DD1-448F-97B6-076D7A3C1669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800100"/>
            <ns1:ext cx="8096250" cy="914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rPr>
              <ns1:t>Kesäkuun testaus kertoo, mikä on oikeasti hyödyllistä ja mikä pitää korjata ennen julkaisua.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84CC336A-3A19-402E-824A-4E220988991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095500"/>
            <ns1:ext cx="4476750" cy="8382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F93AA4EC-C0F1-4226-8827-6357C27E098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095500"/>
            <ns1:ext cx="57150" cy="838200"/>
          </ns1:xfrm>
          <ns1:prstGeom prst="rect">
            <ns1:avLst/>
          </ns1:prstGeom>
          <ns1:solidFill>
            <ns1:srgbClr val="1F4E79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567275FA-B9D6-405B-8671-66DC10B15A03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2266950"/>
            <ns1:ext cx="40576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1-5 hyödyllisyysmatriisi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58DA4663-83DC-4F6B-935D-5FB11B72BC7D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2609850"/>
            <ns1:ext cx="40576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Kaikista ominaisuuksista kysytään hyödyllisyys itselle.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2086CF3B-2F28-4887-A4A9-94A47D54057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238500"/>
            <ns1:ext cx="4476750" cy="8382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0D8AB64D-0905-4D63-8DBB-5BCC439EA3C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238500"/>
            <ns1:ext cx="57150" cy="83820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EE0B345A-76EB-4A91-BB90-4952D142FB8F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409950"/>
            <ns1:ext cx="40576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Avoimet havainnot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CED824E6-E476-4CC8-92E4-05B65BC5E36A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752850"/>
            <ns1:ext cx="40576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Mikä oli vaikeaa, mitä puuttui, mikä lisäisi luottamusta.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946BBE67-EE84-4A9F-9BE2-D2AF6642D2F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381500"/>
            <ns1:ext cx="4476750" cy="8382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BD5E1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8A012733-3403-4F14-8087-59AB92E6ED5C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381500"/>
            <ns1:ext cx="57150" cy="838200"/>
          </ns1:xfrm>
          <ns1:prstGeom prst="rect">
            <ns1:avLst/>
          </ns1:prstGeom>
          <ns1:solidFill>
            <ns1:srgbClr val="D98C2B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40A6B09A-5559-4160-8220-A08DE0445E4B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552950"/>
            <ns1:ext cx="405765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27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Digiopastajan näkökulma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9112D684-60FF-4CC7-89F2-71AB53CAF75E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895850"/>
            <ns1:ext cx="40576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38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Sopiiko sivu yhteiseksi työkaluksi opastustilanteisiin.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5F90A577-1E1C-4DD2-AD6E-0058E280F81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2047875"/>
            <ns1:ext cx="4381500" cy="2952750"/>
          </ns1:xfrm>
          <ns1:prstGeom prst="rect">
            <ns1:avLst/>
          </ns1:prstGeom>
          <ns1:solidFill>
            <ns1:srgbClr val="E5F0FA"/>
          </ns1:solidFill>
          <ns1:ln w="9525">
            <ns1:solidFill>
              <ns1:srgbClr val="BFD7EE"/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14C49798-F1D7-47B3-8322-512C45535E6C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2381250"/>
            <ns1:ext cx="3524250" cy="3238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18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rPr>
              <ns1:t>Mitä testauksessa mitataan?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83372C79-F39D-4D62-BF79-C35F411CEFE5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3028950"/>
            <ns1:ext cx="3333750" cy="14287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löytyvätkö palvelut</ns1:t>
            </ns1:r>
          </ns1:p>
          <ns1:p>
            <ns1:pPr algn="l">
              <ns1:def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onko sivu hyödyllinen</ns1:t>
            </ns1:r>
          </ns1:p>
          <ns1:p>
            <ns1:pPr algn="l">
              <ns1:def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toimiiko mobiilissa</ns1:t>
            </ns1:r>
          </ns1:p>
          <ns1:p>
            <ns1:pPr algn="l">
              <ns1:def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ymmärretäänkö tarkoitus</ns1:t>
            </ns1:r>
          </ns1:p>
          <ns1:p>
            <ns1:pPr algn="l">
              <ns1:def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tuntuuko sivu luotettavalta</ns1:t>
            </ns1:r>
          </ns1:p>
          <ns1:p>
            <ns1:pPr algn="l">
              <ns1:def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350" b="0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• mitä korjataan ennen julkaisua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3BA50118-1A44-4B14-AD37-DE59A1A74973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419850"/>
            <ns1:ext cx="11125200" cy="9525"/>
          </ns1:xfrm>
          <ns1:prstGeom prst="rect">
            <ns1:avLst/>
          </ns1:prstGeom>
          <ns1:solidFill>
            <ns1:srgbClr val="CBD5E1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D97A87D2-3E93-47E2-94C4-D13DEFE8E73C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51510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Aloitussivu | yleisesittely | 9.6.2026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525000D3-1D1C-4833-B878-EBA779682021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486525"/>
            <ns1:ext cx="4191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05</ns1:t>
            </ns1:r>
          </ns1:p>
        </ns0:txBody>
      </ns0:sp>
    </ns0:spTree>
    <ns0:extLst>
      <ns0:ext uri="{BB962C8B-B14F-4D97-AF65-F5344CB8AC3E}">
        <ns3:creationId val="1779566059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40315F36-DDEE-4A55-B343-24935BBF41C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AFC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2DE644B6-E655-4479-8E94-B3095D0DC8EA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28625"/>
            <ns1:ext cx="95250" cy="952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2DAF368A-3903-49D9-ACE4-26805186BC6C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52425"/>
            <ns1:ext cx="4381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ROADMAP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2956BE00-218F-4870-945A-E1B2D4EA26F5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323850"/>
            <ns1:ext cx="4191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06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80DD7C37-BED6-40E2-AA1E-8936C8599932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781050"/>
            <ns1:ext cx="8096250" cy="914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7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27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rPr>
              <ns1:t>Julkaisu 6.10.2026 on realistinen, jos elokuussa tehdään rajaukset napakasti.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FEBEFDAE-1D7E-4C60-B066-1F7DD45F9196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3333750"/>
            <ns1:ext cx="9906000" cy="38100"/>
          </ns1:xfrm>
          <ns1:prstGeom prst="rect">
            <ns1:avLst/>
          </ns1:prstGeom>
          <ns1:solidFill>
            <ns1:srgbClr val="CBD5E1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E76EF2D9-B9EA-441F-A552-CA98C40FD3A8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200400"/>
            <ns1:ext cx="266700" cy="266700"/>
          </ns1:xfrm>
          <ns1:prstGeom prst="ellipse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C64C33A2-C779-495F-8013-74276FDF26D3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3714750"/>
            <ns1:ext cx="1333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500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Kesäkuu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0B3F0E8-6162-41AD-98E5-09529A66AD22}"/>
              </ns1:ext>
            </ns1:extLst>
          </ns0:cNvPr>
          <ns0:cNvSpPr>
            <ns1:spLocks noGrp="1"/>
          </ns0:cNvSpPr>
          <ns0:nvPr/>
        </ns0:nvSpPr>
        <ns0:spPr>
          <ns1:xfrm>
            <ns1:off x="171450" y="4038600"/>
            <ns1:ext cx="1752600" cy="552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Avoin testaus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406C4F47-ABE3-4556-A44F-18EE83EC93FD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3200400"/>
            <ns1:ext cx="266700" cy="266700"/>
          </ns1:xfrm>
          <ns1:prstGeom prst="ellipse">
            <ns1:avLst/>
          </ns1:prstGeom>
          <ns1:solidFill>
            <ns1:srgbClr val="5B677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D9D04C67-EC5A-4E05-A5E5-5AC155401B65}"/>
              </ns1:ext>
            </ns1:extLst>
          </ns0:cNvPr>
          <ns0:cNvSpPr>
            <ns1:spLocks noGrp="1"/>
          </ns0:cNvSpPr>
          <ns0:nvPr/>
        </ns0:nvSpPr>
        <ns0:spPr>
          <ns1:xfrm>
            <ns1:off x="2857500" y="3714750"/>
            <ns1:ext cx="1333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500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Heinäkuu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DB48F5F5-A21F-4729-9E74-D051E50BD104}"/>
              </ns1:ext>
            </ns1:extLst>
          </ns0:cNvPr>
          <ns0:cNvSpPr>
            <ns1:spLocks noGrp="1"/>
          </ns0:cNvSpPr>
          <ns0:nvPr/>
        </ns0:nvSpPr>
        <ns0:spPr>
          <ns1:xfrm>
            <ns1:off x="2647950" y="4038600"/>
            <ns1:ext cx="1752600" cy="552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Loma ja kevyt ylläpito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F6853E49-D50A-47DE-AC7F-A7BB59E311D9}"/>
              </ns1:ext>
            </ns1:extLst>
          </ns0:cNvPr>
          <ns0:cNvSpPr>
            <ns1:spLocks noGrp="1"/>
          </ns0:cNvSpPr>
          <ns0:nvPr/>
        </ns0:nvSpPr>
        <ns0:spPr>
          <ns1:xfrm>
            <ns1:off x="5867400" y="3200400"/>
            <ns1:ext cx="266700" cy="266700"/>
          </ns1:xfrm>
          <ns1:prstGeom prst="ellipse">
            <ns1:avLst/>
          </ns1:prstGeom>
          <ns1:solidFill>
            <ns1:srgbClr val="D98C2B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8D811835-C41D-4471-A55B-F72F9915D22B}"/>
              </ns1:ext>
            </ns1:extLst>
          </ns0:cNvPr>
          <ns0:cNvSpPr>
            <ns1:spLocks noGrp="1"/>
          </ns0:cNvSpPr>
          <ns0:nvPr/>
        </ns0:nvSpPr>
        <ns0:spPr>
          <ns1:xfrm>
            <ns1:off x="5334000" y="3714750"/>
            <ns1:ext cx="1333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500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Elokuu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238B2886-4924-4B0C-9B1F-47E323139AF6}"/>
              </ns1:ext>
            </ns1:extLst>
          </ns0:cNvPr>
          <ns0:cNvSpPr>
            <ns1:spLocks noGrp="1"/>
          </ns0:cNvSpPr>
          <ns0:nvPr/>
        </ns0:nvSpPr>
        <ns0:spPr>
          <ns1:xfrm>
            <ns1:off x="5124450" y="4038600"/>
            <ns1:ext cx="1752600" cy="552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Palaute, nimi, saavutettavuus, tietosuoja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E3840732-9AAD-43A4-9E23-ACDB7951B2D5}"/>
              </ns1:ext>
            </ns1:extLst>
          </ns0:cNvPr>
          <ns0:cNvSpPr>
            <ns1:spLocks noGrp="1"/>
          </ns0:cNvSpPr>
          <ns0:nvPr/>
        </ns0:nvSpPr>
        <ns0:spPr>
          <ns1:xfrm>
            <ns1:off x="8343900" y="3200400"/>
            <ns1:ext cx="266700" cy="266700"/>
          </ns1:xfrm>
          <ns1:prstGeom prst="ellipse">
            <ns1:avLst/>
          </ns1:prstGeom>
          <ns1:solidFill>
            <ns1:srgbClr val="1F4E79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E83FEF4F-832E-4245-8F30-7FAA39CA42DE}"/>
              </ns1:ext>
            </ns1:extLst>
          </ns0:cNvPr>
          <ns0:cNvSpPr>
            <ns1:spLocks noGrp="1"/>
          </ns0:cNvSpPr>
          <ns0:nvPr/>
        </ns0:nvSpPr>
        <ns0:spPr>
          <ns1:xfrm>
            <ns1:off x="7810500" y="3714750"/>
            <ns1:ext cx="1333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500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Syyskuu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3F4D3AB8-04DC-45D2-B7DF-AA58D6C892F0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4038600"/>
            <ns1:ext cx="1752600" cy="552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Tuotantopolku, staging, release candidate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C408F9A6-4DBE-4C96-A50C-FAE6B1D24E8B}"/>
              </ns1:ext>
            </ns1:extLst>
          </ns0:cNvPr>
          <ns0:cNvSpPr>
            <ns1:spLocks noGrp="1"/>
          </ns0:cNvSpPr>
          <ns0:nvPr/>
        </ns0:nvSpPr>
        <ns0:spPr>
          <ns1:xfrm>
            <ns1:off x="10820400" y="3200400"/>
            <ns1:ext cx="266700" cy="266700"/>
          </ns1:xfrm>
          <ns1:prstGeom prst="ellipse">
            <ns1:avLst/>
          </ns1:prstGeom>
          <ns1:solidFill>
            <ns1:srgbClr val="2F855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0A5784D7-CD97-4263-B8FC-8C139261B5D7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3714750"/>
            <ns1:ext cx="1333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500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6.10.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AFA946F2-55A4-42CC-A6DE-71EF081E2B28}"/>
              </ns1:ext>
            </ns1:extLst>
          </ns0:cNvPr>
          <ns0:cNvSpPr>
            <ns1:spLocks noGrp="1"/>
          </ns0:cNvSpPr>
          <ns0:nvPr/>
        </ns0:nvSpPr>
        <ns0:spPr>
          <ns1:xfrm>
            <ns1:off x="10077450" y="4038600"/>
            <ns1:ext cx="1752600" cy="552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9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Julkaisu 1.0.0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7A5BDA5D-01FF-42F8-86A6-97C117A88B0B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5334000"/>
            <ns1:ext cx="2857500" cy="3048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B91C1C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1800" b="1">
                <ns1:solidFill>
                  <ns1:srgbClr val="B91C1C"/>
                </ns1:solidFill>
                <ns1:latin typeface="Aptos Display"/>
                <ns1:ea typeface="Aptos Display"/>
                <ns1:cs typeface="Aptos Display"/>
              </ns1:rPr>
              <ns1:t>Go/no-go: 1.10.2026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DD8E3395-D89B-4031-9A0B-A1CCF12E7D47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419850"/>
            <ns1:ext cx="11125200" cy="9525"/>
          </ns1:xfrm>
          <ns1:prstGeom prst="rect">
            <ns1:avLst/>
          </ns1:prstGeom>
          <ns1:solidFill>
            <ns1:srgbClr val="CBD5E1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F2E094CB-05D6-471C-9B69-B9D228940D2F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51510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Aloitussivu | yleisesittely | 9.6.2026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1FB0CA1E-1404-4BF4-B54B-B7401DC41585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486525"/>
            <ns1:ext cx="4191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06</ns1:t>
            </ns1:r>
          </ns1:p>
        </ns0:txBody>
      </ns0:sp>
    </ns0:spTree>
    <ns0:extLst>
      <ns0:ext uri="{BB962C8B-B14F-4D97-AF65-F5344CB8AC3E}">
        <ns3:creationId val="1955961612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9611053A-EFC0-4633-8151-FEFE41ABBFED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7FAFC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0AF2D2D7-88EC-4A4F-9C1B-FD723EC95727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28625"/>
            <ns1:ext cx="95250" cy="952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8EFC0D36-DBC3-4626-B9E8-B0E5C98851C8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52425"/>
            <ns1:ext cx="4381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TYÖMÄÄRÄ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A0F70ACF-EDEF-4A22-A3D4-875B6DC0E23A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323850"/>
            <ns1:ext cx="4191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1050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07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225732A-556B-42BB-BBEC-63839250079E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800100"/>
            <ns1:ext cx="8096250" cy="914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0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3000" b="1">
                <ns1:solidFill>
                  <ns1:srgbClr val="172033"/>
                </ns1:solidFill>
                <ns1:latin typeface="Aptos Display"/>
                <ns1:ea typeface="Aptos Display"/>
                <ns1:cs typeface="Aptos Display"/>
              </ns1:rPr>
              <ns1:t>Työhuippu osuu elo-syyskuulle; päätökset ovat yhtä tärkeitä kuin koodaus.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26BA900D-DD54-4B67-9B62-36A3557A9DE5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2095500"/>
            <ns1:ext cx="10477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Kesäkuu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17C6F3F0-9057-4C61-802D-7C1546E97CA1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2133600"/>
            <ns1:ext cx="3429000" cy="133350"/>
          </ns1:xfrm>
          <ns1:prstGeom prst="rect">
            <ns1:avLst/>
          </ns1:prstGeom>
          <ns1:solidFill>
            <ns1:srgbClr val="E5F0F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83300EFD-54DC-4877-818C-7296A30013F9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2133600"/>
            <ns1:ext cx="137160" cy="1333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EAEA29F6-6146-41FA-ACEA-B821A6A3CF8F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20764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2 h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EADA9764-32CF-4B7C-B611-166C35B813E8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2133600"/>
            <ns1:ext cx="3429000" cy="133350"/>
          </ns1:xfrm>
          <ns1:prstGeom prst="rect">
            <ns1:avLst/>
          </ns1:prstGeom>
          <ns1:solidFill>
            <ns1:srgbClr val="FFF2D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BD9FA751-D252-4FAF-9BBB-C29213F50CB2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2133600"/>
            <ns1:ext cx="274320" cy="1333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7A8F75AB-62E8-49A6-B57C-D9850A52125B}"/>
              </ns1:ext>
            </ns1:extLst>
          </ns0:cNvPr>
          <ns0:cNvSpPr>
            <ns1:spLocks noGrp="1"/>
          </ns0:cNvSpPr>
          <ns0:nvPr/>
        </ns0:nvSpPr>
        <ns0:spPr>
          <ns1:xfrm>
            <ns1:off x="10115550" y="20764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4 h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1EF40A14-B0A4-4FB7-83A9-EE1C4BB7E3CB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2628900"/>
            <ns1:ext cx="10477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Heinäkuu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320F3804-69C5-4FA9-8E42-D6DD3C4BB945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2667000"/>
            <ns1:ext cx="3429000" cy="133350"/>
          </ns1:xfrm>
          <ns1:prstGeom prst="rect">
            <ns1:avLst/>
          </ns1:prstGeom>
          <ns1:solidFill>
            <ns1:srgbClr val="E5F0F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2C66CAC7-0417-49AD-8635-1E8B58FCE4C0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2667000"/>
            <ns1:ext cx="68580" cy="1333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951BBD81-CEEB-47D9-BAB9-CFD1984772D0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26098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1 h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B12D970F-99B3-4568-B7E7-6018B24F24D2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2667000"/>
            <ns1:ext cx="3429000" cy="133350"/>
          </ns1:xfrm>
          <ns1:prstGeom prst="rect">
            <ns1:avLst/>
          </ns1:prstGeom>
          <ns1:solidFill>
            <ns1:srgbClr val="FFF2D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D869BE2D-D3FC-41D8-9D33-9EB7175C5C24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2667000"/>
            <ns1:ext cx="137160" cy="133350"/>
          </ns1:xfrm>
          <ns1:prstGeom prst="rect">
            <ns1:avLst/>
          </ns1:prstGeom>
          <ns1:solidFill>
            <ns1:srgbClr val="5B677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F94F9CE8-9ACA-4E12-B8EE-DA6C82DC9E32}"/>
              </ns1:ext>
            </ns1:extLst>
          </ns0:cNvPr>
          <ns0:cNvSpPr>
            <ns1:spLocks noGrp="1"/>
          </ns0:cNvSpPr>
          <ns0:nvPr/>
        </ns0:nvSpPr>
        <ns0:spPr>
          <ns1:xfrm>
            <ns1:off x="10115550" y="26098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2 h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B530C124-8684-49F6-A676-12F455021CE6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3162300"/>
            <ns1:ext cx="10477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v32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0307D15C-3FCB-47E4-ADDD-F4ECB32C0D86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3200400"/>
            <ns1:ext cx="3429000" cy="133350"/>
          </ns1:xfrm>
          <ns1:prstGeom prst="rect">
            <ns1:avLst/>
          </ns1:prstGeom>
          <ns1:solidFill>
            <ns1:srgbClr val="E5F0F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788176B0-49FE-4374-953C-8BE6A62E6353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3200400"/>
            <ns1:ext cx="1097280" cy="1333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72D60A1D-BA7E-4ACF-8825-24CA76AABB95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31432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16 h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DE3E4575-00CC-4EAD-B7FB-6D320C026AA9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200400"/>
            <ns1:ext cx="3429000" cy="133350"/>
          </ns1:xfrm>
          <ns1:prstGeom prst="rect">
            <ns1:avLst/>
          </ns1:prstGeom>
          <ns1:solidFill>
            <ns1:srgbClr val="FFF2D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5" name="">
            <ns1:extLst>
              <ns1:ext uri="{FF2B5EF4-FFF2-40B4-BE49-F238E27FC236}">
                <ns2:creationId id="{E00E491F-7FD1-45CE-8F9C-E86BE5EF012F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200400"/>
            <ns1:ext cx="1097280" cy="133350"/>
          </ns1:xfrm>
          <ns1:prstGeom prst="rect">
            <ns1:avLst/>
          </ns1:prstGeom>
          <ns1:solidFill>
            <ns1:srgbClr val="D98C2B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BC142D6E-27EF-4679-A31D-749404EEF542}"/>
              </ns1:ext>
            </ns1:extLst>
          </ns0:cNvPr>
          <ns0:cNvSpPr>
            <ns1:spLocks noGrp="1"/>
          </ns0:cNvSpPr>
          <ns0:nvPr/>
        </ns0:nvSpPr>
        <ns0:spPr>
          <ns1:xfrm>
            <ns1:off x="10115550" y="31432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16 h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2932BCB6-4D9F-4F0B-AAA4-707EEC9C30F6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3695700"/>
            <ns1:ext cx="10477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v34-v35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D25387B6-9184-46DA-8BFD-7417344D2319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3733800"/>
            <ns1:ext cx="3429000" cy="133350"/>
          </ns1:xfrm>
          <ns1:prstGeom prst="rect">
            <ns1:avLst/>
          </ns1:prstGeom>
          <ns1:solidFill>
            <ns1:srgbClr val="E5F0F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9" name="">
            <ns1:extLst>
              <ns1:ext uri="{FF2B5EF4-FFF2-40B4-BE49-F238E27FC236}">
                <ns2:creationId id="{5E9514A9-5A96-47CA-A08E-816FB59BF2A6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3733800"/>
            <ns1:ext cx="1097280" cy="1333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0" name="">
            <ns1:extLst>
              <ns1:ext uri="{FF2B5EF4-FFF2-40B4-BE49-F238E27FC236}">
                <ns2:creationId id="{EC49DA92-515C-4F6E-A14E-A178CBC06C87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36766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16 h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AC216990-862D-4755-9A92-4B616ACED733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733800"/>
            <ns1:ext cx="3429000" cy="133350"/>
          </ns1:xfrm>
          <ns1:prstGeom prst="rect">
            <ns1:avLst/>
          </ns1:prstGeom>
          <ns1:solidFill>
            <ns1:srgbClr val="FFF2D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2" name="">
            <ns1:extLst>
              <ns1:ext uri="{FF2B5EF4-FFF2-40B4-BE49-F238E27FC236}">
                <ns2:creationId id="{1AC8A93A-3C66-4F7A-8150-C3568F5536F6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733800"/>
            <ns1:ext cx="2743200" cy="133350"/>
          </ns1:xfrm>
          <ns1:prstGeom prst="rect">
            <ns1:avLst/>
          </ns1:prstGeom>
          <ns1:solidFill>
            <ns1:srgbClr val="D98C2B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3" name="">
            <ns1:extLst>
              <ns1:ext uri="{FF2B5EF4-FFF2-40B4-BE49-F238E27FC236}">
                <ns2:creationId id="{DD7917D9-E9C3-4310-A2E0-E75D7C12CA15}"/>
              </ns1:ext>
            </ns1:extLst>
          </ns0:cNvPr>
          <ns0:cNvSpPr>
            <ns1:spLocks noGrp="1"/>
          </ns0:cNvSpPr>
          <ns0:nvPr/>
        </ns0:nvSpPr>
        <ns0:spPr>
          <ns1:xfrm>
            <ns1:off x="10115550" y="36766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40 h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8C12A6B1-AC62-42F8-9D58-9EB3F01AF3D3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4229100"/>
            <ns1:ext cx="10477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v37</ns1:t>
            </ns1:r>
          </ns1:p>
        </ns0:txBody>
      </ns0:sp>
      <ns0:sp>
        <ns0:nvSpPr>
          <ns0:cNvPr id="35" name="">
            <ns1:extLst>
              <ns1:ext uri="{FF2B5EF4-FFF2-40B4-BE49-F238E27FC236}">
                <ns2:creationId id="{FEA4058D-0C64-411F-975F-6F0BA3D65A16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4267200"/>
            <ns1:ext cx="3429000" cy="133350"/>
          </ns1:xfrm>
          <ns1:prstGeom prst="rect">
            <ns1:avLst/>
          </ns1:prstGeom>
          <ns1:solidFill>
            <ns1:srgbClr val="E5F0F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6" name="">
            <ns1:extLst>
              <ns1:ext uri="{FF2B5EF4-FFF2-40B4-BE49-F238E27FC236}">
                <ns2:creationId id="{B8AF366E-4573-4A01-A0F0-E7CDD2C2F0EC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4267200"/>
            <ns1:ext cx="960120" cy="1333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7" name="">
            <ns1:extLst>
              <ns1:ext uri="{FF2B5EF4-FFF2-40B4-BE49-F238E27FC236}">
                <ns2:creationId id="{C11A6345-5874-4688-BCBA-5132E27B0EF1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42100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14 h</ns1:t>
            </ns1:r>
          </ns1:p>
        </ns0:txBody>
      </ns0:sp>
      <ns0:sp>
        <ns0:nvSpPr>
          <ns0:cNvPr id="38" name="">
            <ns1:extLst>
              <ns1:ext uri="{FF2B5EF4-FFF2-40B4-BE49-F238E27FC236}">
                <ns2:creationId id="{726F9AE3-641B-47AD-AA5D-3EF359D005AC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4267200"/>
            <ns1:ext cx="3429000" cy="133350"/>
          </ns1:xfrm>
          <ns1:prstGeom prst="rect">
            <ns1:avLst/>
          </ns1:prstGeom>
          <ns1:solidFill>
            <ns1:srgbClr val="FFF2D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9" name="">
            <ns1:extLst>
              <ns1:ext uri="{FF2B5EF4-FFF2-40B4-BE49-F238E27FC236}">
                <ns2:creationId id="{1ED4BB05-08E2-4DE8-836A-38BF720F71C7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4267200"/>
            <ns1:ext cx="3291840" cy="133350"/>
          </ns1:xfrm>
          <ns1:prstGeom prst="rect">
            <ns1:avLst/>
          </ns1:prstGeom>
          <ns1:solidFill>
            <ns1:srgbClr val="1F4E79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0" name="">
            <ns1:extLst>
              <ns1:ext uri="{FF2B5EF4-FFF2-40B4-BE49-F238E27FC236}">
                <ns2:creationId id="{35261399-E356-4791-A695-F8BAFB4265B0}"/>
              </ns1:ext>
            </ns1:extLst>
          </ns0:cNvPr>
          <ns0:cNvSpPr>
            <ns1:spLocks noGrp="1"/>
          </ns0:cNvSpPr>
          <ns0:nvPr/>
        </ns0:nvSpPr>
        <ns0:spPr>
          <ns1:xfrm>
            <ns1:off x="10115550" y="42100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48 h</ns1:t>
            </ns1:r>
          </ns1:p>
        </ns0:txBody>
      </ns0:sp>
      <ns0:sp>
        <ns0:nvSpPr>
          <ns0:cNvPr id="41" name="">
            <ns1:extLst>
              <ns1:ext uri="{FF2B5EF4-FFF2-40B4-BE49-F238E27FC236}">
                <ns2:creationId id="{42276096-FCFD-417F-B824-C592766B07D3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4762500"/>
            <ns1:ext cx="10477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v40</ns1:t>
            </ns1:r>
          </ns1:p>
        </ns0:txBody>
      </ns0:sp>
      <ns0:sp>
        <ns0:nvSpPr>
          <ns0:cNvPr id="42" name="">
            <ns1:extLst>
              <ns1:ext uri="{FF2B5EF4-FFF2-40B4-BE49-F238E27FC236}">
                <ns2:creationId id="{FD176C23-A2AD-46EB-AE88-51153DAF1E5D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4800600"/>
            <ns1:ext cx="3429000" cy="133350"/>
          </ns1:xfrm>
          <ns1:prstGeom prst="rect">
            <ns1:avLst/>
          </ns1:prstGeom>
          <ns1:solidFill>
            <ns1:srgbClr val="E5F0F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3" name="">
            <ns1:extLst>
              <ns1:ext uri="{FF2B5EF4-FFF2-40B4-BE49-F238E27FC236}">
                <ns2:creationId id="{7CE9D2A2-D7C9-43FA-96A2-D9B27A70FD53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4800600"/>
            <ns1:ext cx="960120" cy="1333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4" name="">
            <ns1:extLst>
              <ns1:ext uri="{FF2B5EF4-FFF2-40B4-BE49-F238E27FC236}">
                <ns2:creationId id="{40D77E43-002E-4A38-A2FF-5E1FAE2502C6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47434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14 h</ns1:t>
            </ns1:r>
          </ns1:p>
        </ns0:txBody>
      </ns0:sp>
      <ns0:sp>
        <ns0:nvSpPr>
          <ns0:cNvPr id="45" name="">
            <ns1:extLst>
              <ns1:ext uri="{FF2B5EF4-FFF2-40B4-BE49-F238E27FC236}">
                <ns2:creationId id="{761AA77E-CEBE-4FED-B429-4895D9F1D771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4800600"/>
            <ns1:ext cx="3429000" cy="133350"/>
          </ns1:xfrm>
          <ns1:prstGeom prst="rect">
            <ns1:avLst/>
          </ns1:prstGeom>
          <ns1:solidFill>
            <ns1:srgbClr val="FFF2D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6" name="">
            <ns1:extLst>
              <ns1:ext uri="{FF2B5EF4-FFF2-40B4-BE49-F238E27FC236}">
                <ns2:creationId id="{498C81FE-3390-4C09-B11F-BFD4A82BC6A9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4800600"/>
            <ns1:ext cx="1371600" cy="133350"/>
          </ns1:xfrm>
          <ns1:prstGeom prst="rect">
            <ns1:avLst/>
          </ns1:prstGeom>
          <ns1:solidFill>
            <ns1:srgbClr val="B91C1C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47" name="">
            <ns1:extLst>
              <ns1:ext uri="{FF2B5EF4-FFF2-40B4-BE49-F238E27FC236}">
                <ns2:creationId id="{8A5D1297-AFFC-4280-BC6B-530E2B1ED3B5}"/>
              </ns1:ext>
            </ns1:extLst>
          </ns0:cNvPr>
          <ns0:cNvSpPr>
            <ns1:spLocks noGrp="1"/>
          </ns0:cNvSpPr>
          <ns0:nvPr/>
        </ns0:nvSpPr>
        <ns0:spPr>
          <ns1:xfrm>
            <ns1:off x="10115550" y="47434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20 h</ns1:t>
            </ns1:r>
          </ns1:p>
        </ns0:txBody>
      </ns0:sp>
      <ns0:sp>
        <ns0:nvSpPr>
          <ns0:cNvPr id="48" name="">
            <ns1:extLst>
              <ns1:ext uri="{FF2B5EF4-FFF2-40B4-BE49-F238E27FC236}">
                <ns2:creationId id="{F5129247-8FB4-4ACB-BB2A-872D44F3FAD4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5295900"/>
            <ns1:ext cx="104775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125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v41</ns1:t>
            </ns1:r>
          </ns1:p>
        </ns0:txBody>
      </ns0:sp>
      <ns0:sp>
        <ns0:nvSpPr>
          <ns0:cNvPr id="49" name="">
            <ns1:extLst>
              <ns1:ext uri="{FF2B5EF4-FFF2-40B4-BE49-F238E27FC236}">
                <ns2:creationId id="{5B51EF2E-010C-4428-AB67-CBFF5BC06F02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5334000"/>
            <ns1:ext cx="3429000" cy="133350"/>
          </ns1:xfrm>
          <ns1:prstGeom prst="rect">
            <ns1:avLst/>
          </ns1:prstGeom>
          <ns1:solidFill>
            <ns1:srgbClr val="E5F0F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50" name="">
            <ns1:extLst>
              <ns1:ext uri="{FF2B5EF4-FFF2-40B4-BE49-F238E27FC236}">
                <ns2:creationId id="{8CB93438-5656-4702-8A61-5B42B7F0BD11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5334000"/>
            <ns1:ext cx="822960" cy="133350"/>
          </ns1:xfrm>
          <ns1:prstGeom prst="rect">
            <ns1:avLst/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51" name="">
            <ns1:extLst>
              <ns1:ext uri="{FF2B5EF4-FFF2-40B4-BE49-F238E27FC236}">
                <ns2:creationId id="{DEBC188D-BB26-41C0-BEDF-6E3828085902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52768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12 h</ns1:t>
            </ns1:r>
          </ns1:p>
        </ns0:txBody>
      </ns0:sp>
      <ns0:sp>
        <ns0:nvSpPr>
          <ns0:cNvPr id="52" name="">
            <ns1:extLst>
              <ns1:ext uri="{FF2B5EF4-FFF2-40B4-BE49-F238E27FC236}">
                <ns2:creationId id="{977DEB3D-76F9-4A6C-A022-6C19CEFED56D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5334000"/>
            <ns1:ext cx="3429000" cy="133350"/>
          </ns1:xfrm>
          <ns1:prstGeom prst="rect">
            <ns1:avLst/>
          </ns1:prstGeom>
          <ns1:solidFill>
            <ns1:srgbClr val="FFF2D8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53" name="">
            <ns1:extLst>
              <ns1:ext uri="{FF2B5EF4-FFF2-40B4-BE49-F238E27FC236}">
                <ns2:creationId id="{0971DAA6-2579-4ED3-BD0C-40114F917F7A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5334000"/>
            <ns1:ext cx="1371600" cy="133350"/>
          </ns1:xfrm>
          <ns1:prstGeom prst="rect">
            <ns1:avLst/>
          </ns1:prstGeom>
          <ns1:solidFill>
            <ns1:srgbClr val="2F855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54" name="">
            <ns1:extLst>
              <ns1:ext uri="{FF2B5EF4-FFF2-40B4-BE49-F238E27FC236}">
                <ns2:creationId id="{299B4892-866B-450D-AA10-E9FBE69D02D2}"/>
              </ns1:ext>
            </ns1:extLst>
          </ns0:cNvPr>
          <ns0:cNvSpPr>
            <ns1:spLocks noGrp="1"/>
          </ns0:cNvSpPr>
          <ns0:nvPr/>
        </ns0:nvSpPr>
        <ns0:spPr>
          <ns1:xfrm>
            <ns1:off x="10115550" y="5276850"/>
            <ns1:ext cx="55245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900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20 h</ns1:t>
            </ns1:r>
          </ns1:p>
        </ns0:txBody>
      </ns0:sp>
      <ns0:sp>
        <ns0:nvSpPr>
          <ns0:cNvPr id="55" name="">
            <ns1:extLst>
              <ns1:ext uri="{FF2B5EF4-FFF2-40B4-BE49-F238E27FC236}">
                <ns2:creationId id="{2CB75764-8696-48D8-801E-7AB2A30637CE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1695450"/>
            <ns1:ext cx="1714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1">
                <ns1:solidFill>
                  <ns1:srgbClr val="0F766E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0F766E"/>
                </ns1:solidFill>
                <ns1:latin typeface="Aptos"/>
                <ns1:ea typeface="Aptos"/>
                <ns1:cs typeface="Aptos"/>
              </ns1:rPr>
              <ns1:t>Ihminen max</ns1:t>
            </ns1:r>
          </ns1:p>
        </ns0:txBody>
      </ns0:sp>
      <ns0:sp>
        <ns0:nvSpPr>
          <ns0:cNvPr id="56" name="">
            <ns1:extLst>
              <ns1:ext uri="{FF2B5EF4-FFF2-40B4-BE49-F238E27FC236}">
                <ns2:creationId id="{5CB64593-DBB4-4CC3-A281-E62B074E863A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1695450"/>
            <ns1:ext cx="2095500" cy="2095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1">
                <ns1:solidFill>
                  <ns1:srgbClr val="D98C2B"/>
                </ns1:solidFill>
                <ns1:latin typeface="Aptos"/>
                <ns1:ea typeface="Aptos"/>
                <ns1:cs typeface="Aptos"/>
              </ns1:defRPr>
            </ns1:pPr>
            <ns1:r>
              <ns1:rPr sz="975" b="1">
                <ns1:solidFill>
                  <ns1:srgbClr val="D98C2B"/>
                </ns1:solidFill>
                <ns1:latin typeface="Aptos"/>
                <ns1:ea typeface="Aptos"/>
                <ns1:cs typeface="Aptos"/>
              </ns1:rPr>
              <ns1:t>Codex / toteutus max</ns1:t>
            </ns1:r>
          </ns1:p>
        </ns0:txBody>
      </ns0:sp>
      <ns0:sp>
        <ns0:nvSpPr>
          <ns0:cNvPr id="57" name="">
            <ns1:extLst>
              <ns1:ext uri="{FF2B5EF4-FFF2-40B4-BE49-F238E27FC236}">
                <ns2:creationId id="{3D24986F-6AE6-4E82-A7C5-99581711EEEE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5962650"/>
            <ns1:ext cx="7810500" cy="2667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350" b="1">
                <ns1:solidFill>
                  <ns1:srgbClr val="172033"/>
                </ns1:solidFill>
                <ns1:latin typeface="Aptos"/>
                <ns1:ea typeface="Aptos"/>
                <ns1:cs typeface="Aptos"/>
              </ns1:defRPr>
            </ns1:pPr>
            <ns1:r>
              <ns1:rPr sz="1350" b="1">
                <ns1:solidFill>
                  <ns1:srgbClr val="172033"/>
                </ns1:solidFill>
                <ns1:latin typeface="Aptos"/>
                <ns1:ea typeface="Aptos"/>
                <ns1:cs typeface="Aptos"/>
              </ns1:rPr>
              <ns1:t>Rajaus pitää tehdä ennen isoja toteutusviikkoja: muuten työ paisuu nopeasti.</ns1:t>
            </ns1:r>
          </ns1:p>
        </ns0:txBody>
      </ns0:sp>
      <ns0:sp>
        <ns0:nvSpPr>
          <ns0:cNvPr id="58" name="">
            <ns1:extLst>
              <ns1:ext uri="{FF2B5EF4-FFF2-40B4-BE49-F238E27FC236}">
                <ns2:creationId id="{C0D61CA5-8DCC-4CB3-B8D2-5972535B4919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419850"/>
            <ns1:ext cx="11125200" cy="9525"/>
          </ns1:xfrm>
          <ns1:prstGeom prst="rect">
            <ns1:avLst/>
          </ns1:prstGeom>
          <ns1:solidFill>
            <ns1:srgbClr val="CBD5E1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59" name="">
            <ns1:extLst>
              <ns1:ext uri="{FF2B5EF4-FFF2-40B4-BE49-F238E27FC236}">
                <ns2:creationId id="{25F43423-B71C-4FA8-A3A0-A41B82898CCC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51510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675" b="0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Aloitussivu | yleisesittely | 9.6.2026</ns1:t>
            </ns1:r>
          </ns1:p>
        </ns0:txBody>
      </ns0:sp>
      <ns0:sp>
        <ns0:nvSpPr>
          <ns0:cNvPr id="60" name="">
            <ns1:extLst>
              <ns1:ext uri="{FF2B5EF4-FFF2-40B4-BE49-F238E27FC236}">
                <ns2:creationId id="{16853373-2AC6-4965-9F83-A5F5178CB9E6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486525"/>
            <ns1:ext cx="4191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5B677A"/>
                </ns1:solidFill>
                <ns1:latin typeface="Aptos"/>
                <ns1:ea typeface="Aptos"/>
                <ns1:cs typeface="Aptos"/>
              </ns1:rPr>
              <ns1:t>07</ns1:t>
            </ns1:r>
          </ns1:p>
        </ns0:txBody>
      </ns0:sp>
    </ns0:spTree>
    <ns0:extLst>
      <ns0:ext uri="{BB962C8B-B14F-4D97-AF65-F5344CB8AC3E}">
        <ns3:creationId val="1669862649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5739EAB9-44EE-430B-A18C-8EF95F473E1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F172A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192F29E2-6D63-416F-B3BD-49270281A312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428625"/>
            <ns1:ext cx="95250" cy="95250"/>
          </ns1:xfrm>
          <ns1:prstGeom prst="rect">
            <ns1:avLst/>
          </ns1:prstGeom>
          <ns1:solidFill>
            <ns1:srgbClr val="D98C2B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9641F028-6772-423D-AC1D-51793C36E3DF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52425"/>
            <ns1:ext cx="4381500" cy="2286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750" b="1">
                <ns1:solidFill>
                  <ns1:srgbClr val="CDE6FF"/>
                </ns1:solidFill>
                <ns1:latin typeface="Aptos"/>
                <ns1:ea typeface="Aptos"/>
                <ns1:cs typeface="Aptos"/>
              </ns1:defRPr>
            </ns1:pPr>
            <ns1:r>
              <ns1:rPr sz="750" b="1">
                <ns1:solidFill>
                  <ns1:srgbClr val="CDE6FF"/>
                </ns1:solidFill>
                <ns1:latin typeface="Aptos"/>
                <ns1:ea typeface="Aptos"/>
                <ns1:cs typeface="Aptos"/>
              </ns1:rPr>
              <ns1:t>SEURAAVAT PÄÄTÖKSET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93F7006B-6CB8-4069-AD54-E2A6AF9E0AFA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323850"/>
            <ns1:ext cx="419100" cy="2476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1">
                <ns1:solidFill>
                  <ns1:srgbClr val="CDE6FF"/>
                </ns1:solidFill>
                <ns1:latin typeface="Aptos"/>
                <ns1:ea typeface="Aptos"/>
                <ns1:cs typeface="Aptos"/>
              </ns1:defRPr>
            </ns1:pPr>
            <ns1:r>
              <ns1:rPr sz="1050" b="1">
                <ns1:solidFill>
                  <ns1:srgbClr val="CDE6FF"/>
                </ns1:solidFill>
                <ns1:latin typeface="Aptos"/>
                <ns1:ea typeface="Aptos"/>
                <ns1:cs typeface="Aptos"/>
              </ns1:rPr>
              <ns1:t>08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E607EF6-E563-4FE9-A4FA-27080A3C3DBF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781050"/>
            <ns1:ext cx="8096250" cy="9144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850" b="1">
                <ns1:solidFill>
                  <ns1:srgbClr val="FFFFFF"/>
                </ns1:solidFill>
                <ns1:latin typeface="Aptos Display"/>
                <ns1:ea typeface="Aptos Display"/>
                <ns1:cs typeface="Aptos Display"/>
              </ns1:defRPr>
            </ns1:pPr>
            <ns1:r>
              <ns1:rPr sz="2850" b="1">
                <ns1:solidFill>
                  <ns1:srgbClr val="FFFFFF"/>
                </ns1:solidFill>
                <ns1:latin typeface="Aptos Display"/>
                <ns1:ea typeface="Aptos Display"/>
                <ns1:cs typeface="Aptos Display"/>
              </ns1:rPr>
              <ns1:t>Tärkein seuraava askel on pitää testaus käynnissä ja tehdä elokuussa julkaisun rajaus.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33B40E83-8905-47FD-BC1A-F9D1AFA943D5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2000250"/>
            <ns1:ext cx="1123950" cy="361950"/>
          </ns1:xfrm>
          <ns1:prstGeom prst="roundRect">
            <ns1:avLst>
              <ns1:gd name="adj" fmla="val 21053"/>
            </ns1:avLst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A76A855B-70BE-4A6C-BEEA-CFA75DCBE316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2095500"/>
            <ns1:ext cx="1123950" cy="1428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8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Kesäkuu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61686177-F20F-4343-AA45-C9B6BB5BB798}"/>
              </ns1:ext>
            </ns1:extLst>
          </ns0:cNvPr>
          <ns0:cNvSpPr>
            <ns1:spLocks noGrp="1"/>
          </ns0:cNvSpPr>
          <ns0:nvPr/>
        </ns0:nvSpPr>
        <ns0:spPr>
          <ns1:xfrm>
            <ns1:off x="2190750" y="2038350"/>
            <ns1:ext cx="7239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E2E8F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E2E8F0"/>
                </ns1:solidFill>
                <ns1:latin typeface="Aptos"/>
                <ns1:ea typeface="Aptos"/>
                <ns1:cs typeface="Aptos"/>
              </ns1:rPr>
              <ns1:t>Kerätään palaute ja ominaisuuksien hyödyllisyysmatriisi.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F3895129-6F6B-4197-A68F-2C43DCFBAEE1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2705100"/>
            <ns1:ext cx="1123950" cy="361950"/>
          </ns1:xfrm>
          <ns1:prstGeom prst="roundRect">
            <ns1:avLst>
              <ns1:gd name="adj" fmla="val 21053"/>
            </ns1:avLst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35548560-0305-4ACB-9933-E67204A0F5EB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2800350"/>
            <ns1:ext cx="1123950" cy="1428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8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Elokuun alku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0969A3B4-FBDA-44B9-BE8D-91C771D2A811}"/>
              </ns1:ext>
            </ns1:extLst>
          </ns0:cNvPr>
          <ns0:cNvSpPr>
            <ns1:spLocks noGrp="1"/>
          </ns0:cNvSpPr>
          <ns0:nvPr/>
        </ns0:nvSpPr>
        <ns0:spPr>
          <ns1:xfrm>
            <ns1:off x="2190750" y="2743200"/>
            <ns1:ext cx="7239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E2E8F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E2E8F0"/>
                </ns1:solidFill>
                <ns1:latin typeface="Aptos"/>
                <ns1:ea typeface="Aptos"/>
                <ns1:cs typeface="Aptos"/>
              </ns1:rPr>
              <ns1:t>Päätetään nimi, osoite, julkaisun minimitaso, ylläpidon ilmoitukset ja poistettavat linkit.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10116DAD-C3F3-4B47-9401-26DB7D676282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3409950"/>
            <ns1:ext cx="1123950" cy="361950"/>
          </ns1:xfrm>
          <ns1:prstGeom prst="roundRect">
            <ns1:avLst>
              <ns1:gd name="adj" fmla="val 21053"/>
            </ns1:avLst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32C394C4-8834-496F-B013-6C96C7464010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3505200"/>
            <ns1:ext cx="1123950" cy="1428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8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Elokuun loppu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740E8C79-72C5-41D8-AD46-395B69B31665}"/>
              </ns1:ext>
            </ns1:extLst>
          </ns0:cNvPr>
          <ns0:cNvSpPr>
            <ns1:spLocks noGrp="1"/>
          </ns0:cNvSpPr>
          <ns0:nvPr/>
        </ns0:nvSpPr>
        <ns0:spPr>
          <ns1:xfrm>
            <ns1:off x="2190750" y="3448050"/>
            <ns1:ext cx="7239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E2E8F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E2E8F0"/>
                </ns1:solidFill>
                <ns1:latin typeface="Aptos"/>
                <ns1:ea typeface="Aptos"/>
                <ns1:cs typeface="Aptos"/>
              </ns1:rPr>
              <ns1:t>Lukitaan visuaalisuus sekä saavutettavuus- ja tietosuojaselosteet.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6074C1BF-5B09-407D-877D-A7D4183219E0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4114800"/>
            <ns1:ext cx="1123950" cy="361950"/>
          </ns1:xfrm>
          <ns1:prstGeom prst="roundRect">
            <ns1:avLst>
              <ns1:gd name="adj" fmla="val 21053"/>
            </ns1:avLst>
          </ns1:prstGeom>
          <ns1:solidFill>
            <ns1:srgbClr val="0F766E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B34C6E7E-1AE7-47CC-8CEA-340A650AF273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4210050"/>
            <ns1:ext cx="1123950" cy="1428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8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Syyskuu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117BE268-A415-4F93-8744-2FF857E2F9F7}"/>
              </ns1:ext>
            </ns1:extLst>
          </ns0:cNvPr>
          <ns0:cNvSpPr>
            <ns1:spLocks noGrp="1"/>
          </ns0:cNvSpPr>
          <ns0:nvPr/>
        </ns0:nvSpPr>
        <ns0:spPr>
          <ns1:xfrm>
            <ns1:off x="2190750" y="4152900"/>
            <ns1:ext cx="7239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0">
                <ns1:solidFill>
                  <ns1:srgbClr val="E2E8F0"/>
                </ns1:solidFill>
                <ns1:latin typeface="Aptos"/>
                <ns1:ea typeface="Aptos"/>
                <ns1:cs typeface="Aptos"/>
              </ns1:defRPr>
            </ns1:pPr>
            <ns1:r>
              <ns1:rPr sz="1500" b="0">
                <ns1:solidFill>
                  <ns1:srgbClr val="E2E8F0"/>
                </ns1:solidFill>
                <ns1:latin typeface="Aptos"/>
                <ns1:ea typeface="Aptos"/>
                <ns1:cs typeface="Aptos"/>
              </ns1:rPr>
              <ns1:t>Päätetään ja testataan tuotantopolku.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01BAD57D-18CD-4602-9C98-03198025E3D6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4819650"/>
            <ns1:ext cx="1123950" cy="361950"/>
          </ns1:xfrm>
          <ns1:prstGeom prst="roundRect">
            <ns1:avLst>
              <ns1:gd name="adj" fmla="val 21053"/>
            </ns1:avLst>
          </ns1:prstGeom>
          <ns1:solidFill>
            <ns1:srgbClr val="B91C1C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A0EEDF38-B71E-40AB-9E0A-01A0D91504F8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4914900"/>
            <ns1:ext cx="1123950" cy="142875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825" b="1">
                <ns1:solidFill>
                  <ns1:srgbClr val="FFFFFF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1.10.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D3B6034C-931D-40CA-AC49-05E47AE6C218}"/>
              </ns1:ext>
            </ns1:extLst>
          </ns0:cNvPr>
          <ns0:cNvSpPr>
            <ns1:spLocks noGrp="1"/>
          </ns0:cNvSpPr>
          <ns0:nvPr/>
        </ns0:nvSpPr>
        <ns0:spPr>
          <ns1:xfrm>
            <ns1:off x="2190750" y="4857750"/>
            <ns1:ext cx="7239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E2E8F0"/>
                </ns1:solidFill>
                <ns1:latin typeface="Aptos"/>
                <ns1:ea typeface="Aptos"/>
                <ns1:cs typeface="Aptos"/>
              </ns1:defRPr>
            </ns1:pPr>
            <ns1:r>
              <ns1:rPr sz="1500" b="1">
                <ns1:solidFill>
                  <ns1:srgbClr val="E2E8F0"/>
                </ns1:solidFill>
                <ns1:latin typeface="Aptos"/>
                <ns1:ea typeface="Aptos"/>
                <ns1:cs typeface="Aptos"/>
              </ns1:rPr>
              <ns1:t>Go/no-go: julkaistaanko 6.10. vai rajataanko pilottijulkaisu.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098ADD78-4AAE-463D-95FE-E4A8A6D1E9BB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5829300"/>
            <ns1:ext cx="9525000" cy="4000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0">
                <ns1:solidFill>
                  <ns1:srgbClr val="CBD5E1"/>
                </ns1:solidFill>
                <ns1:latin typeface="Aptos"/>
                <ns1:ea typeface="Aptos"/>
                <ns1:cs typeface="Aptos"/>
              </ns1:defRPr>
            </ns1:pPr>
            <ns1:r>
              <ns1:rPr sz="1275" b="0">
                <ns1:solidFill>
                  <ns1:srgbClr val="CBD5E1"/>
                </ns1:solidFill>
                <ns1:latin typeface="Aptos"/>
                <ns1:ea typeface="Aptos"/>
                <ns1:cs typeface="Aptos"/>
              </ns1:rPr>
              <ns1:t>Ehdotus: käytetään 6.10. julkaisupäivänä, mutta pidetään varasuunnitelma, jossa syvä Cloudcity-migraatio jatkuu julkaisun jälkeen.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BD08C0B5-9531-47C8-BA5D-D3A7E75D011D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419850"/>
            <ns1:ext cx="11125200" cy="9525"/>
          </ns1:xfrm>
          <ns1:prstGeom prst="rect">
            <ns1:avLst/>
          </ns1:prstGeom>
          <ns1:solidFill>
            <ns1:srgbClr val="334155"/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ED2C6C23-5EF3-4C15-B61E-1E336B372D3F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6515100"/>
            <ns1:ext cx="5905500" cy="17145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l">
              <ns1:defRPr sz="675" b="0">
                <ns1:solidFill>
                  <ns1:srgbClr val="94A3B8"/>
                </ns1:solidFill>
                <ns1:latin typeface="Aptos"/>
                <ns1:ea typeface="Aptos"/>
                <ns1:cs typeface="Aptos"/>
              </ns1:defRPr>
            </ns1:pPr>
            <ns1:r>
              <ns1:rPr sz="675" b="0">
                <ns1:solidFill>
                  <ns1:srgbClr val="94A3B8"/>
                </ns1:solidFill>
                <ns1:latin typeface="Aptos"/>
                <ns1:ea typeface="Aptos"/>
                <ns1:cs typeface="Aptos"/>
              </ns1:rPr>
              <ns1:t>Aloitussivu | yleisesittely | 9.6.2026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F30F12F9-388E-4274-996C-E88F1A0202C9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486525"/>
            <ns1:ext cx="419100" cy="190500"/>
          </ns1:xfrm>
          <ns1:prstGeom prst="rect">
            <ns1:avLst/>
          </ns1:prstGeom>
          <ns1:solidFill>
            <ns1:srgbClr val="000000">
              <ns1:alpha val="0"/>
            </ns1:srgbClr>
          </ns1:solidFill>
          <ns1:ln w="0">
            <ns1:solidFill>
              <ns1:srgbClr val="000000">
                <ns1:alpha val="0"/>
              </ns1:srgbClr>
            </ns1:solidFill>
            <ns1:prstDash val="solid"/>
          </ns1:ln>
        </ns0:spPr>
        <ns0:txBody>
          <ns1:bodyPr lIns="0" tIns="0" rIns="0" bIns="0" anchor="t"/>
          <ns1:lstStyle/>
          <ns1:p>
            <ns1:pPr algn="r">
              <ns1:defRPr sz="825" b="1">
                <ns1:solidFill>
                  <ns1:srgbClr val="94A3B8"/>
                </ns1:solidFill>
                <ns1:latin typeface="Aptos"/>
                <ns1:ea typeface="Aptos"/>
                <ns1:cs typeface="Aptos"/>
              </ns1:defRPr>
            </ns1:pPr>
            <ns1:r>
              <ns1:rPr sz="825" b="1">
                <ns1:solidFill>
                  <ns1:srgbClr val="94A3B8"/>
                </ns1:solidFill>
                <ns1:latin typeface="Aptos"/>
                <ns1:ea typeface="Aptos"/>
                <ns1:cs typeface="Aptos"/>
              </ns1:rPr>
              <ns1:t>08</ns1:t>
            </ns1:r>
          </ns1:p>
        </ns0:txBody>
      </ns0:sp>
    </ns0:spTree>
    <ns0:extLst>
      <ns0:ext uri="{BB962C8B-B14F-4D97-AF65-F5344CB8AC3E}">
        <ns3:creationId val="42196559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2026-06-01T13:48:11.0180000Z</dcterms:created>
  <dcterms:modified xsi:type="dcterms:W3CDTF">2026-06-01T13:48:11.0180000Z</dcterms:modified>
</coreProperties>
</file>